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76" r:id="rId27"/>
    <p:sldId id="277" r:id="rId28"/>
    <p:sldId id="278" r:id="rId29"/>
    <p:sldId id="279" r:id="rId30"/>
    <p:sldId id="280" r:id="rId31"/>
    <p:sldId id="281" r:id="rId3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SLIDE
This engagement covers three interconnected analyses of AfriTech Electronics' customer data.
Central thesis: Diagnose the trust crisis. Quantify it in revenue. Execute the recovery.
The three pivot findings set the strategic direction for the entire engagement.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Walk the audience through the five parts before beginning. Emphasise that each part answers a different question but the three are deeply connected. The crisis management finding explains WHY the customer segmentation finding occurs. The brand health finding is the headline. The action plan connects all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 BRAND HEALTH
Key message for this section: AfriTech has customers. What it does not have is their trust.
The central finding: product recalls did not cause the brand damage. The damage is self-inflicted — caused by how AfriTech behaves, not what it sells.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BRAND HEALTH KPIs
NPS −46.23 is the headline. Frame it immediately: 86 points below the minimum benchmark. Not a small gap — a fundamental breakdown.
The segment bar chart is the most important visual on this slide. Read it left to right: New −42.7, Returning −46.2, VIP −47.0. The progression is the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PIVOT FINDING — BRAND HEALTH
This is the most important analytical moment in Part 1. Do not rush past it.
The assumption: 50.9% product recall rate is causing customer dissatisfaction.
The data: recalled vs non-recalled products have 0.2 percentage point difference in negative sentiment. Statistically meaningless.
Consequence: every pound spent on product quality improvement will not move the NPS. The problem is behavioural — crisis response, communication, follow-through.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 CUSTOMER SEGMENTATION
Three central statements for this section:
1. 'We expected loyalty to build satisfaction. The data showed loyalty was destroying it.'
2. 'AfriTech does not have a new customer problem. It has a poisoned pipeline.'
3. 'AfriTech's marketing team is spending money to build their competitors' future customer 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REVENUE BY SEGMENT
Key point: Returning customers are AfriTech's largest revenue segment — not VIP. Most analyses focus on VIP. This is correct for recovery priority (worst NPS, most valuable) but the FINANCIAL risk is actually concentrated in Returning customers.
Frame it: 'If you are protecting VIP and ignoring Returning, you are protecting 42.1% of revenue and leaving 48.5% exposed.'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POISONED PIPELINE
This is the most important conceptual slide in Part 2. Take time here.
The four boxes show the progression: each stage has a worse NPS than the one before. This is the opposite of what should happen in a healthy brand.
The key line: 'VIP customers became VIP over time. They started as new customers.' This connects the new customer finding to the VIP crisis and explains why you cannot fix VIP without fixing the entry experience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MARKETING PROBLEM
This is the slide that makes marketing directors uncomfortable — and that is the point.
Do not soften it. The sentence stands on its own: 'AfriTech's marketing team is spending money to build their competitors' future customer base.'
If challenged: the proof box is your defence. Every number confirmed from Python, SQL, and Excel.
The four-step fix is not anti-marketing. It is smarter marketing. Fix what breaks customers before spending to bring more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VIP RECOVERY TIERS
Think of this as hospital triage. Most recoverable first. Not most valuable first — most recoverable.
Tier 1 is the easiest win available anywhere in the dataset. These customers are not angry. They just drifted. One phone call this week. Not an email. A call.
Tier 4 is the trap most companies fall into — calling a customer with an open complaint to offer a loyalty reward. That makes things dramatically worse. Fix first. Then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 CRISIS MANAGEMENT
Key message: 'AfriTech does not have a crisis management problem. It has a magnitude problem.'
The team CAN respond — 88 same-day responses prove it. The problem is follow-through.
And the consequence: competitors are listening to every unanswered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CRISIS ANALYSIS
The most important number on this slide is not 190 days. It is the same-day deep dive at the bottom.
88 same-day responses. 28 resolved. 60 still open.
AfriTech did not ignore those 60 customers. It called them on day zero and then put them on hold indefinitely. Those customers have two grievances: the original problem AND the broken promise.
New customers wait longest at 199.2 days. The customers most likely to leave after a bad experience receive the slowest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OF NO RETURN
This slide must land hard. Do not rush through it.
The three levels framework is the key analytical contribution of this engagement.
$37.2M might leave. $15.7M is more likely to leave. $1,076,419 is leaving.
The analogy: '$37.2M is a slow leak. $15.7M is a burst pipe. $1,076,419 is a house on fire with the competitor standing outside offering to rebuild it.'
1,410 customers. Pull the list tonight. Assign relationship managers tomorrow morning. Zero open crises for this group in 14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COMPETITIVE THREAT
The key insight on this slide: 1.02:1 brand-to-competitor ratio.
In a healthy brand, your own mentions should significantly outnumber competitor mentions. AfriTech and its competitors are virtually equal in AfriTech's own brand conversations. The brand does not own its own narrative.
The three competitors — MarsTech, MetaTech, SmartTech — are all equally aggressive. This is a coordinated competitive landscape, not one dominant threat.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 ACTION PLAN
Key framing: 'The constraint is no longer insight. It is execution.'
Everything in this section is specific, sequenced, and costed. No vague suggestions.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EMERGENCY &amp; IMMEDIATE ACTIONS
Open with the emergency red bar. Do not let the room move past it.
1,410 customers. Pull the list tonight. Assign relationship managers tomorrow. This is not a programme. This is an instruction.
The six immediate actions are operational — none require capital expenditure. They require management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AND MEDIUM-TERM ACTIONS
Key message: The 12-month NPS target of +20 points is ambitious but achievable with these actions alone — no new investment required.
The closing callout is the most important sentence in the entire engagement. It is not a strategy. It is a behaviour. Write it on the wall of the operations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MEASUREMENT FRAMEWORK
Three-layer framework: leading, operational, lagging.
Leading indicators move within days/weeks. If crisis resolution rate is not moving by Week 2, the approach needs to change.
Operational indicators track whether the team is actually executing.
Lagging indicators confirm the programme worked.
NPS and revenue are outcomes. You cannot manage outcomes directly. You manage the behaviours that drive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ENGAGEMENT SUMMARY
This slide connects the three parts into one story.
The brand is damaged because customers are failed. Customers are failed because crises are ignored. Crises are ignored because nobody connected the backlog to the revenue figure. The fix is equally connected — address the root and the symptoms resolve.
Use this slide as the bridge into the closing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End here. Do not add anything after this.
The silence after reading 'The constraint is no longer insight. It is execution.' is the most powerful moment in the presentation. Let it breathe.
Then ask: 'Which of these five actions do you want to start with on Monday morning?'
That question turns the presentation into a consulting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EXECUTIVE BRIEF</a:t>
            </a:r>
          </a:p>
          <a:p>
            <a:r>
              <a:t>This slide is new — not in the original 20-slide deck.</a:t>
            </a:r>
          </a:p>
          <a:p>
            <a:r>
              <a:t>Purpose: give the CEO the complete picture in 60 seconds before the full engagement begins.</a:t>
            </a:r>
          </a:p>
          <a:p>
            <a:r>
              <a:t>The five KPI cards cover every headline number. The recovery opportunity shows there is an immediate positive action available. The key finding statement makes the Point of No Return impossible to ignore before the first detail slide.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BUSINESS PROBLEM — NEW SLIDE</a:t>
            </a:r>
          </a:p>
          <a:p>
            <a:r>
              <a:t>Three failures on the left. Financial cascade on the right.</a:t>
            </a:r>
          </a:p>
          <a:p>
            <a:r>
              <a:t>This slide does not exist in the original deck — the three problems and the cascade were spread across multiple slides.</a:t>
            </a:r>
          </a:p>
          <a:p>
            <a:r>
              <a:t>Key message: three separate problems create one compounding financial consequence.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QUESTIONS &amp; METHODOLOGY — NEW SLIDE</a:t>
            </a:r>
          </a:p>
          <a:p>
            <a:r>
              <a:t>This slide does not exist in the original deck. The agenda showed five parts but did not frame them as questions or show the methodology.</a:t>
            </a:r>
          </a:p>
          <a:p>
            <a:r>
              <a:t>Key message: every dashboard answers a specific business question. The methodology shows consulting rigour — not just analysis.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FINDINGS SUMMARY — NEW SLIDE</a:t>
            </a:r>
          </a:p>
          <a:p>
            <a:r>
              <a:t>Five findings labelled F1 to F5. NPS segment bars on the left. Crisis resolution gap bars on the right.</a:t>
            </a:r>
          </a:p>
          <a:p>
            <a:r>
              <a:t>This slide does not exist in the original deck. The findings were spread across the engagement. This consolidates them into one scannable summary for the board.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OF NO RETURN ACTION PROTOCOL — NEW SLIDE</a:t>
            </a:r>
          </a:p>
          <a:p>
            <a:r>
              <a:t>The original deck defines the Point of No Return and shows the three conditions but does not give the operational protocol.</a:t>
            </a:r>
          </a:p>
          <a:p>
            <a:r>
              <a:t>This slide adds the three-step action protocol: 72-hour outreach, resolve the crisis first, structured VIP offer.</a:t>
            </a:r>
          </a:p>
          <a:p>
            <a:r>
              <a:t>Key message: knowing the problem is not enough. This slide tells the team exactly what to do tomorrow morning.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RECOVERY OPPORTUNITY — NEW SLIDE</a:t>
            </a:r>
          </a:p>
          <a:p>
            <a:r>
              <a:t>The original deck had the recovery opportunity as a callout box on the measurement slide.</a:t>
            </a:r>
          </a:p>
          <a:p>
            <a:r>
              <a:t>This dedicated slide shows three scenarios — act now, delay, no action — making the cost of inaction visible.</a:t>
            </a:r>
          </a:p>
          <a:p>
            <a:r>
              <a:t>Key message: the data has done its work. The question is whether leadership acts. This is the slide that closes the room.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C8A84B"/>
          </a:solidFill>
          <a:ln w="12700">
            <a:solidFill>
              <a:srgbClr val="C8A84B"/>
            </a:solidFill>
            <a:prstDash val="solid"/>
          </a:ln>
        </p:spPr>
      </p:sp>
      <p:sp>
        <p:nvSpPr>
          <p:cNvPr id="3" name="Text 1"/>
          <p:cNvSpPr/>
          <p:nvPr/>
        </p:nvSpPr>
        <p:spPr>
          <a:xfrm>
            <a:off x="365760" y="457200"/>
            <a:ext cx="5486400" cy="274320"/>
          </a:xfrm>
          <a:prstGeom prst="rect">
            <a:avLst/>
          </a:prstGeom>
          <a:noFill/>
          <a:ln/>
        </p:spPr>
        <p:txBody>
          <a:bodyPr wrap="square" rtlCol="0" anchor="ctr"/>
          <a:lstStyle/>
          <a:p>
            <a:pPr indent="0" marL="0">
              <a:buNone/>
            </a:pPr>
            <a:r>
              <a:rPr lang="en-US" sz="800" b="1" spc="200" kern="0" dirty="0">
                <a:solidFill>
                  <a:srgbClr val="C8A84B"/>
                </a:solidFill>
                <a:latin typeface="Calibri" pitchFamily="34" charset="0"/>
                <a:ea typeface="Calibri" pitchFamily="34" charset="-122"/>
                <a:cs typeface="Calibri" pitchFamily="34" charset="-120"/>
              </a:rPr>
              <a:t>COMPREHENSIVE BRAND &amp; CUSTOMER ANALYTICS ENGAGEMENT</a:t>
            </a:r>
            <a:endParaRPr lang="en-US" sz="800" dirty="0"/>
          </a:p>
        </p:txBody>
      </p:sp>
      <p:sp>
        <p:nvSpPr>
          <p:cNvPr id="4" name="Text 2"/>
          <p:cNvSpPr/>
          <p:nvPr/>
        </p:nvSpPr>
        <p:spPr>
          <a:xfrm>
            <a:off x="365760" y="822960"/>
            <a:ext cx="5486400" cy="1828800"/>
          </a:xfrm>
          <a:prstGeom prst="rect">
            <a:avLst/>
          </a:prstGeom>
          <a:noFill/>
          <a:ln/>
        </p:spPr>
        <p:txBody>
          <a:bodyPr wrap="square" rtlCol="0" anchor="ctr"/>
          <a:lstStyle/>
          <a:p>
            <a:pPr indent="0" marL="0">
              <a:lnSpc>
                <a:spcPct val="110000"/>
              </a:lnSpc>
              <a:buNone/>
            </a:pPr>
            <a:r>
              <a:rPr lang="en-US" sz="5200" b="1" dirty="0">
                <a:solidFill>
                  <a:srgbClr val="FFFFFF"/>
                </a:solidFill>
                <a:latin typeface="Calibri" pitchFamily="34" charset="0"/>
                <a:ea typeface="Calibri" pitchFamily="34" charset="-122"/>
                <a:cs typeface="Calibri" pitchFamily="34" charset="-120"/>
              </a:rPr>
              <a:t>AfriTech</a:t>
            </a:r>
            <a:endParaRPr lang="en-US" sz="5200" dirty="0"/>
          </a:p>
          <a:p>
            <a:pPr indent="0" marL="0">
              <a:lnSpc>
                <a:spcPct val="110000"/>
              </a:lnSpc>
              <a:buNone/>
            </a:pPr>
            <a:r>
              <a:rPr lang="en-US" sz="5200" b="1" dirty="0">
                <a:solidFill>
                  <a:srgbClr val="FFFFFF"/>
                </a:solidFill>
                <a:latin typeface="Calibri" pitchFamily="34" charset="0"/>
                <a:ea typeface="Calibri" pitchFamily="34" charset="-122"/>
                <a:cs typeface="Calibri" pitchFamily="34" charset="-120"/>
              </a:rPr>
              <a:t>Electronics</a:t>
            </a:r>
            <a:endParaRPr lang="en-US" sz="5200" dirty="0"/>
          </a:p>
        </p:txBody>
      </p:sp>
      <p:sp>
        <p:nvSpPr>
          <p:cNvPr id="5" name="Text 3"/>
          <p:cNvSpPr/>
          <p:nvPr/>
        </p:nvSpPr>
        <p:spPr>
          <a:xfrm>
            <a:off x="365760" y="2834640"/>
            <a:ext cx="5486400" cy="320040"/>
          </a:xfrm>
          <a:prstGeom prst="rect">
            <a:avLst/>
          </a:prstGeom>
          <a:noFill/>
          <a:ln/>
        </p:spPr>
        <p:txBody>
          <a:bodyPr wrap="square" rtlCol="0" anchor="ctr"/>
          <a:lstStyle/>
          <a:p>
            <a:pPr indent="0" marL="0">
              <a:buNone/>
            </a:pPr>
            <a:r>
              <a:rPr lang="en-US" sz="1200" i="1" dirty="0">
                <a:solidFill>
                  <a:srgbClr val="8899BB"/>
                </a:solidFill>
                <a:latin typeface="Calibri" pitchFamily="34" charset="0"/>
                <a:ea typeface="Calibri" pitchFamily="34" charset="-122"/>
                <a:cs typeface="Calibri" pitchFamily="34" charset="-120"/>
              </a:rPr>
              <a:t>Brand Health  ·  Customer Segmentation  ·  Crisis Management</a:t>
            </a:r>
            <a:endParaRPr lang="en-US" sz="1200" dirty="0"/>
          </a:p>
        </p:txBody>
      </p:sp>
      <p:sp>
        <p:nvSpPr>
          <p:cNvPr id="6" name="Shape 4"/>
          <p:cNvSpPr/>
          <p:nvPr/>
        </p:nvSpPr>
        <p:spPr>
          <a:xfrm>
            <a:off x="365760" y="3291840"/>
            <a:ext cx="2286000" cy="27432"/>
          </a:xfrm>
          <a:prstGeom prst="rect">
            <a:avLst/>
          </a:prstGeom>
          <a:solidFill>
            <a:srgbClr val="C8A84B"/>
          </a:solidFill>
          <a:ln w="12700">
            <a:solidFill>
              <a:srgbClr val="C8A84B"/>
            </a:solidFill>
            <a:prstDash val="solid"/>
          </a:ln>
        </p:spPr>
      </p:sp>
      <p:sp>
        <p:nvSpPr>
          <p:cNvPr id="7" name="Shape 5"/>
          <p:cNvSpPr/>
          <p:nvPr/>
        </p:nvSpPr>
        <p:spPr>
          <a:xfrm>
            <a:off x="365760" y="3520440"/>
            <a:ext cx="5486400" cy="1188720"/>
          </a:xfrm>
          <a:prstGeom prst="rect">
            <a:avLst/>
          </a:prstGeom>
          <a:solidFill>
            <a:srgbClr val="0D1F35"/>
          </a:solidFill>
          <a:ln w="12700">
            <a:solidFill>
              <a:srgbClr val="0D1F35"/>
            </a:solidFill>
            <a:prstDash val="solid"/>
          </a:ln>
        </p:spPr>
      </p:sp>
      <p:sp>
        <p:nvSpPr>
          <p:cNvPr id="8" name="Shape 6"/>
          <p:cNvSpPr/>
          <p:nvPr/>
        </p:nvSpPr>
        <p:spPr>
          <a:xfrm>
            <a:off x="365760" y="3520440"/>
            <a:ext cx="54864" cy="1188720"/>
          </a:xfrm>
          <a:prstGeom prst="rect">
            <a:avLst/>
          </a:prstGeom>
          <a:solidFill>
            <a:srgbClr val="C8A84B"/>
          </a:solidFill>
          <a:ln w="12700">
            <a:solidFill>
              <a:srgbClr val="C8A84B"/>
            </a:solidFill>
            <a:prstDash val="solid"/>
          </a:ln>
        </p:spPr>
      </p:sp>
      <p:sp>
        <p:nvSpPr>
          <p:cNvPr id="9" name="Text 7"/>
          <p:cNvSpPr/>
          <p:nvPr/>
        </p:nvSpPr>
        <p:spPr>
          <a:xfrm>
            <a:off x="548640" y="3593592"/>
            <a:ext cx="5120640" cy="201168"/>
          </a:xfrm>
          <a:prstGeom prst="rect">
            <a:avLst/>
          </a:prstGeom>
          <a:noFill/>
          <a:ln/>
        </p:spPr>
        <p:txBody>
          <a:bodyPr wrap="square" rtlCol="0" anchor="ctr"/>
          <a:lstStyle/>
          <a:p>
            <a:pPr indent="0" marL="0">
              <a:buNone/>
            </a:pPr>
            <a:r>
              <a:rPr lang="en-US" sz="800" b="1" spc="200" kern="0" dirty="0">
                <a:solidFill>
                  <a:srgbClr val="C8A84B"/>
                </a:solidFill>
                <a:latin typeface="Calibri" pitchFamily="34" charset="0"/>
                <a:ea typeface="Calibri" pitchFamily="34" charset="-122"/>
                <a:cs typeface="Calibri" pitchFamily="34" charset="-120"/>
              </a:rPr>
              <a:t>THE ENGAGEMENT OBJECTIVE</a:t>
            </a:r>
            <a:endParaRPr lang="en-US" sz="800" dirty="0"/>
          </a:p>
        </p:txBody>
      </p:sp>
      <p:sp>
        <p:nvSpPr>
          <p:cNvPr id="10" name="Text 8"/>
          <p:cNvSpPr/>
          <p:nvPr/>
        </p:nvSpPr>
        <p:spPr>
          <a:xfrm>
            <a:off x="548640" y="3840480"/>
            <a:ext cx="5120640" cy="777240"/>
          </a:xfrm>
          <a:prstGeom prst="rect">
            <a:avLst/>
          </a:prstGeom>
          <a:noFill/>
          <a:ln/>
        </p:spPr>
        <p:txBody>
          <a:bodyPr wrap="square" rtlCol="0" anchor="ctr"/>
          <a:lstStyle/>
          <a:p>
            <a:pPr indent="0" marL="0">
              <a:buNone/>
            </a:pPr>
            <a:r>
              <a:rPr lang="en-US" sz="1100" i="1" dirty="0">
                <a:solidFill>
                  <a:srgbClr val="FFFFFF"/>
                </a:solidFill>
                <a:latin typeface="Calibri" pitchFamily="34" charset="0"/>
                <a:ea typeface="Calibri" pitchFamily="34" charset="-122"/>
                <a:cs typeface="Calibri" pitchFamily="34" charset="-120"/>
              </a:rPr>
              <a:t>Diagnose the trust crisis. Quantify it in revenue. Give AfriTech a prioritised roadmap to recover $37.2M — beginning this week.</a:t>
            </a:r>
            <a:endParaRPr lang="en-US" sz="1100" dirty="0"/>
          </a:p>
        </p:txBody>
      </p:sp>
      <p:sp>
        <p:nvSpPr>
          <p:cNvPr id="11" name="Shape 9"/>
          <p:cNvSpPr/>
          <p:nvPr/>
        </p:nvSpPr>
        <p:spPr>
          <a:xfrm>
            <a:off x="6217920" y="0"/>
            <a:ext cx="5943600" cy="6858000"/>
          </a:xfrm>
          <a:prstGeom prst="rect">
            <a:avLst/>
          </a:prstGeom>
          <a:solidFill>
            <a:srgbClr val="FFFFFF"/>
          </a:solidFill>
          <a:ln w="12700">
            <a:solidFill>
              <a:srgbClr val="FFFFFF"/>
            </a:solidFill>
            <a:prstDash val="solid"/>
          </a:ln>
        </p:spPr>
      </p:sp>
      <p:sp>
        <p:nvSpPr>
          <p:cNvPr id="12" name="Shape 10"/>
          <p:cNvSpPr/>
          <p:nvPr/>
        </p:nvSpPr>
        <p:spPr>
          <a:xfrm>
            <a:off x="6309360" y="274320"/>
            <a:ext cx="2651760" cy="1234440"/>
          </a:xfrm>
          <a:prstGeom prst="rect">
            <a:avLst/>
          </a:prstGeom>
          <a:solidFill>
            <a:srgbClr val="FEF2F2"/>
          </a:solidFill>
          <a:ln w="12700">
            <a:solidFill>
              <a:srgbClr val="C0392B"/>
            </a:solidFill>
            <a:prstDash val="solid"/>
          </a:ln>
          <a:effectLst>
            <a:outerShdw sx="100000" sy="100000" kx="0" ky="0" algn="bl" rotWithShape="0" blurRad="101600" dist="38100" dir="8100000">
              <a:srgbClr val="000000">
                <a:alpha val="12000"/>
              </a:srgbClr>
            </a:outerShdw>
          </a:effectLst>
        </p:spPr>
      </p:sp>
      <p:sp>
        <p:nvSpPr>
          <p:cNvPr id="13" name="Shape 11"/>
          <p:cNvSpPr/>
          <p:nvPr/>
        </p:nvSpPr>
        <p:spPr>
          <a:xfrm>
            <a:off x="6309360" y="274320"/>
            <a:ext cx="2651760" cy="45720"/>
          </a:xfrm>
          <a:prstGeom prst="rect">
            <a:avLst/>
          </a:prstGeom>
          <a:solidFill>
            <a:srgbClr val="C0392B"/>
          </a:solidFill>
          <a:ln w="12700">
            <a:solidFill>
              <a:srgbClr val="C0392B"/>
            </a:solidFill>
            <a:prstDash val="solid"/>
          </a:ln>
        </p:spPr>
      </p:sp>
      <p:sp>
        <p:nvSpPr>
          <p:cNvPr id="14" name="Text 12"/>
          <p:cNvSpPr/>
          <p:nvPr/>
        </p:nvSpPr>
        <p:spPr>
          <a:xfrm>
            <a:off x="6400800" y="338328"/>
            <a:ext cx="2468880" cy="566928"/>
          </a:xfrm>
          <a:prstGeom prst="rect">
            <a:avLst/>
          </a:prstGeom>
          <a:noFill/>
          <a:ln/>
        </p:spPr>
        <p:txBody>
          <a:bodyPr wrap="square" rtlCol="0" anchor="ctr"/>
          <a:lstStyle/>
          <a:p>
            <a:pPr algn="ctr" indent="0" marL="0">
              <a:buNone/>
            </a:pPr>
            <a:r>
              <a:rPr lang="en-US" sz="2200" b="1" dirty="0">
                <a:solidFill>
                  <a:srgbClr val="C0392B"/>
                </a:solidFill>
                <a:latin typeface="Calibri" pitchFamily="34" charset="0"/>
                <a:ea typeface="Calibri" pitchFamily="34" charset="-122"/>
                <a:cs typeface="Calibri" pitchFamily="34" charset="-120"/>
              </a:rPr>
              <a:t>−46.23</a:t>
            </a:r>
            <a:endParaRPr lang="en-US" sz="2200" dirty="0"/>
          </a:p>
        </p:txBody>
      </p:sp>
      <p:sp>
        <p:nvSpPr>
          <p:cNvPr id="15" name="Text 13"/>
          <p:cNvSpPr/>
          <p:nvPr/>
        </p:nvSpPr>
        <p:spPr>
          <a:xfrm>
            <a:off x="6400800" y="932688"/>
            <a:ext cx="2468880" cy="256032"/>
          </a:xfrm>
          <a:prstGeom prst="rect">
            <a:avLst/>
          </a:prstGeom>
          <a:noFill/>
          <a:ln/>
        </p:spPr>
        <p:txBody>
          <a:bodyPr wrap="square" rtlCol="0" anchor="ctr"/>
          <a:lstStyle/>
          <a:p>
            <a:pPr algn="ctr" indent="0" marL="0">
              <a:buNone/>
            </a:pPr>
            <a:r>
              <a:rPr lang="en-US" sz="800" b="1" spc="100" kern="0" dirty="0">
                <a:solidFill>
                  <a:srgbClr val="0A1628"/>
                </a:solidFill>
                <a:latin typeface="Calibri" pitchFamily="34" charset="0"/>
                <a:ea typeface="Calibri" pitchFamily="34" charset="-122"/>
                <a:cs typeface="Calibri" pitchFamily="34" charset="-120"/>
              </a:rPr>
              <a:t>NPS Score</a:t>
            </a:r>
            <a:endParaRPr lang="en-US" sz="800" dirty="0"/>
          </a:p>
        </p:txBody>
      </p:sp>
      <p:sp>
        <p:nvSpPr>
          <p:cNvPr id="16" name="Text 14"/>
          <p:cNvSpPr/>
          <p:nvPr/>
        </p:nvSpPr>
        <p:spPr>
          <a:xfrm>
            <a:off x="6400800" y="1207008"/>
            <a:ext cx="2468880" cy="237744"/>
          </a:xfrm>
          <a:prstGeom prst="rect">
            <a:avLst/>
          </a:prstGeom>
          <a:noFill/>
          <a:ln/>
        </p:spPr>
        <p:txBody>
          <a:bodyPr wrap="square" rtlCol="0" anchor="ctr"/>
          <a:lstStyle/>
          <a:p>
            <a:pPr algn="ctr" indent="0" marL="0">
              <a:buNone/>
            </a:pPr>
            <a:r>
              <a:rPr lang="en-US" sz="750" dirty="0">
                <a:solidFill>
                  <a:srgbClr val="5A6A85"/>
                </a:solidFill>
                <a:latin typeface="Calibri" pitchFamily="34" charset="0"/>
                <a:ea typeface="Calibri" pitchFamily="34" charset="-122"/>
                <a:cs typeface="Calibri" pitchFamily="34" charset="-120"/>
              </a:rPr>
              <a:t>86pts below industry min</a:t>
            </a:r>
            <a:endParaRPr lang="en-US" sz="750" dirty="0"/>
          </a:p>
        </p:txBody>
      </p:sp>
      <p:sp>
        <p:nvSpPr>
          <p:cNvPr id="17" name="Shape 15"/>
          <p:cNvSpPr/>
          <p:nvPr/>
        </p:nvSpPr>
        <p:spPr>
          <a:xfrm>
            <a:off x="9144000" y="274320"/>
            <a:ext cx="2651760" cy="1234440"/>
          </a:xfrm>
          <a:prstGeom prst="rect">
            <a:avLst/>
          </a:prstGeom>
          <a:solidFill>
            <a:srgbClr val="F0FDF4"/>
          </a:solidFill>
          <a:ln w="12700">
            <a:solidFill>
              <a:srgbClr val="1A6B3A"/>
            </a:solidFill>
            <a:prstDash val="solid"/>
          </a:ln>
          <a:effectLst>
            <a:outerShdw sx="100000" sy="100000" kx="0" ky="0" algn="bl" rotWithShape="0" blurRad="101600" dist="38100" dir="8100000">
              <a:srgbClr val="000000">
                <a:alpha val="12000"/>
              </a:srgbClr>
            </a:outerShdw>
          </a:effectLst>
        </p:spPr>
      </p:sp>
      <p:sp>
        <p:nvSpPr>
          <p:cNvPr id="18" name="Shape 16"/>
          <p:cNvSpPr/>
          <p:nvPr/>
        </p:nvSpPr>
        <p:spPr>
          <a:xfrm>
            <a:off x="9144000" y="274320"/>
            <a:ext cx="2651760" cy="45720"/>
          </a:xfrm>
          <a:prstGeom prst="rect">
            <a:avLst/>
          </a:prstGeom>
          <a:solidFill>
            <a:srgbClr val="1A6B3A"/>
          </a:solidFill>
          <a:ln w="12700">
            <a:solidFill>
              <a:srgbClr val="1A6B3A"/>
            </a:solidFill>
            <a:prstDash val="solid"/>
          </a:ln>
        </p:spPr>
      </p:sp>
      <p:sp>
        <p:nvSpPr>
          <p:cNvPr id="19" name="Text 17"/>
          <p:cNvSpPr/>
          <p:nvPr/>
        </p:nvSpPr>
        <p:spPr>
          <a:xfrm>
            <a:off x="9235440" y="338328"/>
            <a:ext cx="2468880" cy="566928"/>
          </a:xfrm>
          <a:prstGeom prst="rect">
            <a:avLst/>
          </a:prstGeom>
          <a:noFill/>
          <a:ln/>
        </p:spPr>
        <p:txBody>
          <a:bodyPr wrap="square" rtlCol="0" anchor="ctr"/>
          <a:lstStyle/>
          <a:p>
            <a:pPr algn="ctr" indent="0" marL="0">
              <a:buNone/>
            </a:pPr>
            <a:r>
              <a:rPr lang="en-US" sz="2200" b="1" dirty="0">
                <a:solidFill>
                  <a:srgbClr val="1A6B3A"/>
                </a:solidFill>
                <a:latin typeface="Calibri" pitchFamily="34" charset="0"/>
                <a:ea typeface="Calibri" pitchFamily="34" charset="-122"/>
                <a:cs typeface="Calibri" pitchFamily="34" charset="-120"/>
              </a:rPr>
              <a:t>$57.5M</a:t>
            </a:r>
            <a:endParaRPr lang="en-US" sz="2200" dirty="0"/>
          </a:p>
        </p:txBody>
      </p:sp>
      <p:sp>
        <p:nvSpPr>
          <p:cNvPr id="20" name="Text 18"/>
          <p:cNvSpPr/>
          <p:nvPr/>
        </p:nvSpPr>
        <p:spPr>
          <a:xfrm>
            <a:off x="9235440" y="932688"/>
            <a:ext cx="2468880" cy="256032"/>
          </a:xfrm>
          <a:prstGeom prst="rect">
            <a:avLst/>
          </a:prstGeom>
          <a:noFill/>
          <a:ln/>
        </p:spPr>
        <p:txBody>
          <a:bodyPr wrap="square" rtlCol="0" anchor="ctr"/>
          <a:lstStyle/>
          <a:p>
            <a:pPr algn="ctr" indent="0" marL="0">
              <a:buNone/>
            </a:pPr>
            <a:r>
              <a:rPr lang="en-US" sz="800" b="1" spc="100" kern="0" dirty="0">
                <a:solidFill>
                  <a:srgbClr val="0A1628"/>
                </a:solidFill>
                <a:latin typeface="Calibri" pitchFamily="34" charset="0"/>
                <a:ea typeface="Calibri" pitchFamily="34" charset="-122"/>
                <a:cs typeface="Calibri" pitchFamily="34" charset="-120"/>
              </a:rPr>
              <a:t>Total Revenue</a:t>
            </a:r>
            <a:endParaRPr lang="en-US" sz="800" dirty="0"/>
          </a:p>
        </p:txBody>
      </p:sp>
      <p:sp>
        <p:nvSpPr>
          <p:cNvPr id="21" name="Text 19"/>
          <p:cNvSpPr/>
          <p:nvPr/>
        </p:nvSpPr>
        <p:spPr>
          <a:xfrm>
            <a:off x="9235440" y="1207008"/>
            <a:ext cx="2468880" cy="237744"/>
          </a:xfrm>
          <a:prstGeom prst="rect">
            <a:avLst/>
          </a:prstGeom>
          <a:noFill/>
          <a:ln/>
        </p:spPr>
        <p:txBody>
          <a:bodyPr wrap="square" rtlCol="0" anchor="ctr"/>
          <a:lstStyle/>
          <a:p>
            <a:pPr algn="ctr" indent="0" marL="0">
              <a:buNone/>
            </a:pPr>
            <a:r>
              <a:rPr lang="en-US" sz="750" dirty="0">
                <a:solidFill>
                  <a:srgbClr val="5A6A85"/>
                </a:solidFill>
                <a:latin typeface="Calibri" pitchFamily="34" charset="0"/>
                <a:ea typeface="Calibri" pitchFamily="34" charset="-122"/>
                <a:cs typeface="Calibri" pitchFamily="34" charset="-120"/>
              </a:rPr>
              <a:t>73,586 interactions</a:t>
            </a:r>
            <a:endParaRPr lang="en-US" sz="750" dirty="0"/>
          </a:p>
        </p:txBody>
      </p:sp>
      <p:sp>
        <p:nvSpPr>
          <p:cNvPr id="22" name="Shape 20"/>
          <p:cNvSpPr/>
          <p:nvPr/>
        </p:nvSpPr>
        <p:spPr>
          <a:xfrm>
            <a:off x="6309360" y="1691640"/>
            <a:ext cx="2651760" cy="1234440"/>
          </a:xfrm>
          <a:prstGeom prst="rect">
            <a:avLst/>
          </a:prstGeom>
          <a:solidFill>
            <a:srgbClr val="FEF2F2"/>
          </a:solidFill>
          <a:ln w="12700">
            <a:solidFill>
              <a:srgbClr val="C0392B"/>
            </a:solidFill>
            <a:prstDash val="solid"/>
          </a:ln>
          <a:effectLst>
            <a:outerShdw sx="100000" sy="100000" kx="0" ky="0" algn="bl" rotWithShape="0" blurRad="101600" dist="38100" dir="8100000">
              <a:srgbClr val="000000">
                <a:alpha val="12000"/>
              </a:srgbClr>
            </a:outerShdw>
          </a:effectLst>
        </p:spPr>
      </p:sp>
      <p:sp>
        <p:nvSpPr>
          <p:cNvPr id="23" name="Shape 21"/>
          <p:cNvSpPr/>
          <p:nvPr/>
        </p:nvSpPr>
        <p:spPr>
          <a:xfrm>
            <a:off x="6309360" y="1691640"/>
            <a:ext cx="2651760" cy="45720"/>
          </a:xfrm>
          <a:prstGeom prst="rect">
            <a:avLst/>
          </a:prstGeom>
          <a:solidFill>
            <a:srgbClr val="C0392B"/>
          </a:solidFill>
          <a:ln w="12700">
            <a:solidFill>
              <a:srgbClr val="C0392B"/>
            </a:solidFill>
            <a:prstDash val="solid"/>
          </a:ln>
        </p:spPr>
      </p:sp>
      <p:sp>
        <p:nvSpPr>
          <p:cNvPr id="24" name="Text 22"/>
          <p:cNvSpPr/>
          <p:nvPr/>
        </p:nvSpPr>
        <p:spPr>
          <a:xfrm>
            <a:off x="6400800" y="1755648"/>
            <a:ext cx="2468880" cy="566928"/>
          </a:xfrm>
          <a:prstGeom prst="rect">
            <a:avLst/>
          </a:prstGeom>
          <a:noFill/>
          <a:ln/>
        </p:spPr>
        <p:txBody>
          <a:bodyPr wrap="square" rtlCol="0" anchor="ctr"/>
          <a:lstStyle/>
          <a:p>
            <a:pPr algn="ctr" indent="0" marL="0">
              <a:buNone/>
            </a:pPr>
            <a:r>
              <a:rPr lang="en-US" sz="2200" b="1" dirty="0">
                <a:solidFill>
                  <a:srgbClr val="C0392B"/>
                </a:solidFill>
                <a:latin typeface="Calibri" pitchFamily="34" charset="0"/>
                <a:ea typeface="Calibri" pitchFamily="34" charset="-122"/>
                <a:cs typeface="Calibri" pitchFamily="34" charset="-120"/>
              </a:rPr>
              <a:t>$37.2M</a:t>
            </a:r>
            <a:endParaRPr lang="en-US" sz="2200" dirty="0"/>
          </a:p>
        </p:txBody>
      </p:sp>
      <p:sp>
        <p:nvSpPr>
          <p:cNvPr id="25" name="Text 23"/>
          <p:cNvSpPr/>
          <p:nvPr/>
        </p:nvSpPr>
        <p:spPr>
          <a:xfrm>
            <a:off x="6400800" y="2350008"/>
            <a:ext cx="2468880" cy="256032"/>
          </a:xfrm>
          <a:prstGeom prst="rect">
            <a:avLst/>
          </a:prstGeom>
          <a:noFill/>
          <a:ln/>
        </p:spPr>
        <p:txBody>
          <a:bodyPr wrap="square" rtlCol="0" anchor="ctr"/>
          <a:lstStyle/>
          <a:p>
            <a:pPr algn="ctr" indent="0" marL="0">
              <a:buNone/>
            </a:pPr>
            <a:r>
              <a:rPr lang="en-US" sz="800" b="1" spc="100" kern="0" dirty="0">
                <a:solidFill>
                  <a:srgbClr val="0A1628"/>
                </a:solidFill>
                <a:latin typeface="Calibri" pitchFamily="34" charset="0"/>
                <a:ea typeface="Calibri" pitchFamily="34" charset="-122"/>
                <a:cs typeface="Calibri" pitchFamily="34" charset="-120"/>
              </a:rPr>
              <a:t>Revenue at Risk</a:t>
            </a:r>
            <a:endParaRPr lang="en-US" sz="800" dirty="0"/>
          </a:p>
        </p:txBody>
      </p:sp>
      <p:sp>
        <p:nvSpPr>
          <p:cNvPr id="26" name="Text 24"/>
          <p:cNvSpPr/>
          <p:nvPr/>
        </p:nvSpPr>
        <p:spPr>
          <a:xfrm>
            <a:off x="6400800" y="2624328"/>
            <a:ext cx="2468880" cy="237744"/>
          </a:xfrm>
          <a:prstGeom prst="rect">
            <a:avLst/>
          </a:prstGeom>
          <a:noFill/>
          <a:ln/>
        </p:spPr>
        <p:txBody>
          <a:bodyPr wrap="square" rtlCol="0" anchor="ctr"/>
          <a:lstStyle/>
          <a:p>
            <a:pPr algn="ctr" indent="0" marL="0">
              <a:buNone/>
            </a:pPr>
            <a:r>
              <a:rPr lang="en-US" sz="750" dirty="0">
                <a:solidFill>
                  <a:srgbClr val="5A6A85"/>
                </a:solidFill>
                <a:latin typeface="Calibri" pitchFamily="34" charset="0"/>
                <a:ea typeface="Calibri" pitchFamily="34" charset="-122"/>
                <a:cs typeface="Calibri" pitchFamily="34" charset="-120"/>
              </a:rPr>
              <a:t>64.6% of total</a:t>
            </a:r>
            <a:endParaRPr lang="en-US" sz="750" dirty="0"/>
          </a:p>
        </p:txBody>
      </p:sp>
      <p:sp>
        <p:nvSpPr>
          <p:cNvPr id="27" name="Shape 25"/>
          <p:cNvSpPr/>
          <p:nvPr/>
        </p:nvSpPr>
        <p:spPr>
          <a:xfrm>
            <a:off x="9144000" y="1691640"/>
            <a:ext cx="2651760" cy="1234440"/>
          </a:xfrm>
          <a:prstGeom prst="rect">
            <a:avLst/>
          </a:prstGeom>
          <a:solidFill>
            <a:srgbClr val="C0392B"/>
          </a:solidFill>
          <a:ln w="12700">
            <a:solidFill>
              <a:srgbClr val="C0392B"/>
            </a:solidFill>
            <a:prstDash val="solid"/>
          </a:ln>
          <a:effectLst>
            <a:outerShdw sx="100000" sy="100000" kx="0" ky="0" algn="bl" rotWithShape="0" blurRad="101600" dist="38100" dir="8100000">
              <a:srgbClr val="000000">
                <a:alpha val="12000"/>
              </a:srgbClr>
            </a:outerShdw>
          </a:effectLst>
        </p:spPr>
      </p:sp>
      <p:sp>
        <p:nvSpPr>
          <p:cNvPr id="28" name="Shape 26"/>
          <p:cNvSpPr/>
          <p:nvPr/>
        </p:nvSpPr>
        <p:spPr>
          <a:xfrm>
            <a:off x="9144000" y="1691640"/>
            <a:ext cx="2651760" cy="45720"/>
          </a:xfrm>
          <a:prstGeom prst="rect">
            <a:avLst/>
          </a:prstGeom>
          <a:solidFill>
            <a:srgbClr val="C0392B"/>
          </a:solidFill>
          <a:ln w="12700">
            <a:solidFill>
              <a:srgbClr val="C0392B"/>
            </a:solidFill>
            <a:prstDash val="solid"/>
          </a:ln>
        </p:spPr>
      </p:sp>
      <p:sp>
        <p:nvSpPr>
          <p:cNvPr id="29" name="Text 27"/>
          <p:cNvSpPr/>
          <p:nvPr/>
        </p:nvSpPr>
        <p:spPr>
          <a:xfrm>
            <a:off x="9235440" y="1755648"/>
            <a:ext cx="2468880" cy="566928"/>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$1,076,419</a:t>
            </a:r>
            <a:endParaRPr lang="en-US" sz="2000" dirty="0"/>
          </a:p>
        </p:txBody>
      </p:sp>
      <p:sp>
        <p:nvSpPr>
          <p:cNvPr id="30" name="Text 28"/>
          <p:cNvSpPr/>
          <p:nvPr/>
        </p:nvSpPr>
        <p:spPr>
          <a:xfrm>
            <a:off x="9235440" y="2350008"/>
            <a:ext cx="2468880" cy="256032"/>
          </a:xfrm>
          <a:prstGeom prst="rect">
            <a:avLst/>
          </a:prstGeom>
          <a:noFill/>
          <a:ln/>
        </p:spPr>
        <p:txBody>
          <a:bodyPr wrap="square"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Point of No Return</a:t>
            </a:r>
            <a:endParaRPr lang="en-US" sz="800" dirty="0"/>
          </a:p>
        </p:txBody>
      </p:sp>
      <p:sp>
        <p:nvSpPr>
          <p:cNvPr id="31" name="Text 29"/>
          <p:cNvSpPr/>
          <p:nvPr/>
        </p:nvSpPr>
        <p:spPr>
          <a:xfrm>
            <a:off x="9235440" y="2624328"/>
            <a:ext cx="2468880" cy="237744"/>
          </a:xfrm>
          <a:prstGeom prst="rect">
            <a:avLst/>
          </a:prstGeom>
          <a:noFill/>
          <a:ln/>
        </p:spPr>
        <p:txBody>
          <a:bodyPr wrap="square" rtlCol="0" anchor="ctr"/>
          <a:lstStyle/>
          <a:p>
            <a:pPr algn="ctr" indent="0" marL="0">
              <a:buNone/>
            </a:pPr>
            <a:r>
              <a:rPr lang="en-US" sz="750" dirty="0">
                <a:solidFill>
                  <a:srgbClr val="FFAAAA"/>
                </a:solidFill>
                <a:latin typeface="Calibri" pitchFamily="34" charset="0"/>
                <a:ea typeface="Calibri" pitchFamily="34" charset="-122"/>
                <a:cs typeface="Calibri" pitchFamily="34" charset="-120"/>
              </a:rPr>
              <a:t>1,410 VIP · Act today</a:t>
            </a:r>
            <a:endParaRPr lang="en-US" sz="750" dirty="0"/>
          </a:p>
        </p:txBody>
      </p:sp>
      <p:sp>
        <p:nvSpPr>
          <p:cNvPr id="32" name="Text 30"/>
          <p:cNvSpPr/>
          <p:nvPr/>
        </p:nvSpPr>
        <p:spPr>
          <a:xfrm>
            <a:off x="6309360" y="3063240"/>
            <a:ext cx="5669280" cy="228600"/>
          </a:xfrm>
          <a:prstGeom prst="rect">
            <a:avLst/>
          </a:prstGeom>
          <a:noFill/>
          <a:ln/>
        </p:spPr>
        <p:txBody>
          <a:bodyPr wrap="square" rtlCol="0" anchor="ctr"/>
          <a:lstStyle/>
          <a:p>
            <a:pPr indent="0" marL="0">
              <a:buNone/>
            </a:pPr>
            <a:r>
              <a:rPr lang="en-US" sz="900" b="1" dirty="0">
                <a:solidFill>
                  <a:srgbClr val="0A1628"/>
                </a:solidFill>
                <a:latin typeface="Calibri" pitchFamily="34" charset="0"/>
                <a:ea typeface="Calibri" pitchFamily="34" charset="-122"/>
                <a:cs typeface="Calibri" pitchFamily="34" charset="-120"/>
              </a:rPr>
              <a:t>Three Pivot Findings That Changed Everything:</a:t>
            </a:r>
            <a:endParaRPr lang="en-US" sz="900" dirty="0"/>
          </a:p>
        </p:txBody>
      </p:sp>
      <p:sp>
        <p:nvSpPr>
          <p:cNvPr id="33" name="Shape 31"/>
          <p:cNvSpPr/>
          <p:nvPr/>
        </p:nvSpPr>
        <p:spPr>
          <a:xfrm>
            <a:off x="6309360" y="3337560"/>
            <a:ext cx="45720" cy="566928"/>
          </a:xfrm>
          <a:prstGeom prst="rect">
            <a:avLst/>
          </a:prstGeom>
          <a:solidFill>
            <a:srgbClr val="C8A84B"/>
          </a:solidFill>
          <a:ln w="12700">
            <a:solidFill>
              <a:srgbClr val="C8A84B"/>
            </a:solidFill>
            <a:prstDash val="solid"/>
          </a:ln>
        </p:spPr>
      </p:sp>
      <p:sp>
        <p:nvSpPr>
          <p:cNvPr id="34" name="Text 32"/>
          <p:cNvSpPr/>
          <p:nvPr/>
        </p:nvSpPr>
        <p:spPr>
          <a:xfrm>
            <a:off x="6492240" y="3364992"/>
            <a:ext cx="5486400" cy="512064"/>
          </a:xfrm>
          <a:prstGeom prst="rect">
            <a:avLst/>
          </a:prstGeom>
          <a:noFill/>
          <a:ln/>
        </p:spPr>
        <p:txBody>
          <a:bodyPr wrap="square" rtlCol="0" anchor="ctr"/>
          <a:lstStyle/>
          <a:p>
            <a:pPr indent="0" marL="0">
              <a:buNone/>
            </a:pPr>
            <a:r>
              <a:rPr lang="en-US" sz="950" i="1" dirty="0">
                <a:solidFill>
                  <a:srgbClr val="2A2820"/>
                </a:solidFill>
                <a:latin typeface="Calibri" pitchFamily="34" charset="0"/>
                <a:ea typeface="Calibri" pitchFamily="34" charset="-122"/>
                <a:cs typeface="Calibri" pitchFamily="34" charset="-120"/>
              </a:rPr>
              <a:t>Recalls did not cause the brand damage — behaviour did</a:t>
            </a:r>
            <a:endParaRPr lang="en-US" sz="950" dirty="0"/>
          </a:p>
        </p:txBody>
      </p:sp>
      <p:sp>
        <p:nvSpPr>
          <p:cNvPr id="35" name="Shape 33"/>
          <p:cNvSpPr/>
          <p:nvPr/>
        </p:nvSpPr>
        <p:spPr>
          <a:xfrm>
            <a:off x="6309360" y="4087368"/>
            <a:ext cx="45720" cy="566928"/>
          </a:xfrm>
          <a:prstGeom prst="rect">
            <a:avLst/>
          </a:prstGeom>
          <a:solidFill>
            <a:srgbClr val="C8A84B"/>
          </a:solidFill>
          <a:ln w="12700">
            <a:solidFill>
              <a:srgbClr val="C8A84B"/>
            </a:solidFill>
            <a:prstDash val="solid"/>
          </a:ln>
        </p:spPr>
      </p:sp>
      <p:sp>
        <p:nvSpPr>
          <p:cNvPr id="36" name="Text 34"/>
          <p:cNvSpPr/>
          <p:nvPr/>
        </p:nvSpPr>
        <p:spPr>
          <a:xfrm>
            <a:off x="6492240" y="4114800"/>
            <a:ext cx="5486400" cy="512064"/>
          </a:xfrm>
          <a:prstGeom prst="rect">
            <a:avLst/>
          </a:prstGeom>
          <a:noFill/>
          <a:ln/>
        </p:spPr>
        <p:txBody>
          <a:bodyPr wrap="square" rtlCol="0" anchor="ctr"/>
          <a:lstStyle/>
          <a:p>
            <a:pPr indent="0" marL="0">
              <a:buNone/>
            </a:pPr>
            <a:r>
              <a:rPr lang="en-US" sz="950" i="1" dirty="0">
                <a:solidFill>
                  <a:srgbClr val="2A2820"/>
                </a:solidFill>
                <a:latin typeface="Calibri" pitchFamily="34" charset="0"/>
                <a:ea typeface="Calibri" pitchFamily="34" charset="-122"/>
                <a:cs typeface="Calibri" pitchFamily="34" charset="-120"/>
              </a:rPr>
              <a:t>Loyalty deepens dissatisfaction — longer stays = angrier customers</a:t>
            </a:r>
            <a:endParaRPr lang="en-US" sz="950" dirty="0"/>
          </a:p>
        </p:txBody>
      </p:sp>
      <p:sp>
        <p:nvSpPr>
          <p:cNvPr id="37" name="Shape 35"/>
          <p:cNvSpPr/>
          <p:nvPr/>
        </p:nvSpPr>
        <p:spPr>
          <a:xfrm>
            <a:off x="6309360" y="4837176"/>
            <a:ext cx="45720" cy="566928"/>
          </a:xfrm>
          <a:prstGeom prst="rect">
            <a:avLst/>
          </a:prstGeom>
          <a:solidFill>
            <a:srgbClr val="C8A84B"/>
          </a:solidFill>
          <a:ln w="12700">
            <a:solidFill>
              <a:srgbClr val="C8A84B"/>
            </a:solidFill>
            <a:prstDash val="solid"/>
          </a:ln>
        </p:spPr>
      </p:sp>
      <p:sp>
        <p:nvSpPr>
          <p:cNvPr id="38" name="Text 36"/>
          <p:cNvSpPr/>
          <p:nvPr/>
        </p:nvSpPr>
        <p:spPr>
          <a:xfrm>
            <a:off x="6492240" y="4864608"/>
            <a:ext cx="5486400" cy="512064"/>
          </a:xfrm>
          <a:prstGeom prst="rect">
            <a:avLst/>
          </a:prstGeom>
          <a:noFill/>
          <a:ln/>
        </p:spPr>
        <p:txBody>
          <a:bodyPr wrap="square" rtlCol="0" anchor="ctr"/>
          <a:lstStyle/>
          <a:p>
            <a:pPr indent="0" marL="0">
              <a:buNone/>
            </a:pPr>
            <a:r>
              <a:rPr lang="en-US" sz="950" i="1" dirty="0">
                <a:solidFill>
                  <a:srgbClr val="2A2820"/>
                </a:solidFill>
                <a:latin typeface="Calibri" pitchFamily="34" charset="0"/>
                <a:ea typeface="Calibri" pitchFamily="34" charset="-122"/>
                <a:cs typeface="Calibri" pitchFamily="34" charset="-120"/>
              </a:rPr>
              <a:t>Not a capacity problem — a follow-through problem. They pick up. They don't call back.</a:t>
            </a:r>
            <a:endParaRPr lang="en-US" sz="950" dirty="0"/>
          </a:p>
        </p:txBody>
      </p:sp>
      <p:sp>
        <p:nvSpPr>
          <p:cNvPr id="39" name="Shape 37"/>
          <p:cNvSpPr/>
          <p:nvPr/>
        </p:nvSpPr>
        <p:spPr>
          <a:xfrm>
            <a:off x="6309360" y="5806440"/>
            <a:ext cx="5669280" cy="777240"/>
          </a:xfrm>
          <a:prstGeom prst="rect">
            <a:avLst/>
          </a:prstGeom>
          <a:solidFill>
            <a:srgbClr val="0A1628"/>
          </a:solidFill>
          <a:ln w="12700">
            <a:solidFill>
              <a:srgbClr val="0A1628"/>
            </a:solidFill>
            <a:prstDash val="solid"/>
          </a:ln>
        </p:spPr>
      </p:sp>
      <p:sp>
        <p:nvSpPr>
          <p:cNvPr id="40" name="Text 38"/>
          <p:cNvSpPr/>
          <p:nvPr/>
        </p:nvSpPr>
        <p:spPr>
          <a:xfrm>
            <a:off x="6492240" y="5870448"/>
            <a:ext cx="4114800" cy="27432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Samuel Ahinakwa</a:t>
            </a:r>
            <a:endParaRPr lang="en-US" sz="1300" dirty="0"/>
          </a:p>
        </p:txBody>
      </p:sp>
      <p:sp>
        <p:nvSpPr>
          <p:cNvPr id="41" name="Text 39"/>
          <p:cNvSpPr/>
          <p:nvPr/>
        </p:nvSpPr>
        <p:spPr>
          <a:xfrm>
            <a:off x="6492240" y="6144768"/>
            <a:ext cx="5303520" cy="237744"/>
          </a:xfrm>
          <a:prstGeom prst="rect">
            <a:avLst/>
          </a:prstGeom>
          <a:noFill/>
          <a:ln/>
        </p:spPr>
        <p:txBody>
          <a:bodyPr wrap="square" rtlCol="0" anchor="ctr"/>
          <a:lstStyle/>
          <a:p>
            <a:pPr indent="0" marL="0">
              <a:buNone/>
            </a:pPr>
            <a:r>
              <a:rPr lang="en-US" sz="750" dirty="0">
                <a:solidFill>
                  <a:srgbClr val="C8A84B"/>
                </a:solidFill>
                <a:latin typeface="Calibri" pitchFamily="34" charset="0"/>
                <a:ea typeface="Calibri" pitchFamily="34" charset="-122"/>
                <a:cs typeface="Calibri" pitchFamily="34" charset="-120"/>
              </a:rPr>
              <a:t>BSc Accounting  |  MSc Accounting &amp; Finance  |  ICAG Finalist  |  Power BI  |  Advanced Excel  |  SQL  |  Python</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1051560"/>
          </a:xfrm>
          <a:prstGeom prst="rect">
            <a:avLst/>
          </a:prstGeom>
          <a:solidFill>
            <a:srgbClr val="0A1628"/>
          </a:solidFill>
          <a:ln w="12700">
            <a:solidFill>
              <a:srgbClr val="0A1628"/>
            </a:solidFill>
            <a:prstDash val="solid"/>
          </a:ln>
        </p:spPr>
      </p:sp>
      <p:sp>
        <p:nvSpPr>
          <p:cNvPr id="3" name="Shape 1"/>
          <p:cNvSpPr/>
          <p:nvPr/>
        </p:nvSpPr>
        <p:spPr>
          <a:xfrm>
            <a:off x="0" y="1051560"/>
            <a:ext cx="12161520" cy="36576"/>
          </a:xfrm>
          <a:prstGeom prst="rect">
            <a:avLst/>
          </a:prstGeom>
          <a:solidFill>
            <a:srgbClr val="C8A84B"/>
          </a:solidFill>
          <a:ln w="12700">
            <a:solidFill>
              <a:srgbClr val="C8A84B"/>
            </a:solidFill>
            <a:prstDash val="solid"/>
          </a:ln>
        </p:spPr>
      </p:sp>
      <p:sp>
        <p:nvSpPr>
          <p:cNvPr id="4" name="Text 2"/>
          <p:cNvSpPr/>
          <p:nvPr/>
        </p:nvSpPr>
        <p:spPr>
          <a:xfrm>
            <a:off x="365760" y="64008"/>
            <a:ext cx="4572000" cy="228600"/>
          </a:xfrm>
          <a:prstGeom prst="rect">
            <a:avLst/>
          </a:prstGeom>
          <a:noFill/>
          <a:ln/>
        </p:spPr>
        <p:txBody>
          <a:bodyPr wrap="square" rtlCol="0" anchor="ctr"/>
          <a:lstStyle/>
          <a:p>
            <a:pPr indent="0" marL="0">
              <a:buNone/>
            </a:pPr>
            <a:r>
              <a:rPr lang="en-US" sz="800" b="1" spc="200" kern="0" dirty="0">
                <a:solidFill>
                  <a:srgbClr val="C8A84B"/>
                </a:solidFill>
                <a:latin typeface="Calibri" pitchFamily="34" charset="0"/>
                <a:ea typeface="Calibri" pitchFamily="34" charset="-122"/>
                <a:cs typeface="Calibri" pitchFamily="34" charset="-120"/>
              </a:rPr>
              <a:t>AGENDA</a:t>
            </a:r>
            <a:endParaRPr lang="en-US" sz="800" dirty="0"/>
          </a:p>
        </p:txBody>
      </p:sp>
      <p:sp>
        <p:nvSpPr>
          <p:cNvPr id="5" name="Text 3"/>
          <p:cNvSpPr/>
          <p:nvPr/>
        </p:nvSpPr>
        <p:spPr>
          <a:xfrm>
            <a:off x="365760" y="256032"/>
            <a:ext cx="9601200" cy="566928"/>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What This Engagement Covers</a:t>
            </a:r>
            <a:endParaRPr lang="en-US" sz="2600" dirty="0"/>
          </a:p>
        </p:txBody>
      </p:sp>
      <p:sp>
        <p:nvSpPr>
          <p:cNvPr id="6" name="Text 4"/>
          <p:cNvSpPr/>
          <p:nvPr/>
        </p:nvSpPr>
        <p:spPr>
          <a:xfrm>
            <a:off x="365760" y="795528"/>
            <a:ext cx="10058400" cy="228600"/>
          </a:xfrm>
          <a:prstGeom prst="rect">
            <a:avLst/>
          </a:prstGeom>
          <a:noFill/>
          <a:ln/>
        </p:spPr>
        <p:txBody>
          <a:bodyPr wrap="square" rtlCol="0" anchor="ctr"/>
          <a:lstStyle/>
          <a:p>
            <a:pPr indent="0" marL="0">
              <a:buNone/>
            </a:pPr>
            <a:r>
              <a:rPr lang="en-US" sz="1050" i="1" dirty="0">
                <a:solidFill>
                  <a:srgbClr val="8899BB"/>
                </a:solidFill>
                <a:latin typeface="Calibri" pitchFamily="34" charset="0"/>
                <a:ea typeface="Calibri" pitchFamily="34" charset="-122"/>
                <a:cs typeface="Calibri" pitchFamily="34" charset="-120"/>
              </a:rPr>
              <a:t>Five parts — from diagnosis to execution</a:t>
            </a:r>
            <a:endParaRPr lang="en-US" sz="1050" dirty="0"/>
          </a:p>
        </p:txBody>
      </p:sp>
      <p:sp>
        <p:nvSpPr>
          <p:cNvPr id="7" name="Shape 5"/>
          <p:cNvSpPr/>
          <p:nvPr/>
        </p:nvSpPr>
        <p:spPr>
          <a:xfrm>
            <a:off x="365760" y="1280160"/>
            <a:ext cx="5669280" cy="1371600"/>
          </a:xfrm>
          <a:prstGeom prst="rect">
            <a:avLst/>
          </a:prstGeom>
          <a:solidFill>
            <a:srgbClr val="F8FAFC"/>
          </a:solidFill>
          <a:ln w="12700">
            <a:solidFill>
              <a:srgbClr val="D0D8E8"/>
            </a:solidFill>
            <a:prstDash val="solid"/>
          </a:ln>
        </p:spPr>
      </p:sp>
      <p:sp>
        <p:nvSpPr>
          <p:cNvPr id="8" name="Shape 6"/>
          <p:cNvSpPr/>
          <p:nvPr/>
        </p:nvSpPr>
        <p:spPr>
          <a:xfrm>
            <a:off x="365760" y="1280160"/>
            <a:ext cx="54864" cy="1371600"/>
          </a:xfrm>
          <a:prstGeom prst="rect">
            <a:avLst/>
          </a:prstGeom>
          <a:solidFill>
            <a:srgbClr val="C8A84B"/>
          </a:solidFill>
          <a:ln w="12700">
            <a:solidFill>
              <a:srgbClr val="C8A84B"/>
            </a:solidFill>
            <a:prstDash val="solid"/>
          </a:ln>
        </p:spPr>
      </p:sp>
      <p:sp>
        <p:nvSpPr>
          <p:cNvPr id="9" name="Text 7"/>
          <p:cNvSpPr/>
          <p:nvPr/>
        </p:nvSpPr>
        <p:spPr>
          <a:xfrm>
            <a:off x="548640" y="1389888"/>
            <a:ext cx="457200" cy="320040"/>
          </a:xfrm>
          <a:prstGeom prst="rect">
            <a:avLst/>
          </a:prstGeom>
          <a:noFill/>
          <a:ln/>
        </p:spPr>
        <p:txBody>
          <a:bodyPr wrap="square" rtlCol="0" anchor="ctr"/>
          <a:lstStyle/>
          <a:p>
            <a:pPr indent="0" marL="0">
              <a:buNone/>
            </a:pPr>
            <a:r>
              <a:rPr lang="en-US" sz="1600" b="1" dirty="0">
                <a:solidFill>
                  <a:srgbClr val="C8A84B"/>
                </a:solidFill>
                <a:latin typeface="Calibri" pitchFamily="34" charset="0"/>
                <a:ea typeface="Calibri" pitchFamily="34" charset="-122"/>
                <a:cs typeface="Calibri" pitchFamily="34" charset="-120"/>
              </a:rPr>
              <a:t>01</a:t>
            </a:r>
            <a:endParaRPr lang="en-US" sz="1600" dirty="0"/>
          </a:p>
        </p:txBody>
      </p:sp>
      <p:sp>
        <p:nvSpPr>
          <p:cNvPr id="10" name="Text 8"/>
          <p:cNvSpPr/>
          <p:nvPr/>
        </p:nvSpPr>
        <p:spPr>
          <a:xfrm>
            <a:off x="1051560" y="1371600"/>
            <a:ext cx="4754880" cy="320040"/>
          </a:xfrm>
          <a:prstGeom prst="rect">
            <a:avLst/>
          </a:prstGeom>
          <a:noFill/>
          <a:ln/>
        </p:spPr>
        <p:txBody>
          <a:bodyPr wrap="square" rtlCol="0" anchor="ctr"/>
          <a:lstStyle/>
          <a:p>
            <a:pPr indent="0" marL="0">
              <a:buNone/>
            </a:pPr>
            <a:r>
              <a:rPr lang="en-US" sz="1300" b="1" dirty="0">
                <a:solidFill>
                  <a:srgbClr val="0A1628"/>
                </a:solidFill>
                <a:latin typeface="Calibri" pitchFamily="34" charset="0"/>
                <a:ea typeface="Calibri" pitchFamily="34" charset="-122"/>
                <a:cs typeface="Calibri" pitchFamily="34" charset="-120"/>
              </a:rPr>
              <a:t>Engagement Overview</a:t>
            </a:r>
            <a:endParaRPr lang="en-US" sz="1300" dirty="0"/>
          </a:p>
        </p:txBody>
      </p:sp>
      <p:sp>
        <p:nvSpPr>
          <p:cNvPr id="11" name="Text 9"/>
          <p:cNvSpPr/>
          <p:nvPr/>
        </p:nvSpPr>
        <p:spPr>
          <a:xfrm>
            <a:off x="1051560" y="1755648"/>
            <a:ext cx="4754880" cy="777240"/>
          </a:xfrm>
          <a:prstGeom prst="rect">
            <a:avLst/>
          </a:prstGeom>
          <a:noFill/>
          <a:ln/>
        </p:spPr>
        <p:txBody>
          <a:bodyPr wrap="square" rtlCol="0" anchor="ctr"/>
          <a:lstStyle/>
          <a:p>
            <a:pPr indent="0" marL="0">
              <a:buNone/>
            </a:pPr>
            <a:r>
              <a:rPr lang="en-US" sz="900" i="1" dirty="0">
                <a:solidFill>
                  <a:srgbClr val="5A6A85"/>
                </a:solidFill>
                <a:latin typeface="Calibri" pitchFamily="34" charset="0"/>
                <a:ea typeface="Calibri" pitchFamily="34" charset="-122"/>
                <a:cs typeface="Calibri" pitchFamily="34" charset="-120"/>
              </a:rPr>
              <a:t>Objective · Dataset · Three pivot findings · Analytical approach</a:t>
            </a:r>
            <a:endParaRPr lang="en-US" sz="900" dirty="0"/>
          </a:p>
        </p:txBody>
      </p:sp>
      <p:sp>
        <p:nvSpPr>
          <p:cNvPr id="12" name="Shape 10"/>
          <p:cNvSpPr/>
          <p:nvPr/>
        </p:nvSpPr>
        <p:spPr>
          <a:xfrm>
            <a:off x="365760" y="2852928"/>
            <a:ext cx="5669280" cy="1371600"/>
          </a:xfrm>
          <a:prstGeom prst="rect">
            <a:avLst/>
          </a:prstGeom>
          <a:solidFill>
            <a:srgbClr val="FFFFFF"/>
          </a:solidFill>
          <a:ln w="12700">
            <a:solidFill>
              <a:srgbClr val="D0D8E8"/>
            </a:solidFill>
            <a:prstDash val="solid"/>
          </a:ln>
        </p:spPr>
      </p:sp>
      <p:sp>
        <p:nvSpPr>
          <p:cNvPr id="13" name="Shape 11"/>
          <p:cNvSpPr/>
          <p:nvPr/>
        </p:nvSpPr>
        <p:spPr>
          <a:xfrm>
            <a:off x="365760" y="2852928"/>
            <a:ext cx="54864" cy="1371600"/>
          </a:xfrm>
          <a:prstGeom prst="rect">
            <a:avLst/>
          </a:prstGeom>
          <a:solidFill>
            <a:srgbClr val="C8A84B"/>
          </a:solidFill>
          <a:ln w="12700">
            <a:solidFill>
              <a:srgbClr val="C8A84B"/>
            </a:solidFill>
            <a:prstDash val="solid"/>
          </a:ln>
        </p:spPr>
      </p:sp>
      <p:sp>
        <p:nvSpPr>
          <p:cNvPr id="14" name="Text 12"/>
          <p:cNvSpPr/>
          <p:nvPr/>
        </p:nvSpPr>
        <p:spPr>
          <a:xfrm>
            <a:off x="548640" y="2962656"/>
            <a:ext cx="457200" cy="320040"/>
          </a:xfrm>
          <a:prstGeom prst="rect">
            <a:avLst/>
          </a:prstGeom>
          <a:noFill/>
          <a:ln/>
        </p:spPr>
        <p:txBody>
          <a:bodyPr wrap="square" rtlCol="0" anchor="ctr"/>
          <a:lstStyle/>
          <a:p>
            <a:pPr indent="0" marL="0">
              <a:buNone/>
            </a:pPr>
            <a:r>
              <a:rPr lang="en-US" sz="1600" b="1" dirty="0">
                <a:solidFill>
                  <a:srgbClr val="C8A84B"/>
                </a:solidFill>
                <a:latin typeface="Calibri" pitchFamily="34" charset="0"/>
                <a:ea typeface="Calibri" pitchFamily="34" charset="-122"/>
                <a:cs typeface="Calibri" pitchFamily="34" charset="-120"/>
              </a:rPr>
              <a:t>02</a:t>
            </a:r>
            <a:endParaRPr lang="en-US" sz="1600" dirty="0"/>
          </a:p>
        </p:txBody>
      </p:sp>
      <p:sp>
        <p:nvSpPr>
          <p:cNvPr id="15" name="Text 13"/>
          <p:cNvSpPr/>
          <p:nvPr/>
        </p:nvSpPr>
        <p:spPr>
          <a:xfrm>
            <a:off x="1051560" y="2944368"/>
            <a:ext cx="4754880" cy="320040"/>
          </a:xfrm>
          <a:prstGeom prst="rect">
            <a:avLst/>
          </a:prstGeom>
          <a:noFill/>
          <a:ln/>
        </p:spPr>
        <p:txBody>
          <a:bodyPr wrap="square" rtlCol="0" anchor="ctr"/>
          <a:lstStyle/>
          <a:p>
            <a:pPr indent="0" marL="0">
              <a:buNone/>
            </a:pPr>
            <a:r>
              <a:rPr lang="en-US" sz="1300" b="1" dirty="0">
                <a:solidFill>
                  <a:srgbClr val="0A1628"/>
                </a:solidFill>
                <a:latin typeface="Calibri" pitchFamily="34" charset="0"/>
                <a:ea typeface="Calibri" pitchFamily="34" charset="-122"/>
                <a:cs typeface="Calibri" pitchFamily="34" charset="-120"/>
              </a:rPr>
              <a:t>Brand Health Diagnosis</a:t>
            </a:r>
            <a:endParaRPr lang="en-US" sz="1300" dirty="0"/>
          </a:p>
        </p:txBody>
      </p:sp>
      <p:sp>
        <p:nvSpPr>
          <p:cNvPr id="16" name="Text 14"/>
          <p:cNvSpPr/>
          <p:nvPr/>
        </p:nvSpPr>
        <p:spPr>
          <a:xfrm>
            <a:off x="1051560" y="3328416"/>
            <a:ext cx="4754880" cy="777240"/>
          </a:xfrm>
          <a:prstGeom prst="rect">
            <a:avLst/>
          </a:prstGeom>
          <a:noFill/>
          <a:ln/>
        </p:spPr>
        <p:txBody>
          <a:bodyPr wrap="square" rtlCol="0" anchor="ctr"/>
          <a:lstStyle/>
          <a:p>
            <a:pPr indent="0" marL="0">
              <a:buNone/>
            </a:pPr>
            <a:r>
              <a:rPr lang="en-US" sz="900" i="1" dirty="0">
                <a:solidFill>
                  <a:srgbClr val="5A6A85"/>
                </a:solidFill>
                <a:latin typeface="Calibri" pitchFamily="34" charset="0"/>
                <a:ea typeface="Calibri" pitchFamily="34" charset="-122"/>
                <a:cs typeface="Calibri" pitchFamily="34" charset="-120"/>
              </a:rPr>
              <a:t>NPS −46.23 · Sentiment · The recall finding · Crisis failure</a:t>
            </a:r>
            <a:endParaRPr lang="en-US" sz="900" dirty="0"/>
          </a:p>
        </p:txBody>
      </p:sp>
      <p:sp>
        <p:nvSpPr>
          <p:cNvPr id="17" name="Shape 15"/>
          <p:cNvSpPr/>
          <p:nvPr/>
        </p:nvSpPr>
        <p:spPr>
          <a:xfrm>
            <a:off x="365760" y="4425696"/>
            <a:ext cx="5669280" cy="1371600"/>
          </a:xfrm>
          <a:prstGeom prst="rect">
            <a:avLst/>
          </a:prstGeom>
          <a:solidFill>
            <a:srgbClr val="F8FAFC"/>
          </a:solidFill>
          <a:ln w="12700">
            <a:solidFill>
              <a:srgbClr val="D0D8E8"/>
            </a:solidFill>
            <a:prstDash val="solid"/>
          </a:ln>
        </p:spPr>
      </p:sp>
      <p:sp>
        <p:nvSpPr>
          <p:cNvPr id="18" name="Shape 16"/>
          <p:cNvSpPr/>
          <p:nvPr/>
        </p:nvSpPr>
        <p:spPr>
          <a:xfrm>
            <a:off x="365760" y="4425696"/>
            <a:ext cx="54864" cy="1371600"/>
          </a:xfrm>
          <a:prstGeom prst="rect">
            <a:avLst/>
          </a:prstGeom>
          <a:solidFill>
            <a:srgbClr val="C8A84B"/>
          </a:solidFill>
          <a:ln w="12700">
            <a:solidFill>
              <a:srgbClr val="C8A84B"/>
            </a:solidFill>
            <a:prstDash val="solid"/>
          </a:ln>
        </p:spPr>
      </p:sp>
      <p:sp>
        <p:nvSpPr>
          <p:cNvPr id="19" name="Text 17"/>
          <p:cNvSpPr/>
          <p:nvPr/>
        </p:nvSpPr>
        <p:spPr>
          <a:xfrm>
            <a:off x="548640" y="4535424"/>
            <a:ext cx="457200" cy="320040"/>
          </a:xfrm>
          <a:prstGeom prst="rect">
            <a:avLst/>
          </a:prstGeom>
          <a:noFill/>
          <a:ln/>
        </p:spPr>
        <p:txBody>
          <a:bodyPr wrap="square" rtlCol="0" anchor="ctr"/>
          <a:lstStyle/>
          <a:p>
            <a:pPr indent="0" marL="0">
              <a:buNone/>
            </a:pPr>
            <a:r>
              <a:rPr lang="en-US" sz="1600" b="1" dirty="0">
                <a:solidFill>
                  <a:srgbClr val="C8A84B"/>
                </a:solidFill>
                <a:latin typeface="Calibri" pitchFamily="34" charset="0"/>
                <a:ea typeface="Calibri" pitchFamily="34" charset="-122"/>
                <a:cs typeface="Calibri" pitchFamily="34" charset="-120"/>
              </a:rPr>
              <a:t>03</a:t>
            </a:r>
            <a:endParaRPr lang="en-US" sz="1600" dirty="0"/>
          </a:p>
        </p:txBody>
      </p:sp>
      <p:sp>
        <p:nvSpPr>
          <p:cNvPr id="20" name="Text 18"/>
          <p:cNvSpPr/>
          <p:nvPr/>
        </p:nvSpPr>
        <p:spPr>
          <a:xfrm>
            <a:off x="1051560" y="4517136"/>
            <a:ext cx="4754880" cy="320040"/>
          </a:xfrm>
          <a:prstGeom prst="rect">
            <a:avLst/>
          </a:prstGeom>
          <a:noFill/>
          <a:ln/>
        </p:spPr>
        <p:txBody>
          <a:bodyPr wrap="square" rtlCol="0" anchor="ctr"/>
          <a:lstStyle/>
          <a:p>
            <a:pPr indent="0" marL="0">
              <a:buNone/>
            </a:pPr>
            <a:r>
              <a:rPr lang="en-US" sz="1300" b="1" dirty="0">
                <a:solidFill>
                  <a:srgbClr val="0A1628"/>
                </a:solidFill>
                <a:latin typeface="Calibri" pitchFamily="34" charset="0"/>
                <a:ea typeface="Calibri" pitchFamily="34" charset="-122"/>
                <a:cs typeface="Calibri" pitchFamily="34" charset="-120"/>
              </a:rPr>
              <a:t>Customer Segmentation &amp; VIP ROI</a:t>
            </a:r>
            <a:endParaRPr lang="en-US" sz="1300" dirty="0"/>
          </a:p>
        </p:txBody>
      </p:sp>
      <p:sp>
        <p:nvSpPr>
          <p:cNvPr id="21" name="Text 19"/>
          <p:cNvSpPr/>
          <p:nvPr/>
        </p:nvSpPr>
        <p:spPr>
          <a:xfrm>
            <a:off x="1051560" y="4901184"/>
            <a:ext cx="4754880" cy="777240"/>
          </a:xfrm>
          <a:prstGeom prst="rect">
            <a:avLst/>
          </a:prstGeom>
          <a:noFill/>
          <a:ln/>
        </p:spPr>
        <p:txBody>
          <a:bodyPr wrap="square" rtlCol="0" anchor="ctr"/>
          <a:lstStyle/>
          <a:p>
            <a:pPr indent="0" marL="0">
              <a:buNone/>
            </a:pPr>
            <a:r>
              <a:rPr lang="en-US" sz="900" i="1" dirty="0">
                <a:solidFill>
                  <a:srgbClr val="5A6A85"/>
                </a:solidFill>
                <a:latin typeface="Calibri" pitchFamily="34" charset="0"/>
                <a:ea typeface="Calibri" pitchFamily="34" charset="-122"/>
                <a:cs typeface="Calibri" pitchFamily="34" charset="-120"/>
              </a:rPr>
              <a:t>Poisoned pipeline · Revenue at risk · Recovery tiers · Marketing contradiction</a:t>
            </a:r>
            <a:endParaRPr lang="en-US" sz="900" dirty="0"/>
          </a:p>
        </p:txBody>
      </p:sp>
      <p:sp>
        <p:nvSpPr>
          <p:cNvPr id="22" name="Shape 20"/>
          <p:cNvSpPr/>
          <p:nvPr/>
        </p:nvSpPr>
        <p:spPr>
          <a:xfrm>
            <a:off x="6400800" y="1280160"/>
            <a:ext cx="5669280" cy="1371600"/>
          </a:xfrm>
          <a:prstGeom prst="rect">
            <a:avLst/>
          </a:prstGeom>
          <a:solidFill>
            <a:srgbClr val="FFFFFF"/>
          </a:solidFill>
          <a:ln w="12700">
            <a:solidFill>
              <a:srgbClr val="D0D8E8"/>
            </a:solidFill>
            <a:prstDash val="solid"/>
          </a:ln>
        </p:spPr>
      </p:sp>
      <p:sp>
        <p:nvSpPr>
          <p:cNvPr id="23" name="Shape 21"/>
          <p:cNvSpPr/>
          <p:nvPr/>
        </p:nvSpPr>
        <p:spPr>
          <a:xfrm>
            <a:off x="6400800" y="1280160"/>
            <a:ext cx="54864" cy="1371600"/>
          </a:xfrm>
          <a:prstGeom prst="rect">
            <a:avLst/>
          </a:prstGeom>
          <a:solidFill>
            <a:srgbClr val="C8A84B"/>
          </a:solidFill>
          <a:ln w="12700">
            <a:solidFill>
              <a:srgbClr val="C8A84B"/>
            </a:solidFill>
            <a:prstDash val="solid"/>
          </a:ln>
        </p:spPr>
      </p:sp>
      <p:sp>
        <p:nvSpPr>
          <p:cNvPr id="24" name="Text 22"/>
          <p:cNvSpPr/>
          <p:nvPr/>
        </p:nvSpPr>
        <p:spPr>
          <a:xfrm>
            <a:off x="6583680" y="1389888"/>
            <a:ext cx="457200" cy="320040"/>
          </a:xfrm>
          <a:prstGeom prst="rect">
            <a:avLst/>
          </a:prstGeom>
          <a:noFill/>
          <a:ln/>
        </p:spPr>
        <p:txBody>
          <a:bodyPr wrap="square" rtlCol="0" anchor="ctr"/>
          <a:lstStyle/>
          <a:p>
            <a:pPr indent="0" marL="0">
              <a:buNone/>
            </a:pPr>
            <a:r>
              <a:rPr lang="en-US" sz="1600" b="1" dirty="0">
                <a:solidFill>
                  <a:srgbClr val="C8A84B"/>
                </a:solidFill>
                <a:latin typeface="Calibri" pitchFamily="34" charset="0"/>
                <a:ea typeface="Calibri" pitchFamily="34" charset="-122"/>
                <a:cs typeface="Calibri" pitchFamily="34" charset="-120"/>
              </a:rPr>
              <a:t>04</a:t>
            </a:r>
            <a:endParaRPr lang="en-US" sz="1600" dirty="0"/>
          </a:p>
        </p:txBody>
      </p:sp>
      <p:sp>
        <p:nvSpPr>
          <p:cNvPr id="25" name="Text 23"/>
          <p:cNvSpPr/>
          <p:nvPr/>
        </p:nvSpPr>
        <p:spPr>
          <a:xfrm>
            <a:off x="7086600" y="1371600"/>
            <a:ext cx="4754880" cy="320040"/>
          </a:xfrm>
          <a:prstGeom prst="rect">
            <a:avLst/>
          </a:prstGeom>
          <a:noFill/>
          <a:ln/>
        </p:spPr>
        <p:txBody>
          <a:bodyPr wrap="square" rtlCol="0" anchor="ctr"/>
          <a:lstStyle/>
          <a:p>
            <a:pPr indent="0" marL="0">
              <a:buNone/>
            </a:pPr>
            <a:r>
              <a:rPr lang="en-US" sz="1300" b="1" dirty="0">
                <a:solidFill>
                  <a:srgbClr val="0A1628"/>
                </a:solidFill>
                <a:latin typeface="Calibri" pitchFamily="34" charset="0"/>
                <a:ea typeface="Calibri" pitchFamily="34" charset="-122"/>
                <a:cs typeface="Calibri" pitchFamily="34" charset="-120"/>
              </a:rPr>
              <a:t>Crisis Management &amp; Competitive Threat</a:t>
            </a:r>
            <a:endParaRPr lang="en-US" sz="1300" dirty="0"/>
          </a:p>
        </p:txBody>
      </p:sp>
      <p:sp>
        <p:nvSpPr>
          <p:cNvPr id="26" name="Text 24"/>
          <p:cNvSpPr/>
          <p:nvPr/>
        </p:nvSpPr>
        <p:spPr>
          <a:xfrm>
            <a:off x="7086600" y="1755648"/>
            <a:ext cx="4754880" cy="777240"/>
          </a:xfrm>
          <a:prstGeom prst="rect">
            <a:avLst/>
          </a:prstGeom>
          <a:noFill/>
          <a:ln/>
        </p:spPr>
        <p:txBody>
          <a:bodyPr wrap="square" rtlCol="0" anchor="ctr"/>
          <a:lstStyle/>
          <a:p>
            <a:pPr indent="0" marL="0">
              <a:buNone/>
            </a:pPr>
            <a:r>
              <a:rPr lang="en-US" sz="900" i="1" dirty="0">
                <a:solidFill>
                  <a:srgbClr val="5A6A85"/>
                </a:solidFill>
                <a:latin typeface="Calibri" pitchFamily="34" charset="0"/>
                <a:ea typeface="Calibri" pitchFamily="34" charset="-122"/>
                <a:cs typeface="Calibri" pitchFamily="34" charset="-120"/>
              </a:rPr>
              <a:t>190 days · Follow-through failure · Point of No Return · $1,076,419</a:t>
            </a:r>
            <a:endParaRPr lang="en-US" sz="900" dirty="0"/>
          </a:p>
        </p:txBody>
      </p:sp>
      <p:sp>
        <p:nvSpPr>
          <p:cNvPr id="27" name="Shape 25"/>
          <p:cNvSpPr/>
          <p:nvPr/>
        </p:nvSpPr>
        <p:spPr>
          <a:xfrm>
            <a:off x="6400800" y="2852928"/>
            <a:ext cx="5669280" cy="1371600"/>
          </a:xfrm>
          <a:prstGeom prst="rect">
            <a:avLst/>
          </a:prstGeom>
          <a:solidFill>
            <a:srgbClr val="F8FAFC"/>
          </a:solidFill>
          <a:ln w="12700">
            <a:solidFill>
              <a:srgbClr val="D0D8E8"/>
            </a:solidFill>
            <a:prstDash val="solid"/>
          </a:ln>
        </p:spPr>
      </p:sp>
      <p:sp>
        <p:nvSpPr>
          <p:cNvPr id="28" name="Shape 26"/>
          <p:cNvSpPr/>
          <p:nvPr/>
        </p:nvSpPr>
        <p:spPr>
          <a:xfrm>
            <a:off x="6400800" y="2852928"/>
            <a:ext cx="54864" cy="1371600"/>
          </a:xfrm>
          <a:prstGeom prst="rect">
            <a:avLst/>
          </a:prstGeom>
          <a:solidFill>
            <a:srgbClr val="C8A84B"/>
          </a:solidFill>
          <a:ln w="12700">
            <a:solidFill>
              <a:srgbClr val="C8A84B"/>
            </a:solidFill>
            <a:prstDash val="solid"/>
          </a:ln>
        </p:spPr>
      </p:sp>
      <p:sp>
        <p:nvSpPr>
          <p:cNvPr id="29" name="Text 27"/>
          <p:cNvSpPr/>
          <p:nvPr/>
        </p:nvSpPr>
        <p:spPr>
          <a:xfrm>
            <a:off x="6583680" y="2962656"/>
            <a:ext cx="457200" cy="320040"/>
          </a:xfrm>
          <a:prstGeom prst="rect">
            <a:avLst/>
          </a:prstGeom>
          <a:noFill/>
          <a:ln/>
        </p:spPr>
        <p:txBody>
          <a:bodyPr wrap="square" rtlCol="0" anchor="ctr"/>
          <a:lstStyle/>
          <a:p>
            <a:pPr indent="0" marL="0">
              <a:buNone/>
            </a:pPr>
            <a:r>
              <a:rPr lang="en-US" sz="1600" b="1" dirty="0">
                <a:solidFill>
                  <a:srgbClr val="C8A84B"/>
                </a:solidFill>
                <a:latin typeface="Calibri" pitchFamily="34" charset="0"/>
                <a:ea typeface="Calibri" pitchFamily="34" charset="-122"/>
                <a:cs typeface="Calibri" pitchFamily="34" charset="-120"/>
              </a:rPr>
              <a:t>05</a:t>
            </a:r>
            <a:endParaRPr lang="en-US" sz="1600" dirty="0"/>
          </a:p>
        </p:txBody>
      </p:sp>
      <p:sp>
        <p:nvSpPr>
          <p:cNvPr id="30" name="Text 28"/>
          <p:cNvSpPr/>
          <p:nvPr/>
        </p:nvSpPr>
        <p:spPr>
          <a:xfrm>
            <a:off x="7086600" y="2944368"/>
            <a:ext cx="4754880" cy="320040"/>
          </a:xfrm>
          <a:prstGeom prst="rect">
            <a:avLst/>
          </a:prstGeom>
          <a:noFill/>
          <a:ln/>
        </p:spPr>
        <p:txBody>
          <a:bodyPr wrap="square" rtlCol="0" anchor="ctr"/>
          <a:lstStyle/>
          <a:p>
            <a:pPr indent="0" marL="0">
              <a:buNone/>
            </a:pPr>
            <a:r>
              <a:rPr lang="en-US" sz="1300" b="1" dirty="0">
                <a:solidFill>
                  <a:srgbClr val="0A1628"/>
                </a:solidFill>
                <a:latin typeface="Calibri" pitchFamily="34" charset="0"/>
                <a:ea typeface="Calibri" pitchFamily="34" charset="-122"/>
                <a:cs typeface="Calibri" pitchFamily="34" charset="-120"/>
              </a:rPr>
              <a:t>Consolidated Action Plan</a:t>
            </a:r>
            <a:endParaRPr lang="en-US" sz="1300" dirty="0"/>
          </a:p>
        </p:txBody>
      </p:sp>
      <p:sp>
        <p:nvSpPr>
          <p:cNvPr id="31" name="Text 29"/>
          <p:cNvSpPr/>
          <p:nvPr/>
        </p:nvSpPr>
        <p:spPr>
          <a:xfrm>
            <a:off x="7086600" y="3328416"/>
            <a:ext cx="4754880" cy="777240"/>
          </a:xfrm>
          <a:prstGeom prst="rect">
            <a:avLst/>
          </a:prstGeom>
          <a:noFill/>
          <a:ln/>
        </p:spPr>
        <p:txBody>
          <a:bodyPr wrap="square" rtlCol="0" anchor="ctr"/>
          <a:lstStyle/>
          <a:p>
            <a:pPr indent="0" marL="0">
              <a:buNone/>
            </a:pPr>
            <a:r>
              <a:rPr lang="en-US" sz="900" i="1" dirty="0">
                <a:solidFill>
                  <a:srgbClr val="5A6A85"/>
                </a:solidFill>
                <a:latin typeface="Calibri" pitchFamily="34" charset="0"/>
                <a:ea typeface="Calibri" pitchFamily="34" charset="-122"/>
                <a:cs typeface="Calibri" pitchFamily="34" charset="-120"/>
              </a:rPr>
              <a:t>Emergency → Immediate → Short-term → Medium-term · Measurement framework</a:t>
            </a:r>
            <a:endParaRPr lang="en-US" sz="900" dirty="0"/>
          </a:p>
        </p:txBody>
      </p:sp>
      <p:sp>
        <p:nvSpPr>
          <p:cNvPr id="32" name="Shape 30"/>
          <p:cNvSpPr/>
          <p:nvPr/>
        </p:nvSpPr>
        <p:spPr>
          <a:xfrm>
            <a:off x="0" y="6537960"/>
            <a:ext cx="12161520" cy="320040"/>
          </a:xfrm>
          <a:prstGeom prst="rect">
            <a:avLst/>
          </a:prstGeom>
          <a:solidFill>
            <a:srgbClr val="0A1628"/>
          </a:solidFill>
          <a:ln w="12700">
            <a:solidFill>
              <a:srgbClr val="0A1628"/>
            </a:solidFill>
            <a:prstDash val="solid"/>
          </a:ln>
        </p:spPr>
      </p:sp>
      <p:sp>
        <p:nvSpPr>
          <p:cNvPr id="33" name="Text 31"/>
          <p:cNvSpPr/>
          <p:nvPr/>
        </p:nvSpPr>
        <p:spPr>
          <a:xfrm>
            <a:off x="365760" y="6565392"/>
            <a:ext cx="9144000" cy="256032"/>
          </a:xfrm>
          <a:prstGeom prst="rect">
            <a:avLst/>
          </a:prstGeom>
          <a:noFill/>
          <a:ln/>
        </p:spPr>
        <p:txBody>
          <a:bodyPr wrap="square" rtlCol="0" anchor="ctr"/>
          <a:lstStyle/>
          <a:p>
            <a:pPr indent="0" marL="0">
              <a:buNone/>
            </a:pPr>
            <a:r>
              <a:rPr lang="en-US" sz="750" dirty="0">
                <a:solidFill>
                  <a:srgbClr val="8899BB"/>
                </a:solidFill>
                <a:latin typeface="Calibri" pitchFamily="34" charset="0"/>
                <a:ea typeface="Calibri" pitchFamily="34" charset="-122"/>
                <a:cs typeface="Calibri" pitchFamily="34" charset="-120"/>
              </a:rPr>
              <a:t>Samuel Ahinakwa  |  Finance &amp; Analytics Professional  |  BSc · MSc · ICAG Finalist  |  Confidential</a:t>
            </a:r>
            <a:endParaRPr lang="en-US" sz="750" dirty="0"/>
          </a:p>
        </p:txBody>
      </p:sp>
      <p:sp>
        <p:nvSpPr>
          <p:cNvPr id="34" name="Text 32"/>
          <p:cNvSpPr/>
          <p:nvPr/>
        </p:nvSpPr>
        <p:spPr>
          <a:xfrm>
            <a:off x="11338560" y="6565392"/>
            <a:ext cx="731520" cy="256032"/>
          </a:xfrm>
          <a:prstGeom prst="rect">
            <a:avLst/>
          </a:prstGeom>
          <a:noFill/>
          <a:ln/>
        </p:spPr>
        <p:txBody>
          <a:bodyPr wrap="square" rtlCol="0" anchor="ctr"/>
          <a:lstStyle/>
          <a:p>
            <a:pPr algn="r" indent="0" marL="0">
              <a:buNone/>
            </a:pPr>
            <a:r>
              <a:rPr lang="en-US" sz="800" dirty="0">
                <a:solidFill>
                  <a:srgbClr val="C8A84B"/>
                </a:solidFill>
                <a:latin typeface="Calibri" pitchFamily="34" charset="0"/>
                <a:ea typeface="Calibri" pitchFamily="34" charset="-122"/>
                <a:cs typeface="Calibri" pitchFamily="34" charset="-120"/>
              </a:rPr>
              <a:t>2 / 20</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C8A84B"/>
          </a:solidFill>
          <a:ln w="12700">
            <a:solidFill>
              <a:srgbClr val="C8A84B"/>
            </a:solidFill>
            <a:prstDash val="solid"/>
          </a:ln>
        </p:spPr>
      </p:sp>
      <p:sp>
        <p:nvSpPr>
          <p:cNvPr id="3" name="Text 1"/>
          <p:cNvSpPr/>
          <p:nvPr/>
        </p:nvSpPr>
        <p:spPr>
          <a:xfrm>
            <a:off x="365760" y="731520"/>
            <a:ext cx="1828800" cy="365760"/>
          </a:xfrm>
          <a:prstGeom prst="rect">
            <a:avLst/>
          </a:prstGeom>
          <a:noFill/>
          <a:ln/>
        </p:spPr>
        <p:txBody>
          <a:bodyPr wrap="square" rtlCol="0" anchor="ctr"/>
          <a:lstStyle/>
          <a:p>
            <a:pPr indent="0" marL="0">
              <a:buNone/>
            </a:pPr>
            <a:r>
              <a:rPr lang="en-US" sz="1100" b="1" spc="300" kern="0" dirty="0">
                <a:solidFill>
                  <a:srgbClr val="C8A84B"/>
                </a:solidFill>
                <a:latin typeface="Calibri" pitchFamily="34" charset="0"/>
                <a:ea typeface="Calibri" pitchFamily="34" charset="-122"/>
                <a:cs typeface="Calibri" pitchFamily="34" charset="-120"/>
              </a:rPr>
              <a:t>PART ONE</a:t>
            </a:r>
            <a:endParaRPr lang="en-US" sz="1100" dirty="0"/>
          </a:p>
        </p:txBody>
      </p:sp>
      <p:sp>
        <p:nvSpPr>
          <p:cNvPr id="4" name="Text 2"/>
          <p:cNvSpPr/>
          <p:nvPr/>
        </p:nvSpPr>
        <p:spPr>
          <a:xfrm>
            <a:off x="365760" y="1188720"/>
            <a:ext cx="8229600" cy="2011680"/>
          </a:xfrm>
          <a:prstGeom prst="rect">
            <a:avLst/>
          </a:prstGeom>
          <a:noFill/>
          <a:ln/>
        </p:spPr>
        <p:txBody>
          <a:bodyPr wrap="square" rtlCol="0" anchor="ctr"/>
          <a:lstStyle/>
          <a:p>
            <a:pPr indent="0" marL="0">
              <a:lnSpc>
                <a:spcPct val="110000"/>
              </a:lnSpc>
              <a:buNone/>
            </a:pPr>
            <a:r>
              <a:rPr lang="en-US" sz="4800" b="1" dirty="0">
                <a:solidFill>
                  <a:srgbClr val="FFFFFF"/>
                </a:solidFill>
                <a:latin typeface="Calibri" pitchFamily="34" charset="0"/>
                <a:ea typeface="Calibri" pitchFamily="34" charset="-122"/>
                <a:cs typeface="Calibri" pitchFamily="34" charset="-120"/>
              </a:rPr>
              <a:t>Brand Health</a:t>
            </a:r>
            <a:endParaRPr lang="en-US" sz="4800" dirty="0"/>
          </a:p>
          <a:p>
            <a:pPr indent="0" marL="0">
              <a:lnSpc>
                <a:spcPct val="110000"/>
              </a:lnSpc>
              <a:buNone/>
            </a:pPr>
            <a:r>
              <a:rPr lang="en-US" sz="4800" b="1" dirty="0">
                <a:solidFill>
                  <a:srgbClr val="FFFFFF"/>
                </a:solidFill>
                <a:latin typeface="Calibri" pitchFamily="34" charset="0"/>
                <a:ea typeface="Calibri" pitchFamily="34" charset="-122"/>
                <a:cs typeface="Calibri" pitchFamily="34" charset="-120"/>
              </a:rPr>
              <a:t>Diagnosis.</a:t>
            </a:r>
            <a:endParaRPr lang="en-US" sz="4800" dirty="0"/>
          </a:p>
        </p:txBody>
      </p:sp>
      <p:sp>
        <p:nvSpPr>
          <p:cNvPr id="5" name="Text 3"/>
          <p:cNvSpPr/>
          <p:nvPr/>
        </p:nvSpPr>
        <p:spPr>
          <a:xfrm>
            <a:off x="365760" y="3337560"/>
            <a:ext cx="8229600" cy="457200"/>
          </a:xfrm>
          <a:prstGeom prst="rect">
            <a:avLst/>
          </a:prstGeom>
          <a:noFill/>
          <a:ln/>
        </p:spPr>
        <p:txBody>
          <a:bodyPr wrap="square" rtlCol="0" anchor="ctr"/>
          <a:lstStyle/>
          <a:p>
            <a:pPr indent="0" marL="0">
              <a:buNone/>
            </a:pPr>
            <a:r>
              <a:rPr lang="en-US" sz="1600" i="1" dirty="0">
                <a:solidFill>
                  <a:srgbClr val="8899BB"/>
                </a:solidFill>
                <a:latin typeface="Calibri" pitchFamily="34" charset="0"/>
                <a:ea typeface="Calibri" pitchFamily="34" charset="-122"/>
                <a:cs typeface="Calibri" pitchFamily="34" charset="-120"/>
              </a:rPr>
              <a:t>AfriTech Electronics Is a Brand in Distress.</a:t>
            </a:r>
            <a:endParaRPr lang="en-US" sz="1600" dirty="0"/>
          </a:p>
        </p:txBody>
      </p:sp>
      <p:sp>
        <p:nvSpPr>
          <p:cNvPr id="6" name="Shape 4"/>
          <p:cNvSpPr/>
          <p:nvPr/>
        </p:nvSpPr>
        <p:spPr>
          <a:xfrm>
            <a:off x="365760" y="5029200"/>
            <a:ext cx="5486400" cy="27432"/>
          </a:xfrm>
          <a:prstGeom prst="rect">
            <a:avLst/>
          </a:prstGeom>
          <a:solidFill>
            <a:srgbClr val="C8A84B"/>
          </a:solidFill>
          <a:ln w="12700">
            <a:solidFill>
              <a:srgbClr val="C8A84B"/>
            </a:solidFill>
            <a:prstDash val="solid"/>
          </a:ln>
        </p:spPr>
      </p:sp>
      <p:sp>
        <p:nvSpPr>
          <p:cNvPr id="7" name="Text 5"/>
          <p:cNvSpPr/>
          <p:nvPr/>
        </p:nvSpPr>
        <p:spPr>
          <a:xfrm>
            <a:off x="365760" y="5166360"/>
            <a:ext cx="8229600" cy="274320"/>
          </a:xfrm>
          <a:prstGeom prst="rect">
            <a:avLst/>
          </a:prstGeom>
          <a:noFill/>
          <a:ln/>
        </p:spPr>
        <p:txBody>
          <a:bodyPr wrap="square" rtlCol="0" anchor="ctr"/>
          <a:lstStyle/>
          <a:p>
            <a:pPr indent="0" marL="0">
              <a:buNone/>
            </a:pPr>
            <a:r>
              <a:rPr lang="en-US" sz="1000" dirty="0">
                <a:solidFill>
                  <a:srgbClr val="8899BB"/>
                </a:solidFill>
                <a:latin typeface="Calibri" pitchFamily="34" charset="0"/>
                <a:ea typeface="Calibri" pitchFamily="34" charset="-122"/>
                <a:cs typeface="Calibri" pitchFamily="34" charset="-120"/>
              </a:rPr>
              <a:t>NPS −46.23  ·  64.59% Detractor Rate  ·  52.41% Unresolved Crises  ·  $0.2pt recall difference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1051560"/>
          </a:xfrm>
          <a:prstGeom prst="rect">
            <a:avLst/>
          </a:prstGeom>
          <a:solidFill>
            <a:srgbClr val="0A1628"/>
          </a:solidFill>
          <a:ln w="12700">
            <a:solidFill>
              <a:srgbClr val="0A1628"/>
            </a:solidFill>
            <a:prstDash val="solid"/>
          </a:ln>
        </p:spPr>
      </p:sp>
      <p:sp>
        <p:nvSpPr>
          <p:cNvPr id="3" name="Shape 1"/>
          <p:cNvSpPr/>
          <p:nvPr/>
        </p:nvSpPr>
        <p:spPr>
          <a:xfrm>
            <a:off x="0" y="1051560"/>
            <a:ext cx="12161520" cy="36576"/>
          </a:xfrm>
          <a:prstGeom prst="rect">
            <a:avLst/>
          </a:prstGeom>
          <a:solidFill>
            <a:srgbClr val="C8A84B"/>
          </a:solidFill>
          <a:ln w="12700">
            <a:solidFill>
              <a:srgbClr val="C8A84B"/>
            </a:solidFill>
            <a:prstDash val="solid"/>
          </a:ln>
        </p:spPr>
      </p:sp>
      <p:sp>
        <p:nvSpPr>
          <p:cNvPr id="4" name="Text 2"/>
          <p:cNvSpPr/>
          <p:nvPr/>
        </p:nvSpPr>
        <p:spPr>
          <a:xfrm>
            <a:off x="365760" y="64008"/>
            <a:ext cx="4572000" cy="228600"/>
          </a:xfrm>
          <a:prstGeom prst="rect">
            <a:avLst/>
          </a:prstGeom>
          <a:noFill/>
          <a:ln/>
        </p:spPr>
        <p:txBody>
          <a:bodyPr wrap="square" rtlCol="0" anchor="ctr"/>
          <a:lstStyle/>
          <a:p>
            <a:pPr indent="0" marL="0">
              <a:buNone/>
            </a:pPr>
            <a:r>
              <a:rPr lang="en-US" sz="800" b="1" spc="200" kern="0" dirty="0">
                <a:solidFill>
                  <a:srgbClr val="C8A84B"/>
                </a:solidFill>
                <a:latin typeface="Calibri" pitchFamily="34" charset="0"/>
                <a:ea typeface="Calibri" pitchFamily="34" charset="-122"/>
                <a:cs typeface="Calibri" pitchFamily="34" charset="-120"/>
              </a:rPr>
              <a:t>01 — BRAND HEALTH</a:t>
            </a:r>
            <a:endParaRPr lang="en-US" sz="800" dirty="0"/>
          </a:p>
        </p:txBody>
      </p:sp>
      <p:sp>
        <p:nvSpPr>
          <p:cNvPr id="5" name="Text 3"/>
          <p:cNvSpPr/>
          <p:nvPr/>
        </p:nvSpPr>
        <p:spPr>
          <a:xfrm>
            <a:off x="365760" y="256032"/>
            <a:ext cx="9601200" cy="566928"/>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The Headline Numbers</a:t>
            </a:r>
            <a:endParaRPr lang="en-US" sz="2600" dirty="0"/>
          </a:p>
        </p:txBody>
      </p:sp>
      <p:sp>
        <p:nvSpPr>
          <p:cNvPr id="6" name="Text 4"/>
          <p:cNvSpPr/>
          <p:nvPr/>
        </p:nvSpPr>
        <p:spPr>
          <a:xfrm>
            <a:off x="365760" y="795528"/>
            <a:ext cx="10058400" cy="228600"/>
          </a:xfrm>
          <a:prstGeom prst="rect">
            <a:avLst/>
          </a:prstGeom>
          <a:noFill/>
          <a:ln/>
        </p:spPr>
        <p:txBody>
          <a:bodyPr wrap="square" rtlCol="0" anchor="ctr"/>
          <a:lstStyle/>
          <a:p>
            <a:pPr indent="0" marL="0">
              <a:buNone/>
            </a:pPr>
            <a:r>
              <a:rPr lang="en-US" sz="1050" i="1" dirty="0">
                <a:solidFill>
                  <a:srgbClr val="8899BB"/>
                </a:solidFill>
                <a:latin typeface="Calibri" pitchFamily="34" charset="0"/>
                <a:ea typeface="Calibri" pitchFamily="34" charset="-122"/>
                <a:cs typeface="Calibri" pitchFamily="34" charset="-120"/>
              </a:rPr>
              <a:t>Four KPIs that establish the scale of the crisis</a:t>
            </a:r>
            <a:endParaRPr lang="en-US" sz="1050" dirty="0"/>
          </a:p>
        </p:txBody>
      </p:sp>
      <p:sp>
        <p:nvSpPr>
          <p:cNvPr id="7" name="Shape 5"/>
          <p:cNvSpPr/>
          <p:nvPr/>
        </p:nvSpPr>
        <p:spPr>
          <a:xfrm>
            <a:off x="365760" y="1280160"/>
            <a:ext cx="2651760" cy="1463040"/>
          </a:xfrm>
          <a:prstGeom prst="rect">
            <a:avLst/>
          </a:prstGeom>
          <a:solidFill>
            <a:srgbClr val="FEF2F2"/>
          </a:solidFill>
          <a:ln w="12700">
            <a:solidFill>
              <a:srgbClr val="C0392B"/>
            </a:solidFill>
            <a:prstDash val="solid"/>
          </a:ln>
          <a:effectLst>
            <a:outerShdw sx="100000" sy="100000" kx="0" ky="0" algn="bl" rotWithShape="0" blurRad="101600" dist="38100" dir="8100000">
              <a:srgbClr val="000000">
                <a:alpha val="12000"/>
              </a:srgbClr>
            </a:outerShdw>
          </a:effectLst>
        </p:spPr>
      </p:sp>
      <p:sp>
        <p:nvSpPr>
          <p:cNvPr id="8" name="Shape 6"/>
          <p:cNvSpPr/>
          <p:nvPr/>
        </p:nvSpPr>
        <p:spPr>
          <a:xfrm>
            <a:off x="365760" y="1280160"/>
            <a:ext cx="2651760" cy="45720"/>
          </a:xfrm>
          <a:prstGeom prst="rect">
            <a:avLst/>
          </a:prstGeom>
          <a:solidFill>
            <a:srgbClr val="C0392B"/>
          </a:solidFill>
          <a:ln w="12700">
            <a:solidFill>
              <a:srgbClr val="C0392B"/>
            </a:solidFill>
            <a:prstDash val="solid"/>
          </a:ln>
        </p:spPr>
      </p:sp>
      <p:sp>
        <p:nvSpPr>
          <p:cNvPr id="9" name="Text 7"/>
          <p:cNvSpPr/>
          <p:nvPr/>
        </p:nvSpPr>
        <p:spPr>
          <a:xfrm>
            <a:off x="438912" y="1344168"/>
            <a:ext cx="2505456" cy="702259"/>
          </a:xfrm>
          <a:prstGeom prst="rect">
            <a:avLst/>
          </a:prstGeom>
          <a:noFill/>
          <a:ln/>
        </p:spPr>
        <p:txBody>
          <a:bodyPr wrap="square" rtlCol="0" anchor="ctr"/>
          <a:lstStyle/>
          <a:p>
            <a:pPr algn="ctr" indent="0" marL="0">
              <a:buNone/>
            </a:pPr>
            <a:r>
              <a:rPr lang="en-US" sz="2600" b="1" dirty="0">
                <a:solidFill>
                  <a:srgbClr val="C0392B"/>
                </a:solidFill>
                <a:latin typeface="Calibri" pitchFamily="34" charset="0"/>
                <a:ea typeface="Calibri" pitchFamily="34" charset="-122"/>
                <a:cs typeface="Calibri" pitchFamily="34" charset="-120"/>
              </a:rPr>
              <a:t>−46.23</a:t>
            </a:r>
            <a:endParaRPr lang="en-US" sz="2600" dirty="0"/>
          </a:p>
        </p:txBody>
      </p:sp>
      <p:sp>
        <p:nvSpPr>
          <p:cNvPr id="10" name="Text 8"/>
          <p:cNvSpPr/>
          <p:nvPr/>
        </p:nvSpPr>
        <p:spPr>
          <a:xfrm>
            <a:off x="438912" y="2070202"/>
            <a:ext cx="2505456" cy="228600"/>
          </a:xfrm>
          <a:prstGeom prst="rect">
            <a:avLst/>
          </a:prstGeom>
          <a:noFill/>
          <a:ln/>
        </p:spPr>
        <p:txBody>
          <a:bodyPr wrap="square" rtlCol="0" anchor="ctr"/>
          <a:lstStyle/>
          <a:p>
            <a:pPr algn="ctr" indent="0" marL="0">
              <a:buNone/>
            </a:pPr>
            <a:r>
              <a:rPr lang="en-US" sz="850" b="1" spc="100" kern="0" dirty="0">
                <a:solidFill>
                  <a:srgbClr val="0A1628"/>
                </a:solidFill>
                <a:latin typeface="Calibri" pitchFamily="34" charset="0"/>
                <a:ea typeface="Calibri" pitchFamily="34" charset="-122"/>
                <a:cs typeface="Calibri" pitchFamily="34" charset="-120"/>
              </a:rPr>
              <a:t>NPS SCORE</a:t>
            </a:r>
            <a:endParaRPr lang="en-US" sz="850" dirty="0"/>
          </a:p>
        </p:txBody>
      </p:sp>
      <p:sp>
        <p:nvSpPr>
          <p:cNvPr id="11" name="Text 9"/>
          <p:cNvSpPr/>
          <p:nvPr/>
        </p:nvSpPr>
        <p:spPr>
          <a:xfrm>
            <a:off x="438912" y="2406701"/>
            <a:ext cx="2505456" cy="201168"/>
          </a:xfrm>
          <a:prstGeom prst="rect">
            <a:avLst/>
          </a:prstGeom>
          <a:noFill/>
          <a:ln/>
        </p:spPr>
        <p:txBody>
          <a:bodyPr wrap="square" rtlCol="0" anchor="ctr"/>
          <a:lstStyle/>
          <a:p>
            <a:pPr algn="ctr" indent="0" marL="0">
              <a:buNone/>
            </a:pPr>
            <a:r>
              <a:rPr lang="en-US" sz="750" dirty="0">
                <a:solidFill>
                  <a:srgbClr val="5A6A85"/>
                </a:solidFill>
                <a:latin typeface="Calibri" pitchFamily="34" charset="0"/>
                <a:ea typeface="Calibri" pitchFamily="34" charset="-122"/>
                <a:cs typeface="Calibri" pitchFamily="34" charset="-120"/>
              </a:rPr>
              <a:t>Industry avg: +40 to +55</a:t>
            </a:r>
            <a:endParaRPr lang="en-US" sz="750" dirty="0"/>
          </a:p>
        </p:txBody>
      </p:sp>
      <p:sp>
        <p:nvSpPr>
          <p:cNvPr id="12" name="Shape 10"/>
          <p:cNvSpPr/>
          <p:nvPr/>
        </p:nvSpPr>
        <p:spPr>
          <a:xfrm>
            <a:off x="3246120" y="1280160"/>
            <a:ext cx="2651760" cy="1463040"/>
          </a:xfrm>
          <a:prstGeom prst="rect">
            <a:avLst/>
          </a:prstGeom>
          <a:solidFill>
            <a:srgbClr val="FEF2F2"/>
          </a:solidFill>
          <a:ln w="12700">
            <a:solidFill>
              <a:srgbClr val="C0392B"/>
            </a:solidFill>
            <a:prstDash val="solid"/>
          </a:ln>
          <a:effectLst>
            <a:outerShdw sx="100000" sy="100000" kx="0" ky="0" algn="bl" rotWithShape="0" blurRad="101600" dist="38100" dir="8100000">
              <a:srgbClr val="000000">
                <a:alpha val="12000"/>
              </a:srgbClr>
            </a:outerShdw>
          </a:effectLst>
        </p:spPr>
      </p:sp>
      <p:sp>
        <p:nvSpPr>
          <p:cNvPr id="13" name="Shape 11"/>
          <p:cNvSpPr/>
          <p:nvPr/>
        </p:nvSpPr>
        <p:spPr>
          <a:xfrm>
            <a:off x="3246120" y="1280160"/>
            <a:ext cx="2651760" cy="45720"/>
          </a:xfrm>
          <a:prstGeom prst="rect">
            <a:avLst/>
          </a:prstGeom>
          <a:solidFill>
            <a:srgbClr val="C0392B"/>
          </a:solidFill>
          <a:ln w="12700">
            <a:solidFill>
              <a:srgbClr val="C0392B"/>
            </a:solidFill>
            <a:prstDash val="solid"/>
          </a:ln>
        </p:spPr>
      </p:sp>
      <p:sp>
        <p:nvSpPr>
          <p:cNvPr id="14" name="Text 12"/>
          <p:cNvSpPr/>
          <p:nvPr/>
        </p:nvSpPr>
        <p:spPr>
          <a:xfrm>
            <a:off x="3319272" y="1344168"/>
            <a:ext cx="2505456" cy="702259"/>
          </a:xfrm>
          <a:prstGeom prst="rect">
            <a:avLst/>
          </a:prstGeom>
          <a:noFill/>
          <a:ln/>
        </p:spPr>
        <p:txBody>
          <a:bodyPr wrap="square" rtlCol="0" anchor="ctr"/>
          <a:lstStyle/>
          <a:p>
            <a:pPr algn="ctr" indent="0" marL="0">
              <a:buNone/>
            </a:pPr>
            <a:r>
              <a:rPr lang="en-US" sz="2600" b="1" dirty="0">
                <a:solidFill>
                  <a:srgbClr val="C0392B"/>
                </a:solidFill>
                <a:latin typeface="Calibri" pitchFamily="34" charset="0"/>
                <a:ea typeface="Calibri" pitchFamily="34" charset="-122"/>
                <a:cs typeface="Calibri" pitchFamily="34" charset="-120"/>
              </a:rPr>
              <a:t>64.59%</a:t>
            </a:r>
            <a:endParaRPr lang="en-US" sz="2600" dirty="0"/>
          </a:p>
        </p:txBody>
      </p:sp>
      <p:sp>
        <p:nvSpPr>
          <p:cNvPr id="15" name="Text 13"/>
          <p:cNvSpPr/>
          <p:nvPr/>
        </p:nvSpPr>
        <p:spPr>
          <a:xfrm>
            <a:off x="3319272" y="2070202"/>
            <a:ext cx="2505456" cy="228600"/>
          </a:xfrm>
          <a:prstGeom prst="rect">
            <a:avLst/>
          </a:prstGeom>
          <a:noFill/>
          <a:ln/>
        </p:spPr>
        <p:txBody>
          <a:bodyPr wrap="square" rtlCol="0" anchor="ctr"/>
          <a:lstStyle/>
          <a:p>
            <a:pPr algn="ctr" indent="0" marL="0">
              <a:buNone/>
            </a:pPr>
            <a:r>
              <a:rPr lang="en-US" sz="850" b="1" spc="100" kern="0" dirty="0">
                <a:solidFill>
                  <a:srgbClr val="0A1628"/>
                </a:solidFill>
                <a:latin typeface="Calibri" pitchFamily="34" charset="0"/>
                <a:ea typeface="Calibri" pitchFamily="34" charset="-122"/>
                <a:cs typeface="Calibri" pitchFamily="34" charset="-120"/>
              </a:rPr>
              <a:t>DETRACTOR RATE</a:t>
            </a:r>
            <a:endParaRPr lang="en-US" sz="850" dirty="0"/>
          </a:p>
        </p:txBody>
      </p:sp>
      <p:sp>
        <p:nvSpPr>
          <p:cNvPr id="16" name="Text 14"/>
          <p:cNvSpPr/>
          <p:nvPr/>
        </p:nvSpPr>
        <p:spPr>
          <a:xfrm>
            <a:off x="3319272" y="2406701"/>
            <a:ext cx="2505456" cy="201168"/>
          </a:xfrm>
          <a:prstGeom prst="rect">
            <a:avLst/>
          </a:prstGeom>
          <a:noFill/>
          <a:ln/>
        </p:spPr>
        <p:txBody>
          <a:bodyPr wrap="square" rtlCol="0" anchor="ctr"/>
          <a:lstStyle/>
          <a:p>
            <a:pPr algn="ctr" indent="0" marL="0">
              <a:buNone/>
            </a:pPr>
            <a:r>
              <a:rPr lang="en-US" sz="750" dirty="0">
                <a:solidFill>
                  <a:srgbClr val="5A6A85"/>
                </a:solidFill>
                <a:latin typeface="Calibri" pitchFamily="34" charset="0"/>
                <a:ea typeface="Calibri" pitchFamily="34" charset="-122"/>
                <a:cs typeface="Calibri" pitchFamily="34" charset="-120"/>
              </a:rPr>
              <a:t>47,528 of 73,586 customers</a:t>
            </a:r>
            <a:endParaRPr lang="en-US" sz="750" dirty="0"/>
          </a:p>
        </p:txBody>
      </p:sp>
      <p:sp>
        <p:nvSpPr>
          <p:cNvPr id="17" name="Shape 15"/>
          <p:cNvSpPr/>
          <p:nvPr/>
        </p:nvSpPr>
        <p:spPr>
          <a:xfrm>
            <a:off x="6126480" y="1280160"/>
            <a:ext cx="2651760" cy="1463040"/>
          </a:xfrm>
          <a:prstGeom prst="rect">
            <a:avLst/>
          </a:prstGeom>
          <a:solidFill>
            <a:srgbClr val="FEF2F2"/>
          </a:solidFill>
          <a:ln w="12700">
            <a:solidFill>
              <a:srgbClr val="C0392B"/>
            </a:solidFill>
            <a:prstDash val="solid"/>
          </a:ln>
          <a:effectLst>
            <a:outerShdw sx="100000" sy="100000" kx="0" ky="0" algn="bl" rotWithShape="0" blurRad="101600" dist="38100" dir="8100000">
              <a:srgbClr val="000000">
                <a:alpha val="12000"/>
              </a:srgbClr>
            </a:outerShdw>
          </a:effectLst>
        </p:spPr>
      </p:sp>
      <p:sp>
        <p:nvSpPr>
          <p:cNvPr id="18" name="Shape 16"/>
          <p:cNvSpPr/>
          <p:nvPr/>
        </p:nvSpPr>
        <p:spPr>
          <a:xfrm>
            <a:off x="6126480" y="1280160"/>
            <a:ext cx="2651760" cy="45720"/>
          </a:xfrm>
          <a:prstGeom prst="rect">
            <a:avLst/>
          </a:prstGeom>
          <a:solidFill>
            <a:srgbClr val="C0392B"/>
          </a:solidFill>
          <a:ln w="12700">
            <a:solidFill>
              <a:srgbClr val="C0392B"/>
            </a:solidFill>
            <a:prstDash val="solid"/>
          </a:ln>
        </p:spPr>
      </p:sp>
      <p:sp>
        <p:nvSpPr>
          <p:cNvPr id="19" name="Text 17"/>
          <p:cNvSpPr/>
          <p:nvPr/>
        </p:nvSpPr>
        <p:spPr>
          <a:xfrm>
            <a:off x="6199632" y="1344168"/>
            <a:ext cx="2505456" cy="702259"/>
          </a:xfrm>
          <a:prstGeom prst="rect">
            <a:avLst/>
          </a:prstGeom>
          <a:noFill/>
          <a:ln/>
        </p:spPr>
        <p:txBody>
          <a:bodyPr wrap="square" rtlCol="0" anchor="ctr"/>
          <a:lstStyle/>
          <a:p>
            <a:pPr algn="ctr" indent="0" marL="0">
              <a:buNone/>
            </a:pPr>
            <a:r>
              <a:rPr lang="en-US" sz="2600" b="1" dirty="0">
                <a:solidFill>
                  <a:srgbClr val="C0392B"/>
                </a:solidFill>
                <a:latin typeface="Calibri" pitchFamily="34" charset="0"/>
                <a:ea typeface="Calibri" pitchFamily="34" charset="-122"/>
                <a:cs typeface="Calibri" pitchFamily="34" charset="-120"/>
              </a:rPr>
              <a:t>13,383</a:t>
            </a:r>
            <a:endParaRPr lang="en-US" sz="2600" dirty="0"/>
          </a:p>
        </p:txBody>
      </p:sp>
      <p:sp>
        <p:nvSpPr>
          <p:cNvPr id="20" name="Text 18"/>
          <p:cNvSpPr/>
          <p:nvPr/>
        </p:nvSpPr>
        <p:spPr>
          <a:xfrm>
            <a:off x="6199632" y="2070202"/>
            <a:ext cx="2505456" cy="228600"/>
          </a:xfrm>
          <a:prstGeom prst="rect">
            <a:avLst/>
          </a:prstGeom>
          <a:noFill/>
          <a:ln/>
        </p:spPr>
        <p:txBody>
          <a:bodyPr wrap="square" rtlCol="0" anchor="ctr"/>
          <a:lstStyle/>
          <a:p>
            <a:pPr algn="ctr" indent="0" marL="0">
              <a:buNone/>
            </a:pPr>
            <a:r>
              <a:rPr lang="en-US" sz="850" b="1" spc="100" kern="0" dirty="0">
                <a:solidFill>
                  <a:srgbClr val="0A1628"/>
                </a:solidFill>
                <a:latin typeface="Calibri" pitchFamily="34" charset="0"/>
                <a:ea typeface="Calibri" pitchFamily="34" charset="-122"/>
                <a:cs typeface="Calibri" pitchFamily="34" charset="-120"/>
              </a:rPr>
              <a:t>CRISIS EVENTS</a:t>
            </a:r>
            <a:endParaRPr lang="en-US" sz="850" dirty="0"/>
          </a:p>
        </p:txBody>
      </p:sp>
      <p:sp>
        <p:nvSpPr>
          <p:cNvPr id="21" name="Text 19"/>
          <p:cNvSpPr/>
          <p:nvPr/>
        </p:nvSpPr>
        <p:spPr>
          <a:xfrm>
            <a:off x="6199632" y="2406701"/>
            <a:ext cx="2505456" cy="201168"/>
          </a:xfrm>
          <a:prstGeom prst="rect">
            <a:avLst/>
          </a:prstGeom>
          <a:noFill/>
          <a:ln/>
        </p:spPr>
        <p:txBody>
          <a:bodyPr wrap="square" rtlCol="0" anchor="ctr"/>
          <a:lstStyle/>
          <a:p>
            <a:pPr algn="ctr" indent="0" marL="0">
              <a:buNone/>
            </a:pPr>
            <a:r>
              <a:rPr lang="en-US" sz="750" dirty="0">
                <a:solidFill>
                  <a:srgbClr val="5A6A85"/>
                </a:solidFill>
                <a:latin typeface="Calibri" pitchFamily="34" charset="0"/>
                <a:ea typeface="Calibri" pitchFamily="34" charset="-122"/>
                <a:cs typeface="Calibri" pitchFamily="34" charset="-120"/>
              </a:rPr>
              <a:t>18.19% of all interactions</a:t>
            </a:r>
            <a:endParaRPr lang="en-US" sz="750" dirty="0"/>
          </a:p>
        </p:txBody>
      </p:sp>
      <p:sp>
        <p:nvSpPr>
          <p:cNvPr id="22" name="Shape 20"/>
          <p:cNvSpPr/>
          <p:nvPr/>
        </p:nvSpPr>
        <p:spPr>
          <a:xfrm>
            <a:off x="9006840" y="1280160"/>
            <a:ext cx="2651760" cy="1463040"/>
          </a:xfrm>
          <a:prstGeom prst="rect">
            <a:avLst/>
          </a:prstGeom>
          <a:solidFill>
            <a:srgbClr val="FEF2F2"/>
          </a:solidFill>
          <a:ln w="12700">
            <a:solidFill>
              <a:srgbClr val="C0392B"/>
            </a:solidFill>
            <a:prstDash val="solid"/>
          </a:ln>
          <a:effectLst>
            <a:outerShdw sx="100000" sy="100000" kx="0" ky="0" algn="bl" rotWithShape="0" blurRad="101600" dist="38100" dir="8100000">
              <a:srgbClr val="000000">
                <a:alpha val="12000"/>
              </a:srgbClr>
            </a:outerShdw>
          </a:effectLst>
        </p:spPr>
      </p:sp>
      <p:sp>
        <p:nvSpPr>
          <p:cNvPr id="23" name="Shape 21"/>
          <p:cNvSpPr/>
          <p:nvPr/>
        </p:nvSpPr>
        <p:spPr>
          <a:xfrm>
            <a:off x="9006840" y="1280160"/>
            <a:ext cx="2651760" cy="45720"/>
          </a:xfrm>
          <a:prstGeom prst="rect">
            <a:avLst/>
          </a:prstGeom>
          <a:solidFill>
            <a:srgbClr val="C0392B"/>
          </a:solidFill>
          <a:ln w="12700">
            <a:solidFill>
              <a:srgbClr val="C0392B"/>
            </a:solidFill>
            <a:prstDash val="solid"/>
          </a:ln>
        </p:spPr>
      </p:sp>
      <p:sp>
        <p:nvSpPr>
          <p:cNvPr id="24" name="Text 22"/>
          <p:cNvSpPr/>
          <p:nvPr/>
        </p:nvSpPr>
        <p:spPr>
          <a:xfrm>
            <a:off x="9079992" y="1344168"/>
            <a:ext cx="2505456" cy="702259"/>
          </a:xfrm>
          <a:prstGeom prst="rect">
            <a:avLst/>
          </a:prstGeom>
          <a:noFill/>
          <a:ln/>
        </p:spPr>
        <p:txBody>
          <a:bodyPr wrap="square" rtlCol="0" anchor="ctr"/>
          <a:lstStyle/>
          <a:p>
            <a:pPr algn="ctr" indent="0" marL="0">
              <a:buNone/>
            </a:pPr>
            <a:r>
              <a:rPr lang="en-US" sz="2600" b="1" dirty="0">
                <a:solidFill>
                  <a:srgbClr val="C0392B"/>
                </a:solidFill>
                <a:latin typeface="Calibri" pitchFamily="34" charset="0"/>
                <a:ea typeface="Calibri" pitchFamily="34" charset="-122"/>
                <a:cs typeface="Calibri" pitchFamily="34" charset="-120"/>
              </a:rPr>
              <a:t>52.41%</a:t>
            </a:r>
            <a:endParaRPr lang="en-US" sz="2600" dirty="0"/>
          </a:p>
        </p:txBody>
      </p:sp>
      <p:sp>
        <p:nvSpPr>
          <p:cNvPr id="25" name="Text 23"/>
          <p:cNvSpPr/>
          <p:nvPr/>
        </p:nvSpPr>
        <p:spPr>
          <a:xfrm>
            <a:off x="9079992" y="2070202"/>
            <a:ext cx="2505456" cy="228600"/>
          </a:xfrm>
          <a:prstGeom prst="rect">
            <a:avLst/>
          </a:prstGeom>
          <a:noFill/>
          <a:ln/>
        </p:spPr>
        <p:txBody>
          <a:bodyPr wrap="square" rtlCol="0" anchor="ctr"/>
          <a:lstStyle/>
          <a:p>
            <a:pPr algn="ctr" indent="0" marL="0">
              <a:buNone/>
            </a:pPr>
            <a:r>
              <a:rPr lang="en-US" sz="850" b="1" spc="100" kern="0" dirty="0">
                <a:solidFill>
                  <a:srgbClr val="0A1628"/>
                </a:solidFill>
                <a:latin typeface="Calibri" pitchFamily="34" charset="0"/>
                <a:ea typeface="Calibri" pitchFamily="34" charset="-122"/>
                <a:cs typeface="Calibri" pitchFamily="34" charset="-120"/>
              </a:rPr>
              <a:t>UNRESOLVED CRISES</a:t>
            </a:r>
            <a:endParaRPr lang="en-US" sz="850" dirty="0"/>
          </a:p>
        </p:txBody>
      </p:sp>
      <p:sp>
        <p:nvSpPr>
          <p:cNvPr id="26" name="Text 24"/>
          <p:cNvSpPr/>
          <p:nvPr/>
        </p:nvSpPr>
        <p:spPr>
          <a:xfrm>
            <a:off x="9079992" y="2406701"/>
            <a:ext cx="2505456" cy="201168"/>
          </a:xfrm>
          <a:prstGeom prst="rect">
            <a:avLst/>
          </a:prstGeom>
          <a:noFill/>
          <a:ln/>
        </p:spPr>
        <p:txBody>
          <a:bodyPr wrap="square" rtlCol="0" anchor="ctr"/>
          <a:lstStyle/>
          <a:p>
            <a:pPr algn="ctr" indent="0" marL="0">
              <a:buNone/>
            </a:pPr>
            <a:r>
              <a:rPr lang="en-US" sz="750" dirty="0">
                <a:solidFill>
                  <a:srgbClr val="5A6A85"/>
                </a:solidFill>
                <a:latin typeface="Calibri" pitchFamily="34" charset="0"/>
                <a:ea typeface="Calibri" pitchFamily="34" charset="-122"/>
                <a:cs typeface="Calibri" pitchFamily="34" charset="-120"/>
              </a:rPr>
              <a:t>7,014 open — no resolution</a:t>
            </a:r>
            <a:endParaRPr lang="en-US" sz="750" dirty="0"/>
          </a:p>
        </p:txBody>
      </p:sp>
      <p:sp>
        <p:nvSpPr>
          <p:cNvPr id="27" name="Text 25"/>
          <p:cNvSpPr/>
          <p:nvPr/>
        </p:nvSpPr>
        <p:spPr>
          <a:xfrm>
            <a:off x="365760" y="2926080"/>
            <a:ext cx="8229600" cy="274320"/>
          </a:xfrm>
          <a:prstGeom prst="rect">
            <a:avLst/>
          </a:prstGeom>
          <a:noFill/>
          <a:ln/>
        </p:spPr>
        <p:txBody>
          <a:bodyPr wrap="square" rtlCol="0" anchor="ctr"/>
          <a:lstStyle/>
          <a:p>
            <a:pPr indent="0" marL="0">
              <a:buNone/>
            </a:pPr>
            <a:r>
              <a:rPr lang="en-US" sz="900" b="1" spc="100" kern="0" dirty="0">
                <a:solidFill>
                  <a:srgbClr val="C8A84B"/>
                </a:solidFill>
                <a:latin typeface="Calibri" pitchFamily="34" charset="0"/>
                <a:ea typeface="Calibri" pitchFamily="34" charset="-122"/>
                <a:cs typeface="Calibri" pitchFamily="34" charset="-120"/>
              </a:rPr>
              <a:t>NPS BY CUSTOMER SEGMENT — All negative. All getting worse as loyalty deepens.</a:t>
            </a:r>
            <a:endParaRPr lang="en-US" sz="900" dirty="0"/>
          </a:p>
        </p:txBody>
      </p:sp>
      <p:sp>
        <p:nvSpPr>
          <p:cNvPr id="28" name="Text 26"/>
          <p:cNvSpPr/>
          <p:nvPr/>
        </p:nvSpPr>
        <p:spPr>
          <a:xfrm>
            <a:off x="365760" y="3291840"/>
            <a:ext cx="2560320" cy="320040"/>
          </a:xfrm>
          <a:prstGeom prst="rect">
            <a:avLst/>
          </a:prstGeom>
          <a:noFill/>
          <a:ln/>
        </p:spPr>
        <p:txBody>
          <a:bodyPr wrap="square" rtlCol="0" anchor="ctr"/>
          <a:lstStyle/>
          <a:p>
            <a:pPr indent="0" marL="0">
              <a:buNone/>
            </a:pPr>
            <a:r>
              <a:rPr lang="en-US" sz="1000" dirty="0">
                <a:solidFill>
                  <a:srgbClr val="5A6A85"/>
                </a:solidFill>
                <a:latin typeface="Calibri" pitchFamily="34" charset="0"/>
                <a:ea typeface="Calibri" pitchFamily="34" charset="-122"/>
                <a:cs typeface="Calibri" pitchFamily="34" charset="-120"/>
              </a:rPr>
              <a:t>New Customers</a:t>
            </a:r>
            <a:endParaRPr lang="en-US" sz="1000" dirty="0"/>
          </a:p>
        </p:txBody>
      </p:sp>
      <p:sp>
        <p:nvSpPr>
          <p:cNvPr id="29" name="Shape 27"/>
          <p:cNvSpPr/>
          <p:nvPr/>
        </p:nvSpPr>
        <p:spPr>
          <a:xfrm>
            <a:off x="3017520" y="3337560"/>
            <a:ext cx="4636008" cy="228600"/>
          </a:xfrm>
          <a:prstGeom prst="rect">
            <a:avLst/>
          </a:prstGeom>
          <a:solidFill>
            <a:srgbClr val="C0392B"/>
          </a:solidFill>
          <a:ln w="12700">
            <a:solidFill>
              <a:srgbClr val="C0392B"/>
            </a:solidFill>
            <a:prstDash val="solid"/>
          </a:ln>
        </p:spPr>
      </p:sp>
      <p:sp>
        <p:nvSpPr>
          <p:cNvPr id="30" name="Text 28"/>
          <p:cNvSpPr/>
          <p:nvPr/>
        </p:nvSpPr>
        <p:spPr>
          <a:xfrm>
            <a:off x="3108960" y="3337560"/>
            <a:ext cx="4453128" cy="228600"/>
          </a:xfrm>
          <a:prstGeom prst="rect">
            <a:avLst/>
          </a:prstGeom>
          <a:noFill/>
          <a:ln/>
        </p:spPr>
        <p:txBody>
          <a:bodyPr wrap="square" rtlCol="0" anchor="ctr"/>
          <a:lstStyle/>
          <a:p>
            <a:pPr algn="r" indent="0" marL="0">
              <a:buNone/>
            </a:pPr>
            <a:r>
              <a:rPr lang="en-US" sz="1000" b="1" dirty="0">
                <a:solidFill>
                  <a:srgbClr val="FFFFFF"/>
                </a:solidFill>
                <a:latin typeface="Calibri" pitchFamily="34" charset="0"/>
                <a:ea typeface="Calibri" pitchFamily="34" charset="-122"/>
                <a:cs typeface="Calibri" pitchFamily="34" charset="-120"/>
              </a:rPr>
              <a:t>-42.7</a:t>
            </a:r>
            <a:endParaRPr lang="en-US" sz="1000" dirty="0"/>
          </a:p>
        </p:txBody>
      </p:sp>
      <p:sp>
        <p:nvSpPr>
          <p:cNvPr id="31" name="Text 29"/>
          <p:cNvSpPr/>
          <p:nvPr/>
        </p:nvSpPr>
        <p:spPr>
          <a:xfrm>
            <a:off x="365760" y="3950208"/>
            <a:ext cx="2560320" cy="320040"/>
          </a:xfrm>
          <a:prstGeom prst="rect">
            <a:avLst/>
          </a:prstGeom>
          <a:noFill/>
          <a:ln/>
        </p:spPr>
        <p:txBody>
          <a:bodyPr wrap="square" rtlCol="0" anchor="ctr"/>
          <a:lstStyle/>
          <a:p>
            <a:pPr indent="0" marL="0">
              <a:buNone/>
            </a:pPr>
            <a:r>
              <a:rPr lang="en-US" sz="1000" dirty="0">
                <a:solidFill>
                  <a:srgbClr val="5A6A85"/>
                </a:solidFill>
                <a:latin typeface="Calibri" pitchFamily="34" charset="0"/>
                <a:ea typeface="Calibri" pitchFamily="34" charset="-122"/>
                <a:cs typeface="Calibri" pitchFamily="34" charset="-120"/>
              </a:rPr>
              <a:t>Returning Customers</a:t>
            </a:r>
            <a:endParaRPr lang="en-US" sz="1000" dirty="0"/>
          </a:p>
        </p:txBody>
      </p:sp>
      <p:sp>
        <p:nvSpPr>
          <p:cNvPr id="32" name="Shape 30"/>
          <p:cNvSpPr/>
          <p:nvPr/>
        </p:nvSpPr>
        <p:spPr>
          <a:xfrm>
            <a:off x="3017520" y="3995928"/>
            <a:ext cx="5230368" cy="228600"/>
          </a:xfrm>
          <a:prstGeom prst="rect">
            <a:avLst/>
          </a:prstGeom>
          <a:solidFill>
            <a:srgbClr val="C0392B"/>
          </a:solidFill>
          <a:ln w="12700">
            <a:solidFill>
              <a:srgbClr val="C0392B"/>
            </a:solidFill>
            <a:prstDash val="solid"/>
          </a:ln>
        </p:spPr>
      </p:sp>
      <p:sp>
        <p:nvSpPr>
          <p:cNvPr id="33" name="Text 31"/>
          <p:cNvSpPr/>
          <p:nvPr/>
        </p:nvSpPr>
        <p:spPr>
          <a:xfrm>
            <a:off x="3108960" y="3995928"/>
            <a:ext cx="5047488" cy="228600"/>
          </a:xfrm>
          <a:prstGeom prst="rect">
            <a:avLst/>
          </a:prstGeom>
          <a:noFill/>
          <a:ln/>
        </p:spPr>
        <p:txBody>
          <a:bodyPr wrap="square" rtlCol="0" anchor="ctr"/>
          <a:lstStyle/>
          <a:p>
            <a:pPr algn="r" indent="0" marL="0">
              <a:buNone/>
            </a:pPr>
            <a:r>
              <a:rPr lang="en-US" sz="1000" b="1" dirty="0">
                <a:solidFill>
                  <a:srgbClr val="FFFFFF"/>
                </a:solidFill>
                <a:latin typeface="Calibri" pitchFamily="34" charset="0"/>
                <a:ea typeface="Calibri" pitchFamily="34" charset="-122"/>
                <a:cs typeface="Calibri" pitchFamily="34" charset="-120"/>
              </a:rPr>
              <a:t>-46.2</a:t>
            </a:r>
            <a:endParaRPr lang="en-US" sz="1000" dirty="0"/>
          </a:p>
        </p:txBody>
      </p:sp>
      <p:sp>
        <p:nvSpPr>
          <p:cNvPr id="34" name="Text 32"/>
          <p:cNvSpPr/>
          <p:nvPr/>
        </p:nvSpPr>
        <p:spPr>
          <a:xfrm>
            <a:off x="365760" y="4608576"/>
            <a:ext cx="2560320" cy="320040"/>
          </a:xfrm>
          <a:prstGeom prst="rect">
            <a:avLst/>
          </a:prstGeom>
          <a:noFill/>
          <a:ln/>
        </p:spPr>
        <p:txBody>
          <a:bodyPr wrap="square" rtlCol="0" anchor="ctr"/>
          <a:lstStyle/>
          <a:p>
            <a:pPr indent="0" marL="0">
              <a:buNone/>
            </a:pPr>
            <a:r>
              <a:rPr lang="en-US" sz="1000" dirty="0">
                <a:solidFill>
                  <a:srgbClr val="5A6A85"/>
                </a:solidFill>
                <a:latin typeface="Calibri" pitchFamily="34" charset="0"/>
                <a:ea typeface="Calibri" pitchFamily="34" charset="-122"/>
                <a:cs typeface="Calibri" pitchFamily="34" charset="-120"/>
              </a:rPr>
              <a:t>VIP Customers</a:t>
            </a:r>
            <a:endParaRPr lang="en-US" sz="1000" dirty="0"/>
          </a:p>
        </p:txBody>
      </p:sp>
      <p:sp>
        <p:nvSpPr>
          <p:cNvPr id="35" name="Shape 33"/>
          <p:cNvSpPr/>
          <p:nvPr/>
        </p:nvSpPr>
        <p:spPr>
          <a:xfrm>
            <a:off x="3017520" y="4654296"/>
            <a:ext cx="5468112" cy="228600"/>
          </a:xfrm>
          <a:prstGeom prst="rect">
            <a:avLst/>
          </a:prstGeom>
          <a:solidFill>
            <a:srgbClr val="C0392B"/>
          </a:solidFill>
          <a:ln w="12700">
            <a:solidFill>
              <a:srgbClr val="C0392B"/>
            </a:solidFill>
            <a:prstDash val="solid"/>
          </a:ln>
        </p:spPr>
      </p:sp>
      <p:sp>
        <p:nvSpPr>
          <p:cNvPr id="36" name="Text 34"/>
          <p:cNvSpPr/>
          <p:nvPr/>
        </p:nvSpPr>
        <p:spPr>
          <a:xfrm>
            <a:off x="3108960" y="4654296"/>
            <a:ext cx="5285232" cy="228600"/>
          </a:xfrm>
          <a:prstGeom prst="rect">
            <a:avLst/>
          </a:prstGeom>
          <a:noFill/>
          <a:ln/>
        </p:spPr>
        <p:txBody>
          <a:bodyPr wrap="square" rtlCol="0" anchor="ctr"/>
          <a:lstStyle/>
          <a:p>
            <a:pPr algn="r" indent="0" marL="0">
              <a:buNone/>
            </a:pPr>
            <a:r>
              <a:rPr lang="en-US" sz="1000" b="1" dirty="0">
                <a:solidFill>
                  <a:srgbClr val="FFFFFF"/>
                </a:solidFill>
                <a:latin typeface="Calibri" pitchFamily="34" charset="0"/>
                <a:ea typeface="Calibri" pitchFamily="34" charset="-122"/>
                <a:cs typeface="Calibri" pitchFamily="34" charset="-120"/>
              </a:rPr>
              <a:t>-47.0</a:t>
            </a:r>
            <a:endParaRPr lang="en-US" sz="1000" dirty="0"/>
          </a:p>
        </p:txBody>
      </p:sp>
      <p:sp>
        <p:nvSpPr>
          <p:cNvPr id="37" name="Shape 35"/>
          <p:cNvSpPr/>
          <p:nvPr/>
        </p:nvSpPr>
        <p:spPr>
          <a:xfrm>
            <a:off x="365760" y="5532120"/>
            <a:ext cx="11430000" cy="731520"/>
          </a:xfrm>
          <a:prstGeom prst="rect">
            <a:avLst/>
          </a:prstGeom>
          <a:solidFill>
            <a:srgbClr val="FEF2F2"/>
          </a:solidFill>
          <a:ln w="12700">
            <a:solidFill>
              <a:srgbClr val="D0D8E8"/>
            </a:solidFill>
            <a:prstDash val="solid"/>
          </a:ln>
        </p:spPr>
      </p:sp>
      <p:sp>
        <p:nvSpPr>
          <p:cNvPr id="38" name="Shape 36"/>
          <p:cNvSpPr/>
          <p:nvPr/>
        </p:nvSpPr>
        <p:spPr>
          <a:xfrm>
            <a:off x="365760" y="5532120"/>
            <a:ext cx="54864" cy="731520"/>
          </a:xfrm>
          <a:prstGeom prst="rect">
            <a:avLst/>
          </a:prstGeom>
          <a:solidFill>
            <a:srgbClr val="C0392B"/>
          </a:solidFill>
          <a:ln w="12700">
            <a:solidFill>
              <a:srgbClr val="C0392B"/>
            </a:solidFill>
            <a:prstDash val="solid"/>
          </a:ln>
        </p:spPr>
      </p:sp>
      <p:sp>
        <p:nvSpPr>
          <p:cNvPr id="39" name="Text 37"/>
          <p:cNvSpPr/>
          <p:nvPr/>
        </p:nvSpPr>
        <p:spPr>
          <a:xfrm>
            <a:off x="502920" y="5596128"/>
            <a:ext cx="11201400" cy="603504"/>
          </a:xfrm>
          <a:prstGeom prst="rect">
            <a:avLst/>
          </a:prstGeom>
          <a:noFill/>
          <a:ln/>
        </p:spPr>
        <p:txBody>
          <a:bodyPr wrap="square" rtlCol="0" anchor="ctr"/>
          <a:lstStyle/>
          <a:p>
            <a:pPr indent="0" marL="0">
              <a:buNone/>
            </a:pPr>
            <a:r>
              <a:rPr lang="en-US" sz="1000" i="1" dirty="0">
                <a:solidFill>
                  <a:srgbClr val="2A2820"/>
                </a:solidFill>
                <a:latin typeface="Calibri" pitchFamily="34" charset="0"/>
                <a:ea typeface="Calibri" pitchFamily="34" charset="-122"/>
                <a:cs typeface="Calibri" pitchFamily="34" charset="-120"/>
              </a:rPr>
              <a:t>The longer someone stays with AfriTech, the angrier they get. This is not a customer service problem. It is a relationship model running in reverse.</a:t>
            </a:r>
            <a:endParaRPr lang="en-US" sz="1000" dirty="0"/>
          </a:p>
        </p:txBody>
      </p:sp>
      <p:sp>
        <p:nvSpPr>
          <p:cNvPr id="40" name="Shape 38"/>
          <p:cNvSpPr/>
          <p:nvPr/>
        </p:nvSpPr>
        <p:spPr>
          <a:xfrm>
            <a:off x="0" y="6537960"/>
            <a:ext cx="12161520" cy="320040"/>
          </a:xfrm>
          <a:prstGeom prst="rect">
            <a:avLst/>
          </a:prstGeom>
          <a:solidFill>
            <a:srgbClr val="0A1628"/>
          </a:solidFill>
          <a:ln w="12700">
            <a:solidFill>
              <a:srgbClr val="0A1628"/>
            </a:solidFill>
            <a:prstDash val="solid"/>
          </a:ln>
        </p:spPr>
      </p:sp>
      <p:sp>
        <p:nvSpPr>
          <p:cNvPr id="41" name="Text 39"/>
          <p:cNvSpPr/>
          <p:nvPr/>
        </p:nvSpPr>
        <p:spPr>
          <a:xfrm>
            <a:off x="365760" y="6565392"/>
            <a:ext cx="9144000" cy="256032"/>
          </a:xfrm>
          <a:prstGeom prst="rect">
            <a:avLst/>
          </a:prstGeom>
          <a:noFill/>
          <a:ln/>
        </p:spPr>
        <p:txBody>
          <a:bodyPr wrap="square" rtlCol="0" anchor="ctr"/>
          <a:lstStyle/>
          <a:p>
            <a:pPr indent="0" marL="0">
              <a:buNone/>
            </a:pPr>
            <a:r>
              <a:rPr lang="en-US" sz="750" dirty="0">
                <a:solidFill>
                  <a:srgbClr val="8899BB"/>
                </a:solidFill>
                <a:latin typeface="Calibri" pitchFamily="34" charset="0"/>
                <a:ea typeface="Calibri" pitchFamily="34" charset="-122"/>
                <a:cs typeface="Calibri" pitchFamily="34" charset="-120"/>
              </a:rPr>
              <a:t>Samuel Ahinakwa  |  Finance &amp; Analytics Professional  |  BSc · MSc · ICAG Finalist  |  Confidential</a:t>
            </a:r>
            <a:endParaRPr lang="en-US" sz="750" dirty="0"/>
          </a:p>
        </p:txBody>
      </p:sp>
      <p:sp>
        <p:nvSpPr>
          <p:cNvPr id="42" name="Text 40"/>
          <p:cNvSpPr/>
          <p:nvPr/>
        </p:nvSpPr>
        <p:spPr>
          <a:xfrm>
            <a:off x="11338560" y="6565392"/>
            <a:ext cx="731520" cy="256032"/>
          </a:xfrm>
          <a:prstGeom prst="rect">
            <a:avLst/>
          </a:prstGeom>
          <a:noFill/>
          <a:ln/>
        </p:spPr>
        <p:txBody>
          <a:bodyPr wrap="square" rtlCol="0" anchor="ctr"/>
          <a:lstStyle/>
          <a:p>
            <a:pPr algn="r" indent="0" marL="0">
              <a:buNone/>
            </a:pPr>
            <a:r>
              <a:rPr lang="en-US" sz="800" dirty="0">
                <a:solidFill>
                  <a:srgbClr val="C8A84B"/>
                </a:solidFill>
                <a:latin typeface="Calibri" pitchFamily="34" charset="0"/>
                <a:ea typeface="Calibri" pitchFamily="34" charset="-122"/>
                <a:cs typeface="Calibri" pitchFamily="34" charset="-120"/>
              </a:rPr>
              <a:t>4 / 20</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1051560"/>
          </a:xfrm>
          <a:prstGeom prst="rect">
            <a:avLst/>
          </a:prstGeom>
          <a:solidFill>
            <a:srgbClr val="0A1628"/>
          </a:solidFill>
          <a:ln w="12700">
            <a:solidFill>
              <a:srgbClr val="0A1628"/>
            </a:solidFill>
            <a:prstDash val="solid"/>
          </a:ln>
        </p:spPr>
      </p:sp>
      <p:sp>
        <p:nvSpPr>
          <p:cNvPr id="3" name="Shape 1"/>
          <p:cNvSpPr/>
          <p:nvPr/>
        </p:nvSpPr>
        <p:spPr>
          <a:xfrm>
            <a:off x="0" y="1051560"/>
            <a:ext cx="12161520" cy="36576"/>
          </a:xfrm>
          <a:prstGeom prst="rect">
            <a:avLst/>
          </a:prstGeom>
          <a:solidFill>
            <a:srgbClr val="C8A84B"/>
          </a:solidFill>
          <a:ln w="12700">
            <a:solidFill>
              <a:srgbClr val="C8A84B"/>
            </a:solidFill>
            <a:prstDash val="solid"/>
          </a:ln>
        </p:spPr>
      </p:sp>
      <p:sp>
        <p:nvSpPr>
          <p:cNvPr id="4" name="Text 2"/>
          <p:cNvSpPr/>
          <p:nvPr/>
        </p:nvSpPr>
        <p:spPr>
          <a:xfrm>
            <a:off x="365760" y="64008"/>
            <a:ext cx="4572000" cy="228600"/>
          </a:xfrm>
          <a:prstGeom prst="rect">
            <a:avLst/>
          </a:prstGeom>
          <a:noFill/>
          <a:ln/>
        </p:spPr>
        <p:txBody>
          <a:bodyPr wrap="square" rtlCol="0" anchor="ctr"/>
          <a:lstStyle/>
          <a:p>
            <a:pPr indent="0" marL="0">
              <a:buNone/>
            </a:pPr>
            <a:r>
              <a:rPr lang="en-US" sz="800" b="1" spc="200" kern="0" dirty="0">
                <a:solidFill>
                  <a:srgbClr val="C8A84B"/>
                </a:solidFill>
                <a:latin typeface="Calibri" pitchFamily="34" charset="0"/>
                <a:ea typeface="Calibri" pitchFamily="34" charset="-122"/>
                <a:cs typeface="Calibri" pitchFamily="34" charset="-120"/>
              </a:rPr>
              <a:t>01 — BRAND HEALTH</a:t>
            </a:r>
            <a:endParaRPr lang="en-US" sz="800" dirty="0"/>
          </a:p>
        </p:txBody>
      </p:sp>
      <p:sp>
        <p:nvSpPr>
          <p:cNvPr id="5" name="Text 3"/>
          <p:cNvSpPr/>
          <p:nvPr/>
        </p:nvSpPr>
        <p:spPr>
          <a:xfrm>
            <a:off x="365760" y="256032"/>
            <a:ext cx="9601200" cy="566928"/>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The Pivot Finding — Recalls Did Not Cause This</a:t>
            </a:r>
            <a:endParaRPr lang="en-US" sz="2600" dirty="0"/>
          </a:p>
        </p:txBody>
      </p:sp>
      <p:sp>
        <p:nvSpPr>
          <p:cNvPr id="6" name="Text 4"/>
          <p:cNvSpPr/>
          <p:nvPr/>
        </p:nvSpPr>
        <p:spPr>
          <a:xfrm>
            <a:off x="365760" y="795528"/>
            <a:ext cx="10058400" cy="228600"/>
          </a:xfrm>
          <a:prstGeom prst="rect">
            <a:avLst/>
          </a:prstGeom>
          <a:noFill/>
          <a:ln/>
        </p:spPr>
        <p:txBody>
          <a:bodyPr wrap="square" rtlCol="0" anchor="ctr"/>
          <a:lstStyle/>
          <a:p>
            <a:pPr indent="0" marL="0">
              <a:buNone/>
            </a:pPr>
            <a:r>
              <a:rPr lang="en-US" sz="1050" i="1" dirty="0">
                <a:solidFill>
                  <a:srgbClr val="8899BB"/>
                </a:solidFill>
                <a:latin typeface="Calibri" pitchFamily="34" charset="0"/>
                <a:ea typeface="Calibri" pitchFamily="34" charset="-122"/>
                <a:cs typeface="Calibri" pitchFamily="34" charset="-120"/>
              </a:rPr>
              <a:t>What everyone assumed vs what the data showed</a:t>
            </a:r>
            <a:endParaRPr lang="en-US" sz="1050" dirty="0"/>
          </a:p>
        </p:txBody>
      </p:sp>
      <p:sp>
        <p:nvSpPr>
          <p:cNvPr id="7" name="Shape 5"/>
          <p:cNvSpPr/>
          <p:nvPr/>
        </p:nvSpPr>
        <p:spPr>
          <a:xfrm>
            <a:off x="365760" y="1325880"/>
            <a:ext cx="5303520" cy="4389120"/>
          </a:xfrm>
          <a:prstGeom prst="rect">
            <a:avLst/>
          </a:prstGeom>
          <a:solidFill>
            <a:srgbClr val="F0F4F8"/>
          </a:solidFill>
          <a:ln w="12700">
            <a:solidFill>
              <a:srgbClr val="D0D8E8"/>
            </a:solidFill>
            <a:prstDash val="solid"/>
          </a:ln>
        </p:spPr>
      </p:sp>
      <p:sp>
        <p:nvSpPr>
          <p:cNvPr id="8" name="Text 6"/>
          <p:cNvSpPr/>
          <p:nvPr/>
        </p:nvSpPr>
        <p:spPr>
          <a:xfrm>
            <a:off x="502920" y="1463040"/>
            <a:ext cx="5029200" cy="274320"/>
          </a:xfrm>
          <a:prstGeom prst="rect">
            <a:avLst/>
          </a:prstGeom>
          <a:noFill/>
          <a:ln/>
        </p:spPr>
        <p:txBody>
          <a:bodyPr wrap="square" rtlCol="0" anchor="ctr"/>
          <a:lstStyle/>
          <a:p>
            <a:pPr indent="0" marL="0">
              <a:buNone/>
            </a:pPr>
            <a:r>
              <a:rPr lang="en-US" sz="900" b="1" spc="200" kern="0" dirty="0">
                <a:solidFill>
                  <a:srgbClr val="5A6A85"/>
                </a:solidFill>
                <a:latin typeface="Calibri" pitchFamily="34" charset="0"/>
                <a:ea typeface="Calibri" pitchFamily="34" charset="-122"/>
                <a:cs typeface="Calibri" pitchFamily="34" charset="-120"/>
              </a:rPr>
              <a:t>WHAT EVERYONE ASSUMED</a:t>
            </a:r>
            <a:endParaRPr lang="en-US" sz="900" dirty="0"/>
          </a:p>
        </p:txBody>
      </p:sp>
      <p:sp>
        <p:nvSpPr>
          <p:cNvPr id="9" name="Text 7"/>
          <p:cNvSpPr/>
          <p:nvPr/>
        </p:nvSpPr>
        <p:spPr>
          <a:xfrm>
            <a:off x="502920" y="1874520"/>
            <a:ext cx="4937760" cy="502920"/>
          </a:xfrm>
          <a:prstGeom prst="rect">
            <a:avLst/>
          </a:prstGeom>
          <a:noFill/>
          <a:ln/>
        </p:spPr>
        <p:txBody>
          <a:bodyPr wrap="square" rtlCol="0" anchor="ctr"/>
          <a:lstStyle/>
          <a:p>
            <a:pPr indent="0" marL="0">
              <a:buNone/>
            </a:pPr>
            <a:r>
              <a:rPr lang="en-US" sz="1800" b="1" dirty="0">
                <a:solidFill>
                  <a:srgbClr val="0A1628"/>
                </a:solidFill>
                <a:latin typeface="Calibri" pitchFamily="34" charset="0"/>
                <a:ea typeface="Calibri" pitchFamily="34" charset="-122"/>
                <a:cs typeface="Calibri" pitchFamily="34" charset="-120"/>
              </a:rPr>
              <a:t>Product recalls are driving the brand damage.</a:t>
            </a:r>
            <a:endParaRPr lang="en-US" sz="1800" dirty="0"/>
          </a:p>
        </p:txBody>
      </p:sp>
      <p:sp>
        <p:nvSpPr>
          <p:cNvPr id="10" name="Text 8"/>
          <p:cNvSpPr/>
          <p:nvPr/>
        </p:nvSpPr>
        <p:spPr>
          <a:xfrm>
            <a:off x="502920" y="2514600"/>
            <a:ext cx="4937760" cy="1097280"/>
          </a:xfrm>
          <a:prstGeom prst="rect">
            <a:avLst/>
          </a:prstGeom>
          <a:noFill/>
          <a:ln/>
        </p:spPr>
        <p:txBody>
          <a:bodyPr wrap="square" rtlCol="0" anchor="ctr"/>
          <a:lstStyle/>
          <a:p>
            <a:pPr indent="0" marL="0">
              <a:buNone/>
            </a:pPr>
            <a:r>
              <a:rPr lang="en-US" sz="1100" i="1" dirty="0">
                <a:solidFill>
                  <a:srgbClr val="444444"/>
                </a:solidFill>
                <a:latin typeface="Calibri" pitchFamily="34" charset="0"/>
                <a:ea typeface="Calibri" pitchFamily="34" charset="-122"/>
                <a:cs typeface="Calibri" pitchFamily="34" charset="-120"/>
              </a:rPr>
              <a:t>50.9% of products recalled. Media coverage. Customer panic. The obvious fix is improve product quality and manage recall communications better.</a:t>
            </a:r>
            <a:endParaRPr lang="en-US" sz="1100" dirty="0"/>
          </a:p>
        </p:txBody>
      </p:sp>
      <p:sp>
        <p:nvSpPr>
          <p:cNvPr id="11" name="Text 9"/>
          <p:cNvSpPr/>
          <p:nvPr/>
        </p:nvSpPr>
        <p:spPr>
          <a:xfrm>
            <a:off x="502920" y="3840480"/>
            <a:ext cx="4937760" cy="365760"/>
          </a:xfrm>
          <a:prstGeom prst="rect">
            <a:avLst/>
          </a:prstGeom>
          <a:noFill/>
          <a:ln/>
        </p:spPr>
        <p:txBody>
          <a:bodyPr wrap="square" rtlCol="0" anchor="ctr"/>
          <a:lstStyle/>
          <a:p>
            <a:pPr indent="0" marL="0">
              <a:buNone/>
            </a:pPr>
            <a:r>
              <a:rPr lang="en-US" sz="1200" b="1" dirty="0">
                <a:solidFill>
                  <a:srgbClr val="5A6A85"/>
                </a:solidFill>
                <a:latin typeface="Calibri" pitchFamily="34" charset="0"/>
                <a:ea typeface="Calibri" pitchFamily="34" charset="-122"/>
                <a:cs typeface="Calibri" pitchFamily="34" charset="-120"/>
              </a:rPr>
              <a:t>Invest in product quality → fix brand damage.</a:t>
            </a:r>
            <a:endParaRPr lang="en-US" sz="1200" dirty="0"/>
          </a:p>
        </p:txBody>
      </p:sp>
      <p:sp>
        <p:nvSpPr>
          <p:cNvPr id="12" name="Shape 10"/>
          <p:cNvSpPr/>
          <p:nvPr/>
        </p:nvSpPr>
        <p:spPr>
          <a:xfrm>
            <a:off x="6035040" y="1325880"/>
            <a:ext cx="5760720" cy="4389120"/>
          </a:xfrm>
          <a:prstGeom prst="rect">
            <a:avLst/>
          </a:prstGeom>
          <a:solidFill>
            <a:srgbClr val="FDF8EC"/>
          </a:solidFill>
          <a:ln w="12700">
            <a:solidFill>
              <a:srgbClr val="C8A84B"/>
            </a:solidFill>
            <a:prstDash val="solid"/>
          </a:ln>
        </p:spPr>
      </p:sp>
      <p:sp>
        <p:nvSpPr>
          <p:cNvPr id="13" name="Text 11"/>
          <p:cNvSpPr/>
          <p:nvPr/>
        </p:nvSpPr>
        <p:spPr>
          <a:xfrm>
            <a:off x="6172200" y="1463040"/>
            <a:ext cx="5486400" cy="274320"/>
          </a:xfrm>
          <a:prstGeom prst="rect">
            <a:avLst/>
          </a:prstGeom>
          <a:noFill/>
          <a:ln/>
        </p:spPr>
        <p:txBody>
          <a:bodyPr wrap="square" rtlCol="0" anchor="ctr"/>
          <a:lstStyle/>
          <a:p>
            <a:pPr indent="0" marL="0">
              <a:buNone/>
            </a:pPr>
            <a:r>
              <a:rPr lang="en-US" sz="900" b="1" spc="200" kern="0" dirty="0">
                <a:solidFill>
                  <a:srgbClr val="C8A84B"/>
                </a:solidFill>
                <a:latin typeface="Calibri" pitchFamily="34" charset="0"/>
                <a:ea typeface="Calibri" pitchFamily="34" charset="-122"/>
                <a:cs typeface="Calibri" pitchFamily="34" charset="-120"/>
              </a:rPr>
              <a:t>WHAT THE DATA SHOWED</a:t>
            </a:r>
            <a:endParaRPr lang="en-US" sz="900" dirty="0"/>
          </a:p>
        </p:txBody>
      </p:sp>
      <p:sp>
        <p:nvSpPr>
          <p:cNvPr id="14" name="Text 12"/>
          <p:cNvSpPr/>
          <p:nvPr/>
        </p:nvSpPr>
        <p:spPr>
          <a:xfrm>
            <a:off x="6172200" y="1874520"/>
            <a:ext cx="5394960" cy="822960"/>
          </a:xfrm>
          <a:prstGeom prst="rect">
            <a:avLst/>
          </a:prstGeom>
          <a:noFill/>
          <a:ln/>
        </p:spPr>
        <p:txBody>
          <a:bodyPr wrap="square" rtlCol="0" anchor="ctr"/>
          <a:lstStyle/>
          <a:p>
            <a:pPr indent="0" marL="0">
              <a:lnSpc>
                <a:spcPct val="120000"/>
              </a:lnSpc>
              <a:buNone/>
            </a:pPr>
            <a:r>
              <a:rPr lang="en-US" sz="1800" b="1" dirty="0">
                <a:solidFill>
                  <a:srgbClr val="0A1628"/>
                </a:solidFill>
                <a:latin typeface="Calibri" pitchFamily="34" charset="0"/>
                <a:ea typeface="Calibri" pitchFamily="34" charset="-122"/>
                <a:cs typeface="Calibri" pitchFamily="34" charset="-120"/>
              </a:rPr>
              <a:t>Recalled products: 18.3% negative.</a:t>
            </a:r>
            <a:endParaRPr lang="en-US" sz="1800" dirty="0"/>
          </a:p>
          <a:p>
            <a:pPr indent="0" marL="0">
              <a:lnSpc>
                <a:spcPct val="120000"/>
              </a:lnSpc>
              <a:buNone/>
            </a:pPr>
            <a:r>
              <a:rPr lang="en-US" sz="1800" b="1" dirty="0">
                <a:solidFill>
                  <a:srgbClr val="0A1628"/>
                </a:solidFill>
                <a:latin typeface="Calibri" pitchFamily="34" charset="0"/>
                <a:ea typeface="Calibri" pitchFamily="34" charset="-122"/>
                <a:cs typeface="Calibri" pitchFamily="34" charset="-120"/>
              </a:rPr>
              <a:t>Non-recalled: 18.1% negative.</a:t>
            </a:r>
            <a:endParaRPr lang="en-US" sz="1800" dirty="0"/>
          </a:p>
        </p:txBody>
      </p:sp>
      <p:sp>
        <p:nvSpPr>
          <p:cNvPr id="15" name="Text 13"/>
          <p:cNvSpPr/>
          <p:nvPr/>
        </p:nvSpPr>
        <p:spPr>
          <a:xfrm>
            <a:off x="6172200" y="2834640"/>
            <a:ext cx="5394960" cy="411480"/>
          </a:xfrm>
          <a:prstGeom prst="rect">
            <a:avLst/>
          </a:prstGeom>
          <a:noFill/>
          <a:ln/>
        </p:spPr>
        <p:txBody>
          <a:bodyPr wrap="square" rtlCol="0" anchor="ctr"/>
          <a:lstStyle/>
          <a:p>
            <a:pPr indent="0" marL="0">
              <a:buNone/>
            </a:pPr>
            <a:r>
              <a:rPr lang="en-US" sz="1400" b="1" dirty="0">
                <a:solidFill>
                  <a:srgbClr val="C0392B"/>
                </a:solidFill>
                <a:latin typeface="Calibri" pitchFamily="34" charset="0"/>
                <a:ea typeface="Calibri" pitchFamily="34" charset="-122"/>
                <a:cs typeface="Calibri" pitchFamily="34" charset="-120"/>
              </a:rPr>
              <a:t>The difference is 0.2 percentage points — statistically zero.</a:t>
            </a:r>
            <a:endParaRPr lang="en-US" sz="1400" dirty="0"/>
          </a:p>
        </p:txBody>
      </p:sp>
      <p:sp>
        <p:nvSpPr>
          <p:cNvPr id="16" name="Text 14"/>
          <p:cNvSpPr/>
          <p:nvPr/>
        </p:nvSpPr>
        <p:spPr>
          <a:xfrm>
            <a:off x="6172200" y="3337560"/>
            <a:ext cx="5394960" cy="914400"/>
          </a:xfrm>
          <a:prstGeom prst="rect">
            <a:avLst/>
          </a:prstGeom>
          <a:noFill/>
          <a:ln/>
        </p:spPr>
        <p:txBody>
          <a:bodyPr wrap="square" rtlCol="0" anchor="ctr"/>
          <a:lstStyle/>
          <a:p>
            <a:pPr indent="0" marL="0">
              <a:buNone/>
            </a:pPr>
            <a:r>
              <a:rPr lang="en-US" sz="1100" i="1" dirty="0">
                <a:solidFill>
                  <a:srgbClr val="444444"/>
                </a:solidFill>
                <a:latin typeface="Calibri" pitchFamily="34" charset="0"/>
                <a:ea typeface="Calibri" pitchFamily="34" charset="-122"/>
                <a:cs typeface="Calibri" pitchFamily="34" charset="-120"/>
              </a:rPr>
              <a:t>Customers with perfectly functioning non-recalled products are just as dissatisfied as customers whose products were recalled.</a:t>
            </a:r>
            <a:endParaRPr lang="en-US" sz="1100" dirty="0"/>
          </a:p>
        </p:txBody>
      </p:sp>
      <p:sp>
        <p:nvSpPr>
          <p:cNvPr id="17" name="Text 15"/>
          <p:cNvSpPr/>
          <p:nvPr/>
        </p:nvSpPr>
        <p:spPr>
          <a:xfrm>
            <a:off x="6172200" y="4389120"/>
            <a:ext cx="5394960" cy="365760"/>
          </a:xfrm>
          <a:prstGeom prst="rect">
            <a:avLst/>
          </a:prstGeom>
          <a:noFill/>
          <a:ln/>
        </p:spPr>
        <p:txBody>
          <a:bodyPr wrap="square" rtlCol="0" anchor="ctr"/>
          <a:lstStyle/>
          <a:p>
            <a:pPr indent="0" marL="0">
              <a:buNone/>
            </a:pPr>
            <a:r>
              <a:rPr lang="en-US" sz="1200" b="1" dirty="0">
                <a:solidFill>
                  <a:srgbClr val="0A1628"/>
                </a:solidFill>
                <a:latin typeface="Calibri" pitchFamily="34" charset="0"/>
                <a:ea typeface="Calibri" pitchFamily="34" charset="-122"/>
                <a:cs typeface="Calibri" pitchFamily="34" charset="-120"/>
              </a:rPr>
              <a:t>The damage is self-inflicted. It is caused by how AfriTech behaves — not what it sells.</a:t>
            </a:r>
            <a:endParaRPr lang="en-US" sz="1200" dirty="0"/>
          </a:p>
        </p:txBody>
      </p:sp>
      <p:sp>
        <p:nvSpPr>
          <p:cNvPr id="18" name="Shape 16"/>
          <p:cNvSpPr/>
          <p:nvPr/>
        </p:nvSpPr>
        <p:spPr>
          <a:xfrm>
            <a:off x="0" y="6537960"/>
            <a:ext cx="12161520" cy="320040"/>
          </a:xfrm>
          <a:prstGeom prst="rect">
            <a:avLst/>
          </a:prstGeom>
          <a:solidFill>
            <a:srgbClr val="0A1628"/>
          </a:solidFill>
          <a:ln w="12700">
            <a:solidFill>
              <a:srgbClr val="0A1628"/>
            </a:solidFill>
            <a:prstDash val="solid"/>
          </a:ln>
        </p:spPr>
      </p:sp>
      <p:sp>
        <p:nvSpPr>
          <p:cNvPr id="19" name="Text 17"/>
          <p:cNvSpPr/>
          <p:nvPr/>
        </p:nvSpPr>
        <p:spPr>
          <a:xfrm>
            <a:off x="365760" y="6565392"/>
            <a:ext cx="9144000" cy="256032"/>
          </a:xfrm>
          <a:prstGeom prst="rect">
            <a:avLst/>
          </a:prstGeom>
          <a:noFill/>
          <a:ln/>
        </p:spPr>
        <p:txBody>
          <a:bodyPr wrap="square" rtlCol="0" anchor="ctr"/>
          <a:lstStyle/>
          <a:p>
            <a:pPr indent="0" marL="0">
              <a:buNone/>
            </a:pPr>
            <a:r>
              <a:rPr lang="en-US" sz="750" dirty="0">
                <a:solidFill>
                  <a:srgbClr val="8899BB"/>
                </a:solidFill>
                <a:latin typeface="Calibri" pitchFamily="34" charset="0"/>
                <a:ea typeface="Calibri" pitchFamily="34" charset="-122"/>
                <a:cs typeface="Calibri" pitchFamily="34" charset="-120"/>
              </a:rPr>
              <a:t>Samuel Ahinakwa  |  Finance &amp; Analytics Professional  |  BSc · MSc · ICAG Finalist  |  Confidential</a:t>
            </a:r>
            <a:endParaRPr lang="en-US" sz="750" dirty="0"/>
          </a:p>
        </p:txBody>
      </p:sp>
      <p:sp>
        <p:nvSpPr>
          <p:cNvPr id="20" name="Text 18"/>
          <p:cNvSpPr/>
          <p:nvPr/>
        </p:nvSpPr>
        <p:spPr>
          <a:xfrm>
            <a:off x="11338560" y="6565392"/>
            <a:ext cx="731520" cy="256032"/>
          </a:xfrm>
          <a:prstGeom prst="rect">
            <a:avLst/>
          </a:prstGeom>
          <a:noFill/>
          <a:ln/>
        </p:spPr>
        <p:txBody>
          <a:bodyPr wrap="square" rtlCol="0" anchor="ctr"/>
          <a:lstStyle/>
          <a:p>
            <a:pPr algn="r" indent="0" marL="0">
              <a:buNone/>
            </a:pPr>
            <a:r>
              <a:rPr lang="en-US" sz="800" dirty="0">
                <a:solidFill>
                  <a:srgbClr val="C8A84B"/>
                </a:solidFill>
                <a:latin typeface="Calibri" pitchFamily="34" charset="0"/>
                <a:ea typeface="Calibri" pitchFamily="34" charset="-122"/>
                <a:cs typeface="Calibri" pitchFamily="34" charset="-120"/>
              </a:rPr>
              <a:t>5 / 20</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C8A84B"/>
          </a:solidFill>
          <a:ln w="12700">
            <a:solidFill>
              <a:srgbClr val="C8A84B"/>
            </a:solidFill>
            <a:prstDash val="solid"/>
          </a:ln>
        </p:spPr>
      </p:sp>
      <p:sp>
        <p:nvSpPr>
          <p:cNvPr id="3" name="Text 1"/>
          <p:cNvSpPr/>
          <p:nvPr/>
        </p:nvSpPr>
        <p:spPr>
          <a:xfrm>
            <a:off x="365760" y="731520"/>
            <a:ext cx="1828800" cy="365760"/>
          </a:xfrm>
          <a:prstGeom prst="rect">
            <a:avLst/>
          </a:prstGeom>
          <a:noFill/>
          <a:ln/>
        </p:spPr>
        <p:txBody>
          <a:bodyPr wrap="square" rtlCol="0" anchor="ctr"/>
          <a:lstStyle/>
          <a:p>
            <a:pPr indent="0" marL="0">
              <a:buNone/>
            </a:pPr>
            <a:r>
              <a:rPr lang="en-US" sz="1100" b="1" spc="300" kern="0" dirty="0">
                <a:solidFill>
                  <a:srgbClr val="C8A84B"/>
                </a:solidFill>
                <a:latin typeface="Calibri" pitchFamily="34" charset="0"/>
                <a:ea typeface="Calibri" pitchFamily="34" charset="-122"/>
                <a:cs typeface="Calibri" pitchFamily="34" charset="-120"/>
              </a:rPr>
              <a:t>PART TWO</a:t>
            </a:r>
            <a:endParaRPr lang="en-US" sz="1100" dirty="0"/>
          </a:p>
        </p:txBody>
      </p:sp>
      <p:sp>
        <p:nvSpPr>
          <p:cNvPr id="4" name="Text 2"/>
          <p:cNvSpPr/>
          <p:nvPr/>
        </p:nvSpPr>
        <p:spPr>
          <a:xfrm>
            <a:off x="365760" y="1188720"/>
            <a:ext cx="8229600" cy="2011680"/>
          </a:xfrm>
          <a:prstGeom prst="rect">
            <a:avLst/>
          </a:prstGeom>
          <a:noFill/>
          <a:ln/>
        </p:spPr>
        <p:txBody>
          <a:bodyPr wrap="square" rtlCol="0" anchor="ctr"/>
          <a:lstStyle/>
          <a:p>
            <a:pPr indent="0" marL="0">
              <a:lnSpc>
                <a:spcPct val="110000"/>
              </a:lnSpc>
              <a:buNone/>
            </a:pPr>
            <a:r>
              <a:rPr lang="en-US" sz="4800" b="1" dirty="0">
                <a:solidFill>
                  <a:srgbClr val="FFFFFF"/>
                </a:solidFill>
                <a:latin typeface="Calibri" pitchFamily="34" charset="0"/>
                <a:ea typeface="Calibri" pitchFamily="34" charset="-122"/>
                <a:cs typeface="Calibri" pitchFamily="34" charset="-120"/>
              </a:rPr>
              <a:t>The Poisoned</a:t>
            </a:r>
            <a:endParaRPr lang="en-US" sz="4800" dirty="0"/>
          </a:p>
          <a:p>
            <a:pPr indent="0" marL="0">
              <a:lnSpc>
                <a:spcPct val="110000"/>
              </a:lnSpc>
              <a:buNone/>
            </a:pPr>
            <a:r>
              <a:rPr lang="en-US" sz="4800" b="1" dirty="0">
                <a:solidFill>
                  <a:srgbClr val="FFFFFF"/>
                </a:solidFill>
                <a:latin typeface="Calibri" pitchFamily="34" charset="0"/>
                <a:ea typeface="Calibri" pitchFamily="34" charset="-122"/>
                <a:cs typeface="Calibri" pitchFamily="34" charset="-120"/>
              </a:rPr>
              <a:t>Pipeline.</a:t>
            </a:r>
            <a:endParaRPr lang="en-US" sz="4800" dirty="0"/>
          </a:p>
        </p:txBody>
      </p:sp>
      <p:sp>
        <p:nvSpPr>
          <p:cNvPr id="5" name="Text 3"/>
          <p:cNvSpPr/>
          <p:nvPr/>
        </p:nvSpPr>
        <p:spPr>
          <a:xfrm>
            <a:off x="365760" y="3337560"/>
            <a:ext cx="8229600" cy="457200"/>
          </a:xfrm>
          <a:prstGeom prst="rect">
            <a:avLst/>
          </a:prstGeom>
          <a:noFill/>
          <a:ln/>
        </p:spPr>
        <p:txBody>
          <a:bodyPr wrap="square" rtlCol="0" anchor="ctr"/>
          <a:lstStyle/>
          <a:p>
            <a:pPr indent="0" marL="0">
              <a:buNone/>
            </a:pPr>
            <a:r>
              <a:rPr lang="en-US" sz="1600" i="1" dirty="0">
                <a:solidFill>
                  <a:srgbClr val="8899BB"/>
                </a:solidFill>
                <a:latin typeface="Calibri" pitchFamily="34" charset="0"/>
                <a:ea typeface="Calibri" pitchFamily="34" charset="-122"/>
                <a:cs typeface="Calibri" pitchFamily="34" charset="-120"/>
              </a:rPr>
              <a:t>Loyalty Running in Reverse — Customer Segmentation &amp; VIP ROI</a:t>
            </a:r>
            <a:endParaRPr lang="en-US" sz="1600" dirty="0"/>
          </a:p>
        </p:txBody>
      </p:sp>
      <p:sp>
        <p:nvSpPr>
          <p:cNvPr id="6" name="Shape 4"/>
          <p:cNvSpPr/>
          <p:nvPr/>
        </p:nvSpPr>
        <p:spPr>
          <a:xfrm>
            <a:off x="365760" y="5029200"/>
            <a:ext cx="5486400" cy="27432"/>
          </a:xfrm>
          <a:prstGeom prst="rect">
            <a:avLst/>
          </a:prstGeom>
          <a:solidFill>
            <a:srgbClr val="C8A84B"/>
          </a:solidFill>
          <a:ln w="12700">
            <a:solidFill>
              <a:srgbClr val="C8A84B"/>
            </a:solidFill>
            <a:prstDash val="solid"/>
          </a:ln>
        </p:spPr>
      </p:sp>
      <p:sp>
        <p:nvSpPr>
          <p:cNvPr id="7" name="Text 5"/>
          <p:cNvSpPr/>
          <p:nvPr/>
        </p:nvSpPr>
        <p:spPr>
          <a:xfrm>
            <a:off x="365760" y="5166360"/>
            <a:ext cx="9144000" cy="274320"/>
          </a:xfrm>
          <a:prstGeom prst="rect">
            <a:avLst/>
          </a:prstGeom>
          <a:noFill/>
          <a:ln/>
        </p:spPr>
        <p:txBody>
          <a:bodyPr wrap="square" rtlCol="0" anchor="ctr"/>
          <a:lstStyle/>
          <a:p>
            <a:pPr indent="0" marL="0">
              <a:buNone/>
            </a:pPr>
            <a:r>
              <a:rPr lang="en-US" sz="1000" dirty="0">
                <a:solidFill>
                  <a:srgbClr val="8899BB"/>
                </a:solidFill>
                <a:latin typeface="Calibri" pitchFamily="34" charset="0"/>
                <a:ea typeface="Calibri" pitchFamily="34" charset="-122"/>
                <a:cs typeface="Calibri" pitchFamily="34" charset="-120"/>
              </a:rPr>
              <a:t>$57.5M total revenue  ·  $37.2M at risk  ·  $15.7M VIP at risk  ·  $633,911 recoverable in 30 days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1051560"/>
          </a:xfrm>
          <a:prstGeom prst="rect">
            <a:avLst/>
          </a:prstGeom>
          <a:solidFill>
            <a:srgbClr val="0A1628"/>
          </a:solidFill>
          <a:ln w="12700">
            <a:solidFill>
              <a:srgbClr val="0A1628"/>
            </a:solidFill>
            <a:prstDash val="solid"/>
          </a:ln>
        </p:spPr>
      </p:sp>
      <p:sp>
        <p:nvSpPr>
          <p:cNvPr id="3" name="Shape 1"/>
          <p:cNvSpPr/>
          <p:nvPr/>
        </p:nvSpPr>
        <p:spPr>
          <a:xfrm>
            <a:off x="0" y="1051560"/>
            <a:ext cx="12161520" cy="36576"/>
          </a:xfrm>
          <a:prstGeom prst="rect">
            <a:avLst/>
          </a:prstGeom>
          <a:solidFill>
            <a:srgbClr val="C8A84B"/>
          </a:solidFill>
          <a:ln w="12700">
            <a:solidFill>
              <a:srgbClr val="C8A84B"/>
            </a:solidFill>
            <a:prstDash val="solid"/>
          </a:ln>
        </p:spPr>
      </p:sp>
      <p:sp>
        <p:nvSpPr>
          <p:cNvPr id="4" name="Text 2"/>
          <p:cNvSpPr/>
          <p:nvPr/>
        </p:nvSpPr>
        <p:spPr>
          <a:xfrm>
            <a:off x="365760" y="64008"/>
            <a:ext cx="4572000" cy="228600"/>
          </a:xfrm>
          <a:prstGeom prst="rect">
            <a:avLst/>
          </a:prstGeom>
          <a:noFill/>
          <a:ln/>
        </p:spPr>
        <p:txBody>
          <a:bodyPr wrap="square" rtlCol="0" anchor="ctr"/>
          <a:lstStyle/>
          <a:p>
            <a:pPr indent="0" marL="0">
              <a:buNone/>
            </a:pPr>
            <a:r>
              <a:rPr lang="en-US" sz="800" b="1" spc="200" kern="0" dirty="0">
                <a:solidFill>
                  <a:srgbClr val="C8A84B"/>
                </a:solidFill>
                <a:latin typeface="Calibri" pitchFamily="34" charset="0"/>
                <a:ea typeface="Calibri" pitchFamily="34" charset="-122"/>
                <a:cs typeface="Calibri" pitchFamily="34" charset="-120"/>
              </a:rPr>
              <a:t>02 — CUSTOMER SEGMENTATION</a:t>
            </a:r>
            <a:endParaRPr lang="en-US" sz="800" dirty="0"/>
          </a:p>
        </p:txBody>
      </p:sp>
      <p:sp>
        <p:nvSpPr>
          <p:cNvPr id="5" name="Text 3"/>
          <p:cNvSpPr/>
          <p:nvPr/>
        </p:nvSpPr>
        <p:spPr>
          <a:xfrm>
            <a:off x="365760" y="256032"/>
            <a:ext cx="9601200" cy="566928"/>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Where the Money Sits — and How Much Is at Risk</a:t>
            </a:r>
            <a:endParaRPr lang="en-US" sz="2600" dirty="0"/>
          </a:p>
        </p:txBody>
      </p:sp>
      <p:sp>
        <p:nvSpPr>
          <p:cNvPr id="6" name="Text 4"/>
          <p:cNvSpPr/>
          <p:nvPr/>
        </p:nvSpPr>
        <p:spPr>
          <a:xfrm>
            <a:off x="365760" y="795528"/>
            <a:ext cx="10058400" cy="228600"/>
          </a:xfrm>
          <a:prstGeom prst="rect">
            <a:avLst/>
          </a:prstGeom>
          <a:noFill/>
          <a:ln/>
        </p:spPr>
        <p:txBody>
          <a:bodyPr wrap="square" rtlCol="0" anchor="ctr"/>
          <a:lstStyle/>
          <a:p>
            <a:pPr indent="0" marL="0">
              <a:buNone/>
            </a:pPr>
            <a:r>
              <a:rPr lang="en-US" sz="1050" i="1" dirty="0">
                <a:solidFill>
                  <a:srgbClr val="8899BB"/>
                </a:solidFill>
                <a:latin typeface="Calibri" pitchFamily="34" charset="0"/>
                <a:ea typeface="Calibri" pitchFamily="34" charset="-122"/>
                <a:cs typeface="Calibri" pitchFamily="34" charset="-120"/>
              </a:rPr>
              <a:t>Three segments. Three NPS scores. All negative.</a:t>
            </a:r>
            <a:endParaRPr lang="en-US" sz="1050" dirty="0"/>
          </a:p>
        </p:txBody>
      </p:sp>
      <p:sp>
        <p:nvSpPr>
          <p:cNvPr id="7" name="Text 5"/>
          <p:cNvSpPr/>
          <p:nvPr/>
        </p:nvSpPr>
        <p:spPr>
          <a:xfrm>
            <a:off x="365760" y="1280160"/>
            <a:ext cx="4572000" cy="228600"/>
          </a:xfrm>
          <a:prstGeom prst="rect">
            <a:avLst/>
          </a:prstGeom>
          <a:noFill/>
          <a:ln/>
        </p:spPr>
        <p:txBody>
          <a:bodyPr wrap="square" rtlCol="0" anchor="ctr"/>
          <a:lstStyle/>
          <a:p>
            <a:pPr indent="0" marL="0">
              <a:buNone/>
            </a:pPr>
            <a:r>
              <a:rPr lang="en-US" sz="850" b="1" spc="200" kern="0" dirty="0">
                <a:solidFill>
                  <a:srgbClr val="C8A84B"/>
                </a:solidFill>
                <a:latin typeface="Calibri" pitchFamily="34" charset="0"/>
                <a:ea typeface="Calibri" pitchFamily="34" charset="-122"/>
                <a:cs typeface="Calibri" pitchFamily="34" charset="-120"/>
              </a:rPr>
              <a:t>REVENUE BY SEGMENT</a:t>
            </a:r>
            <a:endParaRPr lang="en-US" sz="850" dirty="0"/>
          </a:p>
        </p:txBody>
      </p:sp>
      <p:sp>
        <p:nvSpPr>
          <p:cNvPr id="8" name="Text 6"/>
          <p:cNvSpPr/>
          <p:nvPr/>
        </p:nvSpPr>
        <p:spPr>
          <a:xfrm>
            <a:off x="365760" y="1645920"/>
            <a:ext cx="1645920" cy="320040"/>
          </a:xfrm>
          <a:prstGeom prst="rect">
            <a:avLst/>
          </a:prstGeom>
          <a:noFill/>
          <a:ln/>
        </p:spPr>
        <p:txBody>
          <a:bodyPr wrap="square" rtlCol="0" anchor="ctr"/>
          <a:lstStyle/>
          <a:p>
            <a:pPr indent="0" marL="0">
              <a:buNone/>
            </a:pPr>
            <a:r>
              <a:rPr lang="en-US" sz="1000" dirty="0">
                <a:solidFill>
                  <a:srgbClr val="5A6A85"/>
                </a:solidFill>
                <a:latin typeface="Calibri" pitchFamily="34" charset="0"/>
                <a:ea typeface="Calibri" pitchFamily="34" charset="-122"/>
                <a:cs typeface="Calibri" pitchFamily="34" charset="-120"/>
              </a:rPr>
              <a:t>Returning</a:t>
            </a:r>
            <a:endParaRPr lang="en-US" sz="1000" dirty="0"/>
          </a:p>
        </p:txBody>
      </p:sp>
      <p:sp>
        <p:nvSpPr>
          <p:cNvPr id="9" name="Shape 7"/>
          <p:cNvSpPr/>
          <p:nvPr/>
        </p:nvSpPr>
        <p:spPr>
          <a:xfrm>
            <a:off x="2103120" y="1673352"/>
            <a:ext cx="4274820" cy="256032"/>
          </a:xfrm>
          <a:prstGeom prst="rect">
            <a:avLst/>
          </a:prstGeom>
          <a:solidFill>
            <a:srgbClr val="5A6A85"/>
          </a:solidFill>
          <a:ln w="12700">
            <a:solidFill>
              <a:srgbClr val="5A6A85"/>
            </a:solidFill>
            <a:prstDash val="solid"/>
          </a:ln>
        </p:spPr>
      </p:sp>
      <p:sp>
        <p:nvSpPr>
          <p:cNvPr id="10" name="Text 8"/>
          <p:cNvSpPr/>
          <p:nvPr/>
        </p:nvSpPr>
        <p:spPr>
          <a:xfrm>
            <a:off x="2103120" y="1673352"/>
            <a:ext cx="4732020" cy="256032"/>
          </a:xfrm>
          <a:prstGeom prst="rect">
            <a:avLst/>
          </a:prstGeom>
          <a:noFill/>
          <a:ln/>
        </p:spPr>
        <p:txBody>
          <a:bodyPr wrap="square" rtlCol="0" anchor="ctr"/>
          <a:lstStyle/>
          <a:p>
            <a:pPr algn="r" indent="0" marL="0">
              <a:buNone/>
            </a:pPr>
            <a:r>
              <a:rPr lang="en-US" sz="1000" b="1" dirty="0">
                <a:solidFill>
                  <a:srgbClr val="FFFFFF"/>
                </a:solidFill>
                <a:latin typeface="Calibri" pitchFamily="34" charset="0"/>
                <a:ea typeface="Calibri" pitchFamily="34" charset="-122"/>
                <a:cs typeface="Calibri" pitchFamily="34" charset="-120"/>
              </a:rPr>
              <a:t>$27.9M  48.5%</a:t>
            </a:r>
            <a:endParaRPr lang="en-US" sz="1000" dirty="0"/>
          </a:p>
        </p:txBody>
      </p:sp>
      <p:sp>
        <p:nvSpPr>
          <p:cNvPr id="11" name="Text 9"/>
          <p:cNvSpPr/>
          <p:nvPr/>
        </p:nvSpPr>
        <p:spPr>
          <a:xfrm>
            <a:off x="365760" y="2423160"/>
            <a:ext cx="1645920" cy="320040"/>
          </a:xfrm>
          <a:prstGeom prst="rect">
            <a:avLst/>
          </a:prstGeom>
          <a:noFill/>
          <a:ln/>
        </p:spPr>
        <p:txBody>
          <a:bodyPr wrap="square" rtlCol="0" anchor="ctr"/>
          <a:lstStyle/>
          <a:p>
            <a:pPr indent="0" marL="0">
              <a:buNone/>
            </a:pPr>
            <a:r>
              <a:rPr lang="en-US" sz="1000" dirty="0">
                <a:solidFill>
                  <a:srgbClr val="5A6A85"/>
                </a:solidFill>
                <a:latin typeface="Calibri" pitchFamily="34" charset="0"/>
                <a:ea typeface="Calibri" pitchFamily="34" charset="-122"/>
                <a:cs typeface="Calibri" pitchFamily="34" charset="-120"/>
              </a:rPr>
              <a:t>VIP</a:t>
            </a:r>
            <a:endParaRPr lang="en-US" sz="1000" dirty="0"/>
          </a:p>
        </p:txBody>
      </p:sp>
      <p:sp>
        <p:nvSpPr>
          <p:cNvPr id="12" name="Shape 10"/>
          <p:cNvSpPr/>
          <p:nvPr/>
        </p:nvSpPr>
        <p:spPr>
          <a:xfrm>
            <a:off x="2103120" y="2450592"/>
            <a:ext cx="3721608" cy="256032"/>
          </a:xfrm>
          <a:prstGeom prst="rect">
            <a:avLst/>
          </a:prstGeom>
          <a:solidFill>
            <a:srgbClr val="C8A84B"/>
          </a:solidFill>
          <a:ln w="12700">
            <a:solidFill>
              <a:srgbClr val="C8A84B"/>
            </a:solidFill>
            <a:prstDash val="solid"/>
          </a:ln>
        </p:spPr>
      </p:sp>
      <p:sp>
        <p:nvSpPr>
          <p:cNvPr id="13" name="Text 11"/>
          <p:cNvSpPr/>
          <p:nvPr/>
        </p:nvSpPr>
        <p:spPr>
          <a:xfrm>
            <a:off x="2103120" y="2450592"/>
            <a:ext cx="4178808" cy="256032"/>
          </a:xfrm>
          <a:prstGeom prst="rect">
            <a:avLst/>
          </a:prstGeom>
          <a:noFill/>
          <a:ln/>
        </p:spPr>
        <p:txBody>
          <a:bodyPr wrap="square" rtlCol="0" anchor="ctr"/>
          <a:lstStyle/>
          <a:p>
            <a:pPr algn="r" indent="0" marL="0">
              <a:buNone/>
            </a:pPr>
            <a:r>
              <a:rPr lang="en-US" sz="1000" b="1" dirty="0">
                <a:solidFill>
                  <a:srgbClr val="0A1628"/>
                </a:solidFill>
                <a:latin typeface="Calibri" pitchFamily="34" charset="0"/>
                <a:ea typeface="Calibri" pitchFamily="34" charset="-122"/>
                <a:cs typeface="Calibri" pitchFamily="34" charset="-120"/>
              </a:rPr>
              <a:t>$24.2M  42.1%</a:t>
            </a:r>
            <a:endParaRPr lang="en-US" sz="1000" dirty="0"/>
          </a:p>
        </p:txBody>
      </p:sp>
      <p:sp>
        <p:nvSpPr>
          <p:cNvPr id="14" name="Text 12"/>
          <p:cNvSpPr/>
          <p:nvPr/>
        </p:nvSpPr>
        <p:spPr>
          <a:xfrm>
            <a:off x="365760" y="3200400"/>
            <a:ext cx="1645920" cy="320040"/>
          </a:xfrm>
          <a:prstGeom prst="rect">
            <a:avLst/>
          </a:prstGeom>
          <a:noFill/>
          <a:ln/>
        </p:spPr>
        <p:txBody>
          <a:bodyPr wrap="square" rtlCol="0" anchor="ctr"/>
          <a:lstStyle/>
          <a:p>
            <a:pPr indent="0" marL="0">
              <a:buNone/>
            </a:pPr>
            <a:r>
              <a:rPr lang="en-US" sz="1000" dirty="0">
                <a:solidFill>
                  <a:srgbClr val="5A6A85"/>
                </a:solidFill>
                <a:latin typeface="Calibri" pitchFamily="34" charset="0"/>
                <a:ea typeface="Calibri" pitchFamily="34" charset="-122"/>
                <a:cs typeface="Calibri" pitchFamily="34" charset="-120"/>
              </a:rPr>
              <a:t>New</a:t>
            </a:r>
            <a:endParaRPr lang="en-US" sz="1000" dirty="0"/>
          </a:p>
        </p:txBody>
      </p:sp>
      <p:sp>
        <p:nvSpPr>
          <p:cNvPr id="15" name="Shape 13"/>
          <p:cNvSpPr/>
          <p:nvPr/>
        </p:nvSpPr>
        <p:spPr>
          <a:xfrm>
            <a:off x="2103120" y="3227832"/>
            <a:ext cx="854964" cy="256032"/>
          </a:xfrm>
          <a:prstGeom prst="rect">
            <a:avLst/>
          </a:prstGeom>
          <a:solidFill>
            <a:srgbClr val="1A6B3A"/>
          </a:solidFill>
          <a:ln w="12700">
            <a:solidFill>
              <a:srgbClr val="1A6B3A"/>
            </a:solidFill>
            <a:prstDash val="solid"/>
          </a:ln>
        </p:spPr>
      </p:sp>
      <p:sp>
        <p:nvSpPr>
          <p:cNvPr id="16" name="Text 14"/>
          <p:cNvSpPr/>
          <p:nvPr/>
        </p:nvSpPr>
        <p:spPr>
          <a:xfrm>
            <a:off x="2103120" y="3227832"/>
            <a:ext cx="1312164" cy="256032"/>
          </a:xfrm>
          <a:prstGeom prst="rect">
            <a:avLst/>
          </a:prstGeom>
          <a:noFill/>
          <a:ln/>
        </p:spPr>
        <p:txBody>
          <a:bodyPr wrap="square"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$5.4M  9.3%</a:t>
            </a:r>
            <a:endParaRPr lang="en-US" sz="1000" dirty="0"/>
          </a:p>
        </p:txBody>
      </p:sp>
      <p:sp>
        <p:nvSpPr>
          <p:cNvPr id="17" name="Shape 15"/>
          <p:cNvSpPr/>
          <p:nvPr/>
        </p:nvSpPr>
        <p:spPr>
          <a:xfrm>
            <a:off x="7498080" y="1234440"/>
            <a:ext cx="4297680" cy="3840480"/>
          </a:xfrm>
          <a:prstGeom prst="rect">
            <a:avLst/>
          </a:prstGeom>
          <a:solidFill>
            <a:srgbClr val="F8FAFC"/>
          </a:solidFill>
          <a:ln w="12700">
            <a:solidFill>
              <a:srgbClr val="D0D8E8"/>
            </a:solidFill>
            <a:prstDash val="solid"/>
          </a:ln>
        </p:spPr>
      </p:sp>
      <p:sp>
        <p:nvSpPr>
          <p:cNvPr id="18" name="Text 16"/>
          <p:cNvSpPr/>
          <p:nvPr/>
        </p:nvSpPr>
        <p:spPr>
          <a:xfrm>
            <a:off x="7635240" y="1371600"/>
            <a:ext cx="4023360" cy="228600"/>
          </a:xfrm>
          <a:prstGeom prst="rect">
            <a:avLst/>
          </a:prstGeom>
          <a:noFill/>
          <a:ln/>
        </p:spPr>
        <p:txBody>
          <a:bodyPr wrap="square" rtlCol="0" anchor="ctr"/>
          <a:lstStyle/>
          <a:p>
            <a:pPr indent="0" marL="0">
              <a:buNone/>
            </a:pPr>
            <a:r>
              <a:rPr lang="en-US" sz="850" b="1" spc="200" kern="0" dirty="0">
                <a:solidFill>
                  <a:srgbClr val="C8A84B"/>
                </a:solidFill>
                <a:latin typeface="Calibri" pitchFamily="34" charset="0"/>
                <a:ea typeface="Calibri" pitchFamily="34" charset="-122"/>
                <a:cs typeface="Calibri" pitchFamily="34" charset="-120"/>
              </a:rPr>
              <a:t>SEGMENT COMPARISON</a:t>
            </a:r>
            <a:endParaRPr lang="en-US" sz="850" dirty="0"/>
          </a:p>
        </p:txBody>
      </p:sp>
      <p:sp>
        <p:nvSpPr>
          <p:cNvPr id="19" name="Text 17"/>
          <p:cNvSpPr/>
          <p:nvPr/>
        </p:nvSpPr>
        <p:spPr>
          <a:xfrm>
            <a:off x="7543800" y="1691640"/>
            <a:ext cx="1005840" cy="411480"/>
          </a:xfrm>
          <a:prstGeom prst="rect">
            <a:avLst/>
          </a:prstGeom>
          <a:noFill/>
          <a:ln/>
        </p:spPr>
        <p:txBody>
          <a:bodyPr wrap="square" rtlCol="0" anchor="ctr"/>
          <a:lstStyle/>
          <a:p>
            <a:pPr algn="ctr" indent="0" marL="0">
              <a:buNone/>
            </a:pPr>
            <a:r>
              <a:rPr lang="en-US" sz="800" b="1" dirty="0">
                <a:solidFill>
                  <a:srgbClr val="0A1628"/>
                </a:solidFill>
                <a:highlight>
                  <a:srgbClr val="0A1628"/>
                </a:highlight>
                <a:latin typeface="Calibri" pitchFamily="34" charset="0"/>
                <a:ea typeface="Calibri" pitchFamily="34" charset="-122"/>
                <a:cs typeface="Calibri" pitchFamily="34" charset="-120"/>
              </a:rPr>
              <a:t>Segment</a:t>
            </a:r>
            <a:endParaRPr lang="en-US" sz="800" dirty="0"/>
          </a:p>
        </p:txBody>
      </p:sp>
      <p:sp>
        <p:nvSpPr>
          <p:cNvPr id="20" name="Text 18"/>
          <p:cNvSpPr/>
          <p:nvPr/>
        </p:nvSpPr>
        <p:spPr>
          <a:xfrm>
            <a:off x="8595360" y="1691640"/>
            <a:ext cx="1005840" cy="411480"/>
          </a:xfrm>
          <a:prstGeom prst="rect">
            <a:avLst/>
          </a:prstGeom>
          <a:noFill/>
          <a:ln/>
        </p:spPr>
        <p:txBody>
          <a:bodyPr wrap="square" rtlCol="0" anchor="ctr"/>
          <a:lstStyle/>
          <a:p>
            <a:pPr algn="ctr" indent="0" marL="0">
              <a:buNone/>
            </a:pPr>
            <a:r>
              <a:rPr lang="en-US" sz="800" b="1" dirty="0">
                <a:solidFill>
                  <a:srgbClr val="0A1628"/>
                </a:solidFill>
                <a:highlight>
                  <a:srgbClr val="0A1628"/>
                </a:highlight>
                <a:latin typeface="Calibri" pitchFamily="34" charset="0"/>
                <a:ea typeface="Calibri" pitchFamily="34" charset="-122"/>
                <a:cs typeface="Calibri" pitchFamily="34" charset="-120"/>
              </a:rPr>
              <a:t>NPS</a:t>
            </a:r>
            <a:endParaRPr lang="en-US" sz="800" dirty="0"/>
          </a:p>
        </p:txBody>
      </p:sp>
      <p:sp>
        <p:nvSpPr>
          <p:cNvPr id="21" name="Text 19"/>
          <p:cNvSpPr/>
          <p:nvPr/>
        </p:nvSpPr>
        <p:spPr>
          <a:xfrm>
            <a:off x="9646920" y="1691640"/>
            <a:ext cx="1005840" cy="411480"/>
          </a:xfrm>
          <a:prstGeom prst="rect">
            <a:avLst/>
          </a:prstGeom>
          <a:noFill/>
          <a:ln/>
        </p:spPr>
        <p:txBody>
          <a:bodyPr wrap="square" rtlCol="0" anchor="ctr"/>
          <a:lstStyle/>
          <a:p>
            <a:pPr algn="ctr" indent="0" marL="0">
              <a:buNone/>
            </a:pPr>
            <a:r>
              <a:rPr lang="en-US" sz="800" b="1" dirty="0">
                <a:solidFill>
                  <a:srgbClr val="0A1628"/>
                </a:solidFill>
                <a:highlight>
                  <a:srgbClr val="0A1628"/>
                </a:highlight>
                <a:latin typeface="Calibri" pitchFamily="34" charset="0"/>
                <a:ea typeface="Calibri" pitchFamily="34" charset="-122"/>
                <a:cs typeface="Calibri" pitchFamily="34" charset="-120"/>
              </a:rPr>
              <a:t>Detractors</a:t>
            </a:r>
            <a:endParaRPr lang="en-US" sz="800" dirty="0"/>
          </a:p>
        </p:txBody>
      </p:sp>
      <p:sp>
        <p:nvSpPr>
          <p:cNvPr id="22" name="Text 20"/>
          <p:cNvSpPr/>
          <p:nvPr/>
        </p:nvSpPr>
        <p:spPr>
          <a:xfrm>
            <a:off x="10698480" y="1691640"/>
            <a:ext cx="1005840" cy="411480"/>
          </a:xfrm>
          <a:prstGeom prst="rect">
            <a:avLst/>
          </a:prstGeom>
          <a:noFill/>
          <a:ln/>
        </p:spPr>
        <p:txBody>
          <a:bodyPr wrap="square" rtlCol="0" anchor="ctr"/>
          <a:lstStyle/>
          <a:p>
            <a:pPr algn="ctr" indent="0" marL="0">
              <a:buNone/>
            </a:pPr>
            <a:r>
              <a:rPr lang="en-US" sz="800" b="1" dirty="0">
                <a:solidFill>
                  <a:srgbClr val="0A1628"/>
                </a:solidFill>
                <a:highlight>
                  <a:srgbClr val="0A1628"/>
                </a:highlight>
                <a:latin typeface="Calibri" pitchFamily="34" charset="0"/>
                <a:ea typeface="Calibri" pitchFamily="34" charset="-122"/>
                <a:cs typeface="Calibri" pitchFamily="34" charset="-120"/>
              </a:rPr>
              <a:t>Rev at Risk</a:t>
            </a:r>
            <a:endParaRPr lang="en-US" sz="800" dirty="0"/>
          </a:p>
        </p:txBody>
      </p:sp>
      <p:sp>
        <p:nvSpPr>
          <p:cNvPr id="23" name="Shape 21"/>
          <p:cNvSpPr/>
          <p:nvPr/>
        </p:nvSpPr>
        <p:spPr>
          <a:xfrm>
            <a:off x="7543800" y="1691640"/>
            <a:ext cx="4206240" cy="411480"/>
          </a:xfrm>
          <a:prstGeom prst="rect">
            <a:avLst/>
          </a:prstGeom>
          <a:solidFill>
            <a:srgbClr val="0A1628"/>
          </a:solidFill>
          <a:ln w="12700">
            <a:solidFill>
              <a:srgbClr val="0A1628"/>
            </a:solidFill>
            <a:prstDash val="solid"/>
          </a:ln>
        </p:spPr>
      </p:sp>
      <p:sp>
        <p:nvSpPr>
          <p:cNvPr id="24" name="Text 22"/>
          <p:cNvSpPr/>
          <p:nvPr/>
        </p:nvSpPr>
        <p:spPr>
          <a:xfrm>
            <a:off x="7543800" y="1691640"/>
            <a:ext cx="1005840" cy="41148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Segment</a:t>
            </a:r>
            <a:endParaRPr lang="en-US" sz="800" dirty="0"/>
          </a:p>
        </p:txBody>
      </p:sp>
      <p:sp>
        <p:nvSpPr>
          <p:cNvPr id="25" name="Text 23"/>
          <p:cNvSpPr/>
          <p:nvPr/>
        </p:nvSpPr>
        <p:spPr>
          <a:xfrm>
            <a:off x="8595360" y="1691640"/>
            <a:ext cx="1005840" cy="41148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NPS</a:t>
            </a:r>
            <a:endParaRPr lang="en-US" sz="800" dirty="0"/>
          </a:p>
        </p:txBody>
      </p:sp>
      <p:sp>
        <p:nvSpPr>
          <p:cNvPr id="26" name="Text 24"/>
          <p:cNvSpPr/>
          <p:nvPr/>
        </p:nvSpPr>
        <p:spPr>
          <a:xfrm>
            <a:off x="9646920" y="1691640"/>
            <a:ext cx="1005840" cy="41148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Detractors</a:t>
            </a:r>
            <a:endParaRPr lang="en-US" sz="800" dirty="0"/>
          </a:p>
        </p:txBody>
      </p:sp>
      <p:sp>
        <p:nvSpPr>
          <p:cNvPr id="27" name="Text 25"/>
          <p:cNvSpPr/>
          <p:nvPr/>
        </p:nvSpPr>
        <p:spPr>
          <a:xfrm>
            <a:off x="10698480" y="1691640"/>
            <a:ext cx="1005840" cy="41148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Rev at Risk</a:t>
            </a:r>
            <a:endParaRPr lang="en-US" sz="800" dirty="0"/>
          </a:p>
        </p:txBody>
      </p:sp>
      <p:sp>
        <p:nvSpPr>
          <p:cNvPr id="28" name="Text 26"/>
          <p:cNvSpPr/>
          <p:nvPr/>
        </p:nvSpPr>
        <p:spPr>
          <a:xfrm>
            <a:off x="7543800" y="2240280"/>
            <a:ext cx="1005840" cy="411480"/>
          </a:xfrm>
          <a:prstGeom prst="rect">
            <a:avLst/>
          </a:prstGeom>
          <a:noFill/>
          <a:ln/>
        </p:spPr>
        <p:txBody>
          <a:bodyPr wrap="square" rtlCol="0" anchor="ctr"/>
          <a:lstStyle/>
          <a:p>
            <a:pPr algn="ctr" indent="0" marL="0">
              <a:buNone/>
            </a:pPr>
            <a:r>
              <a:rPr lang="en-US" sz="950" dirty="0">
                <a:solidFill>
                  <a:srgbClr val="2A2820"/>
                </a:solidFill>
                <a:latin typeface="Calibri" pitchFamily="34" charset="0"/>
                <a:ea typeface="Calibri" pitchFamily="34" charset="-122"/>
                <a:cs typeface="Calibri" pitchFamily="34" charset="-120"/>
              </a:rPr>
              <a:t>VIP</a:t>
            </a:r>
            <a:endParaRPr lang="en-US" sz="950" dirty="0"/>
          </a:p>
        </p:txBody>
      </p:sp>
      <p:sp>
        <p:nvSpPr>
          <p:cNvPr id="29" name="Text 27"/>
          <p:cNvSpPr/>
          <p:nvPr/>
        </p:nvSpPr>
        <p:spPr>
          <a:xfrm>
            <a:off x="8595360" y="2240280"/>
            <a:ext cx="1005840" cy="411480"/>
          </a:xfrm>
          <a:prstGeom prst="rect">
            <a:avLst/>
          </a:prstGeom>
          <a:noFill/>
          <a:ln/>
        </p:spPr>
        <p:txBody>
          <a:bodyPr wrap="square" rtlCol="0" anchor="ctr"/>
          <a:lstStyle/>
          <a:p>
            <a:pPr algn="ctr" indent="0" marL="0">
              <a:buNone/>
            </a:pPr>
            <a:r>
              <a:rPr lang="en-US" sz="950" dirty="0">
                <a:solidFill>
                  <a:srgbClr val="C0392B"/>
                </a:solidFill>
                <a:latin typeface="Calibri" pitchFamily="34" charset="0"/>
                <a:ea typeface="Calibri" pitchFamily="34" charset="-122"/>
                <a:cs typeface="Calibri" pitchFamily="34" charset="-120"/>
              </a:rPr>
              <a:t>−47.0</a:t>
            </a:r>
            <a:endParaRPr lang="en-US" sz="950" dirty="0"/>
          </a:p>
        </p:txBody>
      </p:sp>
      <p:sp>
        <p:nvSpPr>
          <p:cNvPr id="30" name="Text 28"/>
          <p:cNvSpPr/>
          <p:nvPr/>
        </p:nvSpPr>
        <p:spPr>
          <a:xfrm>
            <a:off x="9646920" y="2240280"/>
            <a:ext cx="1005840" cy="411480"/>
          </a:xfrm>
          <a:prstGeom prst="rect">
            <a:avLst/>
          </a:prstGeom>
          <a:noFill/>
          <a:ln/>
        </p:spPr>
        <p:txBody>
          <a:bodyPr wrap="square" rtlCol="0" anchor="ctr"/>
          <a:lstStyle/>
          <a:p>
            <a:pPr algn="ctr" indent="0" marL="0">
              <a:buNone/>
            </a:pPr>
            <a:r>
              <a:rPr lang="en-US" sz="950" dirty="0">
                <a:solidFill>
                  <a:srgbClr val="2A2820"/>
                </a:solidFill>
                <a:latin typeface="Calibri" pitchFamily="34" charset="0"/>
                <a:ea typeface="Calibri" pitchFamily="34" charset="-122"/>
                <a:cs typeface="Calibri" pitchFamily="34" charset="-120"/>
              </a:rPr>
              <a:t>65.2%</a:t>
            </a:r>
            <a:endParaRPr lang="en-US" sz="950" dirty="0"/>
          </a:p>
        </p:txBody>
      </p:sp>
      <p:sp>
        <p:nvSpPr>
          <p:cNvPr id="31" name="Text 29"/>
          <p:cNvSpPr/>
          <p:nvPr/>
        </p:nvSpPr>
        <p:spPr>
          <a:xfrm>
            <a:off x="10698480" y="2240280"/>
            <a:ext cx="1005840" cy="411480"/>
          </a:xfrm>
          <a:prstGeom prst="rect">
            <a:avLst/>
          </a:prstGeom>
          <a:noFill/>
          <a:ln/>
        </p:spPr>
        <p:txBody>
          <a:bodyPr wrap="square" rtlCol="0" anchor="ctr"/>
          <a:lstStyle/>
          <a:p>
            <a:pPr algn="ctr" indent="0" marL="0">
              <a:buNone/>
            </a:pPr>
            <a:r>
              <a:rPr lang="en-US" sz="950" dirty="0">
                <a:solidFill>
                  <a:srgbClr val="2A2820"/>
                </a:solidFill>
                <a:latin typeface="Calibri" pitchFamily="34" charset="0"/>
                <a:ea typeface="Calibri" pitchFamily="34" charset="-122"/>
                <a:cs typeface="Calibri" pitchFamily="34" charset="-120"/>
              </a:rPr>
              <a:t>$15.7M</a:t>
            </a:r>
            <a:endParaRPr lang="en-US" sz="950" dirty="0"/>
          </a:p>
        </p:txBody>
      </p:sp>
      <p:sp>
        <p:nvSpPr>
          <p:cNvPr id="32" name="Text 30"/>
          <p:cNvSpPr/>
          <p:nvPr/>
        </p:nvSpPr>
        <p:spPr>
          <a:xfrm>
            <a:off x="7543800" y="2788920"/>
            <a:ext cx="1005840" cy="411480"/>
          </a:xfrm>
          <a:prstGeom prst="rect">
            <a:avLst/>
          </a:prstGeom>
          <a:noFill/>
          <a:ln/>
        </p:spPr>
        <p:txBody>
          <a:bodyPr wrap="square" rtlCol="0" anchor="ctr"/>
          <a:lstStyle/>
          <a:p>
            <a:pPr algn="ctr" indent="0" marL="0">
              <a:buNone/>
            </a:pPr>
            <a:r>
              <a:rPr lang="en-US" sz="950" dirty="0">
                <a:solidFill>
                  <a:srgbClr val="2A2820"/>
                </a:solidFill>
                <a:latin typeface="Calibri" pitchFamily="34" charset="0"/>
                <a:ea typeface="Calibri" pitchFamily="34" charset="-122"/>
                <a:cs typeface="Calibri" pitchFamily="34" charset="-120"/>
              </a:rPr>
              <a:t>Returning</a:t>
            </a:r>
            <a:endParaRPr lang="en-US" sz="950" dirty="0"/>
          </a:p>
        </p:txBody>
      </p:sp>
      <p:sp>
        <p:nvSpPr>
          <p:cNvPr id="33" name="Text 31"/>
          <p:cNvSpPr/>
          <p:nvPr/>
        </p:nvSpPr>
        <p:spPr>
          <a:xfrm>
            <a:off x="8595360" y="2788920"/>
            <a:ext cx="1005840" cy="411480"/>
          </a:xfrm>
          <a:prstGeom prst="rect">
            <a:avLst/>
          </a:prstGeom>
          <a:noFill/>
          <a:ln/>
        </p:spPr>
        <p:txBody>
          <a:bodyPr wrap="square" rtlCol="0" anchor="ctr"/>
          <a:lstStyle/>
          <a:p>
            <a:pPr algn="ctr" indent="0" marL="0">
              <a:buNone/>
            </a:pPr>
            <a:r>
              <a:rPr lang="en-US" sz="950" dirty="0">
                <a:solidFill>
                  <a:srgbClr val="C0392B"/>
                </a:solidFill>
                <a:latin typeface="Calibri" pitchFamily="34" charset="0"/>
                <a:ea typeface="Calibri" pitchFamily="34" charset="-122"/>
                <a:cs typeface="Calibri" pitchFamily="34" charset="-120"/>
              </a:rPr>
              <a:t>−46.2</a:t>
            </a:r>
            <a:endParaRPr lang="en-US" sz="950" dirty="0"/>
          </a:p>
        </p:txBody>
      </p:sp>
      <p:sp>
        <p:nvSpPr>
          <p:cNvPr id="34" name="Text 32"/>
          <p:cNvSpPr/>
          <p:nvPr/>
        </p:nvSpPr>
        <p:spPr>
          <a:xfrm>
            <a:off x="9646920" y="2788920"/>
            <a:ext cx="1005840" cy="411480"/>
          </a:xfrm>
          <a:prstGeom prst="rect">
            <a:avLst/>
          </a:prstGeom>
          <a:noFill/>
          <a:ln/>
        </p:spPr>
        <p:txBody>
          <a:bodyPr wrap="square" rtlCol="0" anchor="ctr"/>
          <a:lstStyle/>
          <a:p>
            <a:pPr algn="ctr" indent="0" marL="0">
              <a:buNone/>
            </a:pPr>
            <a:r>
              <a:rPr lang="en-US" sz="950" dirty="0">
                <a:solidFill>
                  <a:srgbClr val="2A2820"/>
                </a:solidFill>
                <a:latin typeface="Calibri" pitchFamily="34" charset="0"/>
                <a:ea typeface="Calibri" pitchFamily="34" charset="-122"/>
                <a:cs typeface="Calibri" pitchFamily="34" charset="-120"/>
              </a:rPr>
              <a:t>64.7%</a:t>
            </a:r>
            <a:endParaRPr lang="en-US" sz="950" dirty="0"/>
          </a:p>
        </p:txBody>
      </p:sp>
      <p:sp>
        <p:nvSpPr>
          <p:cNvPr id="35" name="Text 33"/>
          <p:cNvSpPr/>
          <p:nvPr/>
        </p:nvSpPr>
        <p:spPr>
          <a:xfrm>
            <a:off x="10698480" y="2788920"/>
            <a:ext cx="1005840" cy="411480"/>
          </a:xfrm>
          <a:prstGeom prst="rect">
            <a:avLst/>
          </a:prstGeom>
          <a:noFill/>
          <a:ln/>
        </p:spPr>
        <p:txBody>
          <a:bodyPr wrap="square" rtlCol="0" anchor="ctr"/>
          <a:lstStyle/>
          <a:p>
            <a:pPr algn="ctr" indent="0" marL="0">
              <a:buNone/>
            </a:pPr>
            <a:r>
              <a:rPr lang="en-US" sz="950" dirty="0">
                <a:solidFill>
                  <a:srgbClr val="2A2820"/>
                </a:solidFill>
                <a:latin typeface="Calibri" pitchFamily="34" charset="0"/>
                <a:ea typeface="Calibri" pitchFamily="34" charset="-122"/>
                <a:cs typeface="Calibri" pitchFamily="34" charset="-120"/>
              </a:rPr>
              <a:t>$18.1M</a:t>
            </a:r>
            <a:endParaRPr lang="en-US" sz="950" dirty="0"/>
          </a:p>
        </p:txBody>
      </p:sp>
      <p:sp>
        <p:nvSpPr>
          <p:cNvPr id="36" name="Text 34"/>
          <p:cNvSpPr/>
          <p:nvPr/>
        </p:nvSpPr>
        <p:spPr>
          <a:xfrm>
            <a:off x="7543800" y="3337560"/>
            <a:ext cx="1005840" cy="411480"/>
          </a:xfrm>
          <a:prstGeom prst="rect">
            <a:avLst/>
          </a:prstGeom>
          <a:noFill/>
          <a:ln/>
        </p:spPr>
        <p:txBody>
          <a:bodyPr wrap="square" rtlCol="0" anchor="ctr"/>
          <a:lstStyle/>
          <a:p>
            <a:pPr algn="ctr" indent="0" marL="0">
              <a:buNone/>
            </a:pPr>
            <a:r>
              <a:rPr lang="en-US" sz="950" dirty="0">
                <a:solidFill>
                  <a:srgbClr val="2A2820"/>
                </a:solidFill>
                <a:latin typeface="Calibri" pitchFamily="34" charset="0"/>
                <a:ea typeface="Calibri" pitchFamily="34" charset="-122"/>
                <a:cs typeface="Calibri" pitchFamily="34" charset="-120"/>
              </a:rPr>
              <a:t>New</a:t>
            </a:r>
            <a:endParaRPr lang="en-US" sz="950" dirty="0"/>
          </a:p>
        </p:txBody>
      </p:sp>
      <p:sp>
        <p:nvSpPr>
          <p:cNvPr id="37" name="Text 35"/>
          <p:cNvSpPr/>
          <p:nvPr/>
        </p:nvSpPr>
        <p:spPr>
          <a:xfrm>
            <a:off x="8595360" y="3337560"/>
            <a:ext cx="1005840" cy="411480"/>
          </a:xfrm>
          <a:prstGeom prst="rect">
            <a:avLst/>
          </a:prstGeom>
          <a:noFill/>
          <a:ln/>
        </p:spPr>
        <p:txBody>
          <a:bodyPr wrap="square" rtlCol="0" anchor="ctr"/>
          <a:lstStyle/>
          <a:p>
            <a:pPr algn="ctr" indent="0" marL="0">
              <a:buNone/>
            </a:pPr>
            <a:r>
              <a:rPr lang="en-US" sz="950" dirty="0">
                <a:solidFill>
                  <a:srgbClr val="D4820A"/>
                </a:solidFill>
                <a:latin typeface="Calibri" pitchFamily="34" charset="0"/>
                <a:ea typeface="Calibri" pitchFamily="34" charset="-122"/>
                <a:cs typeface="Calibri" pitchFamily="34" charset="-120"/>
              </a:rPr>
              <a:t>−42.7</a:t>
            </a:r>
            <a:endParaRPr lang="en-US" sz="950" dirty="0"/>
          </a:p>
        </p:txBody>
      </p:sp>
      <p:sp>
        <p:nvSpPr>
          <p:cNvPr id="38" name="Text 36"/>
          <p:cNvSpPr/>
          <p:nvPr/>
        </p:nvSpPr>
        <p:spPr>
          <a:xfrm>
            <a:off x="9646920" y="3337560"/>
            <a:ext cx="1005840" cy="411480"/>
          </a:xfrm>
          <a:prstGeom prst="rect">
            <a:avLst/>
          </a:prstGeom>
          <a:noFill/>
          <a:ln/>
        </p:spPr>
        <p:txBody>
          <a:bodyPr wrap="square" rtlCol="0" anchor="ctr"/>
          <a:lstStyle/>
          <a:p>
            <a:pPr algn="ctr" indent="0" marL="0">
              <a:buNone/>
            </a:pPr>
            <a:r>
              <a:rPr lang="en-US" sz="950" dirty="0">
                <a:solidFill>
                  <a:srgbClr val="2A2820"/>
                </a:solidFill>
                <a:latin typeface="Calibri" pitchFamily="34" charset="0"/>
                <a:ea typeface="Calibri" pitchFamily="34" charset="-122"/>
                <a:cs typeface="Calibri" pitchFamily="34" charset="-120"/>
              </a:rPr>
              <a:t>61.4%</a:t>
            </a:r>
            <a:endParaRPr lang="en-US" sz="950" dirty="0"/>
          </a:p>
        </p:txBody>
      </p:sp>
      <p:sp>
        <p:nvSpPr>
          <p:cNvPr id="39" name="Text 37"/>
          <p:cNvSpPr/>
          <p:nvPr/>
        </p:nvSpPr>
        <p:spPr>
          <a:xfrm>
            <a:off x="10698480" y="3337560"/>
            <a:ext cx="1005840" cy="411480"/>
          </a:xfrm>
          <a:prstGeom prst="rect">
            <a:avLst/>
          </a:prstGeom>
          <a:noFill/>
          <a:ln/>
        </p:spPr>
        <p:txBody>
          <a:bodyPr wrap="square" rtlCol="0" anchor="ctr"/>
          <a:lstStyle/>
          <a:p>
            <a:pPr algn="ctr" indent="0" marL="0">
              <a:buNone/>
            </a:pPr>
            <a:r>
              <a:rPr lang="en-US" sz="950" dirty="0">
                <a:solidFill>
                  <a:srgbClr val="2A2820"/>
                </a:solidFill>
                <a:latin typeface="Calibri" pitchFamily="34" charset="0"/>
                <a:ea typeface="Calibri" pitchFamily="34" charset="-122"/>
                <a:cs typeface="Calibri" pitchFamily="34" charset="-120"/>
              </a:rPr>
              <a:t>$3.3M</a:t>
            </a:r>
            <a:endParaRPr lang="en-US" sz="950" dirty="0"/>
          </a:p>
        </p:txBody>
      </p:sp>
      <p:sp>
        <p:nvSpPr>
          <p:cNvPr id="40" name="Text 38"/>
          <p:cNvSpPr/>
          <p:nvPr/>
        </p:nvSpPr>
        <p:spPr>
          <a:xfrm>
            <a:off x="7543800" y="3886200"/>
            <a:ext cx="1005840" cy="411480"/>
          </a:xfrm>
          <a:prstGeom prst="rect">
            <a:avLst/>
          </a:prstGeom>
          <a:noFill/>
          <a:ln/>
        </p:spPr>
        <p:txBody>
          <a:bodyPr wrap="square" rtlCol="0" anchor="ctr"/>
          <a:lstStyle/>
          <a:p>
            <a:pPr algn="ctr" indent="0" marL="0">
              <a:buNone/>
            </a:pPr>
            <a:r>
              <a:rPr lang="en-US" sz="950" b="1" dirty="0">
                <a:solidFill>
                  <a:srgbClr val="2A2820"/>
                </a:solidFill>
                <a:latin typeface="Calibri" pitchFamily="34" charset="0"/>
                <a:ea typeface="Calibri" pitchFamily="34" charset="-122"/>
                <a:cs typeface="Calibri" pitchFamily="34" charset="-120"/>
              </a:rPr>
              <a:t>TOTAL</a:t>
            </a:r>
            <a:endParaRPr lang="en-US" sz="950" dirty="0"/>
          </a:p>
        </p:txBody>
      </p:sp>
      <p:sp>
        <p:nvSpPr>
          <p:cNvPr id="41" name="Text 39"/>
          <p:cNvSpPr/>
          <p:nvPr/>
        </p:nvSpPr>
        <p:spPr>
          <a:xfrm>
            <a:off x="8595360" y="3886200"/>
            <a:ext cx="1005840" cy="411480"/>
          </a:xfrm>
          <a:prstGeom prst="rect">
            <a:avLst/>
          </a:prstGeom>
          <a:noFill/>
          <a:ln/>
        </p:spPr>
        <p:txBody>
          <a:bodyPr wrap="square" rtlCol="0" anchor="ctr"/>
          <a:lstStyle/>
          <a:p>
            <a:pPr algn="ctr" indent="0" marL="0">
              <a:buNone/>
            </a:pPr>
            <a:r>
              <a:rPr lang="en-US" sz="950" b="1" dirty="0">
                <a:solidFill>
                  <a:srgbClr val="C0392B"/>
                </a:solidFill>
                <a:latin typeface="Calibri" pitchFamily="34" charset="0"/>
                <a:ea typeface="Calibri" pitchFamily="34" charset="-122"/>
                <a:cs typeface="Calibri" pitchFamily="34" charset="-120"/>
              </a:rPr>
              <a:t>−46.2</a:t>
            </a:r>
            <a:endParaRPr lang="en-US" sz="950" dirty="0"/>
          </a:p>
        </p:txBody>
      </p:sp>
      <p:sp>
        <p:nvSpPr>
          <p:cNvPr id="42" name="Text 40"/>
          <p:cNvSpPr/>
          <p:nvPr/>
        </p:nvSpPr>
        <p:spPr>
          <a:xfrm>
            <a:off x="9646920" y="3886200"/>
            <a:ext cx="1005840" cy="411480"/>
          </a:xfrm>
          <a:prstGeom prst="rect">
            <a:avLst/>
          </a:prstGeom>
          <a:noFill/>
          <a:ln/>
        </p:spPr>
        <p:txBody>
          <a:bodyPr wrap="square" rtlCol="0" anchor="ctr"/>
          <a:lstStyle/>
          <a:p>
            <a:pPr algn="ctr" indent="0" marL="0">
              <a:buNone/>
            </a:pPr>
            <a:r>
              <a:rPr lang="en-US" sz="950" b="1" dirty="0">
                <a:solidFill>
                  <a:srgbClr val="2A2820"/>
                </a:solidFill>
                <a:latin typeface="Calibri" pitchFamily="34" charset="0"/>
                <a:ea typeface="Calibri" pitchFamily="34" charset="-122"/>
                <a:cs typeface="Calibri" pitchFamily="34" charset="-120"/>
              </a:rPr>
              <a:t>64.6%</a:t>
            </a:r>
            <a:endParaRPr lang="en-US" sz="950" dirty="0"/>
          </a:p>
        </p:txBody>
      </p:sp>
      <p:sp>
        <p:nvSpPr>
          <p:cNvPr id="43" name="Text 41"/>
          <p:cNvSpPr/>
          <p:nvPr/>
        </p:nvSpPr>
        <p:spPr>
          <a:xfrm>
            <a:off x="10698480" y="3886200"/>
            <a:ext cx="1005840" cy="411480"/>
          </a:xfrm>
          <a:prstGeom prst="rect">
            <a:avLst/>
          </a:prstGeom>
          <a:noFill/>
          <a:ln/>
        </p:spPr>
        <p:txBody>
          <a:bodyPr wrap="square" rtlCol="0" anchor="ctr"/>
          <a:lstStyle/>
          <a:p>
            <a:pPr algn="ctr" indent="0" marL="0">
              <a:buNone/>
            </a:pPr>
            <a:r>
              <a:rPr lang="en-US" sz="950" b="1" dirty="0">
                <a:solidFill>
                  <a:srgbClr val="2A2820"/>
                </a:solidFill>
                <a:latin typeface="Calibri" pitchFamily="34" charset="0"/>
                <a:ea typeface="Calibri" pitchFamily="34" charset="-122"/>
                <a:cs typeface="Calibri" pitchFamily="34" charset="-120"/>
              </a:rPr>
              <a:t>$37.2M</a:t>
            </a:r>
            <a:endParaRPr lang="en-US" sz="950" dirty="0"/>
          </a:p>
        </p:txBody>
      </p:sp>
      <p:sp>
        <p:nvSpPr>
          <p:cNvPr id="44" name="Shape 42"/>
          <p:cNvSpPr/>
          <p:nvPr/>
        </p:nvSpPr>
        <p:spPr>
          <a:xfrm>
            <a:off x="365760" y="5074920"/>
            <a:ext cx="11430000" cy="1097280"/>
          </a:xfrm>
          <a:prstGeom prst="rect">
            <a:avLst/>
          </a:prstGeom>
          <a:solidFill>
            <a:srgbClr val="FDF8EC"/>
          </a:solidFill>
          <a:ln w="12700">
            <a:solidFill>
              <a:srgbClr val="D0D8E8"/>
            </a:solidFill>
            <a:prstDash val="solid"/>
          </a:ln>
        </p:spPr>
      </p:sp>
      <p:sp>
        <p:nvSpPr>
          <p:cNvPr id="45" name="Shape 43"/>
          <p:cNvSpPr/>
          <p:nvPr/>
        </p:nvSpPr>
        <p:spPr>
          <a:xfrm>
            <a:off x="365760" y="5074920"/>
            <a:ext cx="54864" cy="1097280"/>
          </a:xfrm>
          <a:prstGeom prst="rect">
            <a:avLst/>
          </a:prstGeom>
          <a:solidFill>
            <a:srgbClr val="D4820A"/>
          </a:solidFill>
          <a:ln w="12700">
            <a:solidFill>
              <a:srgbClr val="D4820A"/>
            </a:solidFill>
            <a:prstDash val="solid"/>
          </a:ln>
        </p:spPr>
      </p:sp>
      <p:sp>
        <p:nvSpPr>
          <p:cNvPr id="46" name="Text 44"/>
          <p:cNvSpPr/>
          <p:nvPr/>
        </p:nvSpPr>
        <p:spPr>
          <a:xfrm>
            <a:off x="502920" y="5138928"/>
            <a:ext cx="11201400" cy="969264"/>
          </a:xfrm>
          <a:prstGeom prst="rect">
            <a:avLst/>
          </a:prstGeom>
          <a:noFill/>
          <a:ln/>
        </p:spPr>
        <p:txBody>
          <a:bodyPr wrap="square" rtlCol="0" anchor="ctr"/>
          <a:lstStyle/>
          <a:p>
            <a:pPr indent="0" marL="0">
              <a:buNone/>
            </a:pPr>
            <a:r>
              <a:rPr lang="en-US" sz="1000" i="1" dirty="0">
                <a:solidFill>
                  <a:srgbClr val="2A2820"/>
                </a:solidFill>
                <a:latin typeface="Calibri" pitchFamily="34" charset="0"/>
                <a:ea typeface="Calibri" pitchFamily="34" charset="-122"/>
                <a:cs typeface="Calibri" pitchFamily="34" charset="-120"/>
              </a:rPr>
              <a:t>Returning customers generate MORE revenue than VIP ($27.9M vs $24.2M) — but have the LOWEST resolution rate (46.3%) and the HIGHEST detractor revenue at risk ($18.1M). The segment generating the most revenue is being served the least.</a:t>
            </a:r>
            <a:endParaRPr lang="en-US" sz="1000" dirty="0"/>
          </a:p>
        </p:txBody>
      </p:sp>
      <p:sp>
        <p:nvSpPr>
          <p:cNvPr id="47" name="Shape 45"/>
          <p:cNvSpPr/>
          <p:nvPr/>
        </p:nvSpPr>
        <p:spPr>
          <a:xfrm>
            <a:off x="0" y="6537960"/>
            <a:ext cx="12161520" cy="320040"/>
          </a:xfrm>
          <a:prstGeom prst="rect">
            <a:avLst/>
          </a:prstGeom>
          <a:solidFill>
            <a:srgbClr val="0A1628"/>
          </a:solidFill>
          <a:ln w="12700">
            <a:solidFill>
              <a:srgbClr val="0A1628"/>
            </a:solidFill>
            <a:prstDash val="solid"/>
          </a:ln>
        </p:spPr>
      </p:sp>
      <p:sp>
        <p:nvSpPr>
          <p:cNvPr id="48" name="Text 46"/>
          <p:cNvSpPr/>
          <p:nvPr/>
        </p:nvSpPr>
        <p:spPr>
          <a:xfrm>
            <a:off x="365760" y="6565392"/>
            <a:ext cx="9144000" cy="256032"/>
          </a:xfrm>
          <a:prstGeom prst="rect">
            <a:avLst/>
          </a:prstGeom>
          <a:noFill/>
          <a:ln/>
        </p:spPr>
        <p:txBody>
          <a:bodyPr wrap="square" rtlCol="0" anchor="ctr"/>
          <a:lstStyle/>
          <a:p>
            <a:pPr indent="0" marL="0">
              <a:buNone/>
            </a:pPr>
            <a:r>
              <a:rPr lang="en-US" sz="750" dirty="0">
                <a:solidFill>
                  <a:srgbClr val="8899BB"/>
                </a:solidFill>
                <a:latin typeface="Calibri" pitchFamily="34" charset="0"/>
                <a:ea typeface="Calibri" pitchFamily="34" charset="-122"/>
                <a:cs typeface="Calibri" pitchFamily="34" charset="-120"/>
              </a:rPr>
              <a:t>Samuel Ahinakwa  |  Finance &amp; Analytics Professional  |  BSc · MSc · ICAG Finalist  |  Confidential</a:t>
            </a:r>
            <a:endParaRPr lang="en-US" sz="750" dirty="0"/>
          </a:p>
        </p:txBody>
      </p:sp>
      <p:sp>
        <p:nvSpPr>
          <p:cNvPr id="49" name="Text 47"/>
          <p:cNvSpPr/>
          <p:nvPr/>
        </p:nvSpPr>
        <p:spPr>
          <a:xfrm>
            <a:off x="11338560" y="6565392"/>
            <a:ext cx="731520" cy="256032"/>
          </a:xfrm>
          <a:prstGeom prst="rect">
            <a:avLst/>
          </a:prstGeom>
          <a:noFill/>
          <a:ln/>
        </p:spPr>
        <p:txBody>
          <a:bodyPr wrap="square" rtlCol="0" anchor="ctr"/>
          <a:lstStyle/>
          <a:p>
            <a:pPr algn="r" indent="0" marL="0">
              <a:buNone/>
            </a:pPr>
            <a:r>
              <a:rPr lang="en-US" sz="800" dirty="0">
                <a:solidFill>
                  <a:srgbClr val="C8A84B"/>
                </a:solidFill>
                <a:latin typeface="Calibri" pitchFamily="34" charset="0"/>
                <a:ea typeface="Calibri" pitchFamily="34" charset="-122"/>
                <a:cs typeface="Calibri" pitchFamily="34" charset="-120"/>
              </a:rPr>
              <a:t>7 / 20</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1051560"/>
          </a:xfrm>
          <a:prstGeom prst="rect">
            <a:avLst/>
          </a:prstGeom>
          <a:solidFill>
            <a:srgbClr val="0A1628"/>
          </a:solidFill>
          <a:ln w="12700">
            <a:solidFill>
              <a:srgbClr val="0A1628"/>
            </a:solidFill>
            <a:prstDash val="solid"/>
          </a:ln>
        </p:spPr>
      </p:sp>
      <p:sp>
        <p:nvSpPr>
          <p:cNvPr id="3" name="Shape 1"/>
          <p:cNvSpPr/>
          <p:nvPr/>
        </p:nvSpPr>
        <p:spPr>
          <a:xfrm>
            <a:off x="0" y="1051560"/>
            <a:ext cx="12161520" cy="36576"/>
          </a:xfrm>
          <a:prstGeom prst="rect">
            <a:avLst/>
          </a:prstGeom>
          <a:solidFill>
            <a:srgbClr val="C8A84B"/>
          </a:solidFill>
          <a:ln w="12700">
            <a:solidFill>
              <a:srgbClr val="C8A84B"/>
            </a:solidFill>
            <a:prstDash val="solid"/>
          </a:ln>
        </p:spPr>
      </p:sp>
      <p:sp>
        <p:nvSpPr>
          <p:cNvPr id="4" name="Text 2"/>
          <p:cNvSpPr/>
          <p:nvPr/>
        </p:nvSpPr>
        <p:spPr>
          <a:xfrm>
            <a:off x="365760" y="64008"/>
            <a:ext cx="4572000" cy="228600"/>
          </a:xfrm>
          <a:prstGeom prst="rect">
            <a:avLst/>
          </a:prstGeom>
          <a:noFill/>
          <a:ln/>
        </p:spPr>
        <p:txBody>
          <a:bodyPr wrap="square" rtlCol="0" anchor="ctr"/>
          <a:lstStyle/>
          <a:p>
            <a:pPr indent="0" marL="0">
              <a:buNone/>
            </a:pPr>
            <a:r>
              <a:rPr lang="en-US" sz="800" b="1" spc="200" kern="0" dirty="0">
                <a:solidFill>
                  <a:srgbClr val="C8A84B"/>
                </a:solidFill>
                <a:latin typeface="Calibri" pitchFamily="34" charset="0"/>
                <a:ea typeface="Calibri" pitchFamily="34" charset="-122"/>
                <a:cs typeface="Calibri" pitchFamily="34" charset="-120"/>
              </a:rPr>
              <a:t>02 — CUSTOMER SEGMENTATION</a:t>
            </a:r>
            <a:endParaRPr lang="en-US" sz="800" dirty="0"/>
          </a:p>
        </p:txBody>
      </p:sp>
      <p:sp>
        <p:nvSpPr>
          <p:cNvPr id="5" name="Text 3"/>
          <p:cNvSpPr/>
          <p:nvPr/>
        </p:nvSpPr>
        <p:spPr>
          <a:xfrm>
            <a:off x="365760" y="256032"/>
            <a:ext cx="9601200" cy="566928"/>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The Poisoned Pipeline</a:t>
            </a:r>
            <a:endParaRPr lang="en-US" sz="2600" dirty="0"/>
          </a:p>
        </p:txBody>
      </p:sp>
      <p:sp>
        <p:nvSpPr>
          <p:cNvPr id="6" name="Text 4"/>
          <p:cNvSpPr/>
          <p:nvPr/>
        </p:nvSpPr>
        <p:spPr>
          <a:xfrm>
            <a:off x="365760" y="795528"/>
            <a:ext cx="10058400" cy="228600"/>
          </a:xfrm>
          <a:prstGeom prst="rect">
            <a:avLst/>
          </a:prstGeom>
          <a:noFill/>
          <a:ln/>
        </p:spPr>
        <p:txBody>
          <a:bodyPr wrap="square" rtlCol="0" anchor="ctr"/>
          <a:lstStyle/>
          <a:p>
            <a:pPr indent="0" marL="0">
              <a:buNone/>
            </a:pPr>
            <a:r>
              <a:rPr lang="en-US" sz="1050" i="1" dirty="0">
                <a:solidFill>
                  <a:srgbClr val="8899BB"/>
                </a:solidFill>
                <a:latin typeface="Calibri" pitchFamily="34" charset="0"/>
                <a:ea typeface="Calibri" pitchFamily="34" charset="-122"/>
                <a:cs typeface="Calibri" pitchFamily="34" charset="-120"/>
              </a:rPr>
              <a:t>VIP customers became VIP over time. They started as new customers.</a:t>
            </a:r>
            <a:endParaRPr lang="en-US" sz="1050" dirty="0"/>
          </a:p>
        </p:txBody>
      </p:sp>
      <p:sp>
        <p:nvSpPr>
          <p:cNvPr id="7" name="Shape 5"/>
          <p:cNvSpPr/>
          <p:nvPr/>
        </p:nvSpPr>
        <p:spPr>
          <a:xfrm>
            <a:off x="365760" y="1325880"/>
            <a:ext cx="2606040" cy="3474720"/>
          </a:xfrm>
          <a:prstGeom prst="rect">
            <a:avLst/>
          </a:prstGeom>
          <a:solidFill>
            <a:srgbClr val="FFFBEB"/>
          </a:solidFill>
          <a:ln w="12700">
            <a:solidFill>
              <a:srgbClr val="D4820A"/>
            </a:solidFill>
            <a:prstDash val="solid"/>
          </a:ln>
          <a:effectLst>
            <a:outerShdw sx="100000" sy="100000" kx="0" ky="0" algn="bl" rotWithShape="0" blurRad="101600" dist="38100" dir="8100000">
              <a:srgbClr val="000000">
                <a:alpha val="12000"/>
              </a:srgbClr>
            </a:outerShdw>
          </a:effectLst>
        </p:spPr>
      </p:sp>
      <p:sp>
        <p:nvSpPr>
          <p:cNvPr id="8" name="Shape 6"/>
          <p:cNvSpPr/>
          <p:nvPr/>
        </p:nvSpPr>
        <p:spPr>
          <a:xfrm>
            <a:off x="365760" y="1325880"/>
            <a:ext cx="2606040" cy="54864"/>
          </a:xfrm>
          <a:prstGeom prst="rect">
            <a:avLst/>
          </a:prstGeom>
          <a:solidFill>
            <a:srgbClr val="D4820A"/>
          </a:solidFill>
          <a:ln w="12700">
            <a:solidFill>
              <a:srgbClr val="D4820A"/>
            </a:solidFill>
            <a:prstDash val="solid"/>
          </a:ln>
        </p:spPr>
      </p:sp>
      <p:sp>
        <p:nvSpPr>
          <p:cNvPr id="9" name="Text 7"/>
          <p:cNvSpPr/>
          <p:nvPr/>
        </p:nvSpPr>
        <p:spPr>
          <a:xfrm>
            <a:off x="457200" y="1444752"/>
            <a:ext cx="2423160" cy="365760"/>
          </a:xfrm>
          <a:prstGeom prst="rect">
            <a:avLst/>
          </a:prstGeom>
          <a:noFill/>
          <a:ln/>
        </p:spPr>
        <p:txBody>
          <a:bodyPr wrap="square" rtlCol="0" anchor="ctr"/>
          <a:lstStyle/>
          <a:p>
            <a:pPr algn="ctr" indent="0" marL="0">
              <a:buNone/>
            </a:pPr>
            <a:r>
              <a:rPr lang="en-US" sz="1100" b="1" dirty="0">
                <a:solidFill>
                  <a:srgbClr val="0A1628"/>
                </a:solidFill>
                <a:latin typeface="Calibri" pitchFamily="34" charset="0"/>
                <a:ea typeface="Calibri" pitchFamily="34" charset="-122"/>
                <a:cs typeface="Calibri" pitchFamily="34" charset="-120"/>
              </a:rPr>
              <a:t>New Customer</a:t>
            </a:r>
            <a:endParaRPr lang="en-US" sz="1100" dirty="0"/>
          </a:p>
        </p:txBody>
      </p:sp>
      <p:sp>
        <p:nvSpPr>
          <p:cNvPr id="10" name="Text 8"/>
          <p:cNvSpPr/>
          <p:nvPr/>
        </p:nvSpPr>
        <p:spPr>
          <a:xfrm>
            <a:off x="457200" y="1920240"/>
            <a:ext cx="2423160" cy="685800"/>
          </a:xfrm>
          <a:prstGeom prst="rect">
            <a:avLst/>
          </a:prstGeom>
          <a:noFill/>
          <a:ln/>
        </p:spPr>
        <p:txBody>
          <a:bodyPr wrap="square" rtlCol="0" anchor="ctr"/>
          <a:lstStyle/>
          <a:p>
            <a:pPr algn="ctr" indent="0" marL="0">
              <a:buNone/>
            </a:pPr>
            <a:r>
              <a:rPr lang="en-US" sz="3800" b="1" dirty="0">
                <a:solidFill>
                  <a:srgbClr val="D4820A"/>
                </a:solidFill>
                <a:latin typeface="Calibri" pitchFamily="34" charset="0"/>
                <a:ea typeface="Calibri" pitchFamily="34" charset="-122"/>
                <a:cs typeface="Calibri" pitchFamily="34" charset="-120"/>
              </a:rPr>
              <a:t>−42.7</a:t>
            </a:r>
            <a:endParaRPr lang="en-US" sz="3800" dirty="0"/>
          </a:p>
        </p:txBody>
      </p:sp>
      <p:sp>
        <p:nvSpPr>
          <p:cNvPr id="11" name="Text 9"/>
          <p:cNvSpPr/>
          <p:nvPr/>
        </p:nvSpPr>
        <p:spPr>
          <a:xfrm>
            <a:off x="457200" y="2633472"/>
            <a:ext cx="2423160" cy="228600"/>
          </a:xfrm>
          <a:prstGeom prst="rect">
            <a:avLst/>
          </a:prstGeom>
          <a:noFill/>
          <a:ln/>
        </p:spPr>
        <p:txBody>
          <a:bodyPr wrap="square" rtlCol="0" anchor="ctr"/>
          <a:lstStyle/>
          <a:p>
            <a:pPr algn="ctr" indent="0" marL="0">
              <a:buNone/>
            </a:pPr>
            <a:r>
              <a:rPr lang="en-US" sz="900" dirty="0">
                <a:solidFill>
                  <a:srgbClr val="5A6A85"/>
                </a:solidFill>
                <a:latin typeface="Calibri" pitchFamily="34" charset="0"/>
                <a:ea typeface="Calibri" pitchFamily="34" charset="-122"/>
                <a:cs typeface="Calibri" pitchFamily="34" charset="-120"/>
              </a:rPr>
              <a:t>NPS</a:t>
            </a:r>
            <a:endParaRPr lang="en-US" sz="900" dirty="0"/>
          </a:p>
        </p:txBody>
      </p:sp>
      <p:sp>
        <p:nvSpPr>
          <p:cNvPr id="12" name="Text 10"/>
          <p:cNvSpPr/>
          <p:nvPr/>
        </p:nvSpPr>
        <p:spPr>
          <a:xfrm>
            <a:off x="457200" y="2971800"/>
            <a:ext cx="2423160" cy="640080"/>
          </a:xfrm>
          <a:prstGeom prst="rect">
            <a:avLst/>
          </a:prstGeom>
          <a:noFill/>
          <a:ln/>
        </p:spPr>
        <p:txBody>
          <a:bodyPr wrap="square" rtlCol="0" anchor="ctr"/>
          <a:lstStyle/>
          <a:p>
            <a:pPr algn="ctr" indent="0" marL="0">
              <a:buNone/>
            </a:pPr>
            <a:r>
              <a:rPr lang="en-US" sz="950" i="1" dirty="0">
                <a:solidFill>
                  <a:srgbClr val="5A6A85"/>
                </a:solidFill>
                <a:latin typeface="Calibri" pitchFamily="34" charset="0"/>
                <a:ea typeface="Calibri" pitchFamily="34" charset="-122"/>
                <a:cs typeface="Calibri" pitchFamily="34" charset="-120"/>
              </a:rPr>
              <a:t>61.4% detractors</a:t>
            </a:r>
            <a:endParaRPr lang="en-US" sz="950" dirty="0"/>
          </a:p>
          <a:p>
            <a:pPr algn="ctr" indent="0" marL="0">
              <a:buNone/>
            </a:pPr>
            <a:r>
              <a:rPr lang="en-US" sz="950" i="1" dirty="0">
                <a:solidFill>
                  <a:srgbClr val="5A6A85"/>
                </a:solidFill>
                <a:latin typeface="Calibri" pitchFamily="34" charset="0"/>
                <a:ea typeface="Calibri" pitchFamily="34" charset="-122"/>
                <a:cs typeface="Calibri" pitchFamily="34" charset="-120"/>
              </a:rPr>
              <a:t>After 1 interaction</a:t>
            </a:r>
            <a:endParaRPr lang="en-US" sz="950" dirty="0"/>
          </a:p>
        </p:txBody>
      </p:sp>
      <p:sp>
        <p:nvSpPr>
          <p:cNvPr id="13" name="Shape 11"/>
          <p:cNvSpPr/>
          <p:nvPr/>
        </p:nvSpPr>
        <p:spPr>
          <a:xfrm>
            <a:off x="3017520" y="2834640"/>
            <a:ext cx="685800" cy="27432"/>
          </a:xfrm>
          <a:prstGeom prst="rect">
            <a:avLst/>
          </a:prstGeom>
          <a:solidFill>
            <a:srgbClr val="C0392B"/>
          </a:solidFill>
          <a:ln w="12700">
            <a:solidFill>
              <a:srgbClr val="C0392B"/>
            </a:solidFill>
            <a:prstDash val="solid"/>
          </a:ln>
        </p:spPr>
      </p:sp>
      <p:sp>
        <p:nvSpPr>
          <p:cNvPr id="14" name="Text 12"/>
          <p:cNvSpPr/>
          <p:nvPr/>
        </p:nvSpPr>
        <p:spPr>
          <a:xfrm>
            <a:off x="3154680" y="2651760"/>
            <a:ext cx="365760" cy="320040"/>
          </a:xfrm>
          <a:prstGeom prst="rect">
            <a:avLst/>
          </a:prstGeom>
          <a:noFill/>
          <a:ln/>
        </p:spPr>
        <p:txBody>
          <a:bodyPr wrap="square" rtlCol="0" anchor="ctr"/>
          <a:lstStyle/>
          <a:p>
            <a:pPr algn="ctr" indent="0" marL="0">
              <a:buNone/>
            </a:pPr>
            <a:r>
              <a:rPr lang="en-US" sz="1400" dirty="0">
                <a:solidFill>
                  <a:srgbClr val="C0392B"/>
                </a:solidFill>
                <a:latin typeface="Calibri" pitchFamily="34" charset="0"/>
                <a:ea typeface="Calibri" pitchFamily="34" charset="-122"/>
                <a:cs typeface="Calibri" pitchFamily="34" charset="-120"/>
              </a:rPr>
              <a:t>▶</a:t>
            </a:r>
            <a:endParaRPr lang="en-US" sz="1400" dirty="0"/>
          </a:p>
        </p:txBody>
      </p:sp>
      <p:sp>
        <p:nvSpPr>
          <p:cNvPr id="15" name="Shape 13"/>
          <p:cNvSpPr/>
          <p:nvPr/>
        </p:nvSpPr>
        <p:spPr>
          <a:xfrm>
            <a:off x="3383280" y="1325880"/>
            <a:ext cx="2606040" cy="3474720"/>
          </a:xfrm>
          <a:prstGeom prst="rect">
            <a:avLst/>
          </a:prstGeom>
          <a:solidFill>
            <a:srgbClr val="FEF2F2"/>
          </a:solidFill>
          <a:ln w="12700">
            <a:solidFill>
              <a:srgbClr val="C0392B"/>
            </a:solidFill>
            <a:prstDash val="solid"/>
          </a:ln>
          <a:effectLst>
            <a:outerShdw sx="100000" sy="100000" kx="0" ky="0" algn="bl" rotWithShape="0" blurRad="101600" dist="38100" dir="8100000">
              <a:srgbClr val="000000">
                <a:alpha val="12000"/>
              </a:srgbClr>
            </a:outerShdw>
          </a:effectLst>
        </p:spPr>
      </p:sp>
      <p:sp>
        <p:nvSpPr>
          <p:cNvPr id="16" name="Shape 14"/>
          <p:cNvSpPr/>
          <p:nvPr/>
        </p:nvSpPr>
        <p:spPr>
          <a:xfrm>
            <a:off x="3383280" y="1325880"/>
            <a:ext cx="2606040" cy="54864"/>
          </a:xfrm>
          <a:prstGeom prst="rect">
            <a:avLst/>
          </a:prstGeom>
          <a:solidFill>
            <a:srgbClr val="C0392B"/>
          </a:solidFill>
          <a:ln w="12700">
            <a:solidFill>
              <a:srgbClr val="C0392B"/>
            </a:solidFill>
            <a:prstDash val="solid"/>
          </a:ln>
        </p:spPr>
      </p:sp>
      <p:sp>
        <p:nvSpPr>
          <p:cNvPr id="17" name="Text 15"/>
          <p:cNvSpPr/>
          <p:nvPr/>
        </p:nvSpPr>
        <p:spPr>
          <a:xfrm>
            <a:off x="3474720" y="1444752"/>
            <a:ext cx="2423160" cy="365760"/>
          </a:xfrm>
          <a:prstGeom prst="rect">
            <a:avLst/>
          </a:prstGeom>
          <a:noFill/>
          <a:ln/>
        </p:spPr>
        <p:txBody>
          <a:bodyPr wrap="square" rtlCol="0" anchor="ctr"/>
          <a:lstStyle/>
          <a:p>
            <a:pPr algn="ctr" indent="0" marL="0">
              <a:buNone/>
            </a:pPr>
            <a:r>
              <a:rPr lang="en-US" sz="1100" b="1" dirty="0">
                <a:solidFill>
                  <a:srgbClr val="0A1628"/>
                </a:solidFill>
                <a:latin typeface="Calibri" pitchFamily="34" charset="0"/>
                <a:ea typeface="Calibri" pitchFamily="34" charset="-122"/>
                <a:cs typeface="Calibri" pitchFamily="34" charset="-120"/>
              </a:rPr>
              <a:t>Returning Customer</a:t>
            </a:r>
            <a:endParaRPr lang="en-US" sz="1100" dirty="0"/>
          </a:p>
        </p:txBody>
      </p:sp>
      <p:sp>
        <p:nvSpPr>
          <p:cNvPr id="18" name="Text 16"/>
          <p:cNvSpPr/>
          <p:nvPr/>
        </p:nvSpPr>
        <p:spPr>
          <a:xfrm>
            <a:off x="3474720" y="1920240"/>
            <a:ext cx="2423160" cy="685800"/>
          </a:xfrm>
          <a:prstGeom prst="rect">
            <a:avLst/>
          </a:prstGeom>
          <a:noFill/>
          <a:ln/>
        </p:spPr>
        <p:txBody>
          <a:bodyPr wrap="square" rtlCol="0" anchor="ctr"/>
          <a:lstStyle/>
          <a:p>
            <a:pPr algn="ctr" indent="0" marL="0">
              <a:buNone/>
            </a:pPr>
            <a:r>
              <a:rPr lang="en-US" sz="3800" b="1" dirty="0">
                <a:solidFill>
                  <a:srgbClr val="C0392B"/>
                </a:solidFill>
                <a:latin typeface="Calibri" pitchFamily="34" charset="0"/>
                <a:ea typeface="Calibri" pitchFamily="34" charset="-122"/>
                <a:cs typeface="Calibri" pitchFamily="34" charset="-120"/>
              </a:rPr>
              <a:t>−46.2</a:t>
            </a:r>
            <a:endParaRPr lang="en-US" sz="3800" dirty="0"/>
          </a:p>
        </p:txBody>
      </p:sp>
      <p:sp>
        <p:nvSpPr>
          <p:cNvPr id="19" name="Text 17"/>
          <p:cNvSpPr/>
          <p:nvPr/>
        </p:nvSpPr>
        <p:spPr>
          <a:xfrm>
            <a:off x="3474720" y="2633472"/>
            <a:ext cx="2423160" cy="228600"/>
          </a:xfrm>
          <a:prstGeom prst="rect">
            <a:avLst/>
          </a:prstGeom>
          <a:noFill/>
          <a:ln/>
        </p:spPr>
        <p:txBody>
          <a:bodyPr wrap="square" rtlCol="0" anchor="ctr"/>
          <a:lstStyle/>
          <a:p>
            <a:pPr algn="ctr" indent="0" marL="0">
              <a:buNone/>
            </a:pPr>
            <a:r>
              <a:rPr lang="en-US" sz="900" dirty="0">
                <a:solidFill>
                  <a:srgbClr val="5A6A85"/>
                </a:solidFill>
                <a:latin typeface="Calibri" pitchFamily="34" charset="0"/>
                <a:ea typeface="Calibri" pitchFamily="34" charset="-122"/>
                <a:cs typeface="Calibri" pitchFamily="34" charset="-120"/>
              </a:rPr>
              <a:t>NPS</a:t>
            </a:r>
            <a:endParaRPr lang="en-US" sz="900" dirty="0"/>
          </a:p>
        </p:txBody>
      </p:sp>
      <p:sp>
        <p:nvSpPr>
          <p:cNvPr id="20" name="Text 18"/>
          <p:cNvSpPr/>
          <p:nvPr/>
        </p:nvSpPr>
        <p:spPr>
          <a:xfrm>
            <a:off x="3474720" y="2971800"/>
            <a:ext cx="2423160" cy="640080"/>
          </a:xfrm>
          <a:prstGeom prst="rect">
            <a:avLst/>
          </a:prstGeom>
          <a:noFill/>
          <a:ln/>
        </p:spPr>
        <p:txBody>
          <a:bodyPr wrap="square" rtlCol="0" anchor="ctr"/>
          <a:lstStyle/>
          <a:p>
            <a:pPr algn="ctr" indent="0" marL="0">
              <a:buNone/>
            </a:pPr>
            <a:r>
              <a:rPr lang="en-US" sz="950" i="1" dirty="0">
                <a:solidFill>
                  <a:srgbClr val="5A6A85"/>
                </a:solidFill>
                <a:latin typeface="Calibri" pitchFamily="34" charset="0"/>
                <a:ea typeface="Calibri" pitchFamily="34" charset="-122"/>
                <a:cs typeface="Calibri" pitchFamily="34" charset="-120"/>
              </a:rPr>
              <a:t>64.7% detractors</a:t>
            </a:r>
            <a:endParaRPr lang="en-US" sz="950" dirty="0"/>
          </a:p>
          <a:p>
            <a:pPr algn="ctr" indent="0" marL="0">
              <a:buNone/>
            </a:pPr>
            <a:r>
              <a:rPr lang="en-US" sz="950" i="1" dirty="0">
                <a:solidFill>
                  <a:srgbClr val="5A6A85"/>
                </a:solidFill>
                <a:latin typeface="Calibri" pitchFamily="34" charset="0"/>
                <a:ea typeface="Calibri" pitchFamily="34" charset="-122"/>
                <a:cs typeface="Calibri" pitchFamily="34" charset="-120"/>
              </a:rPr>
              <a:t>Chose to come back</a:t>
            </a:r>
            <a:endParaRPr lang="en-US" sz="950" dirty="0"/>
          </a:p>
        </p:txBody>
      </p:sp>
      <p:sp>
        <p:nvSpPr>
          <p:cNvPr id="21" name="Shape 19"/>
          <p:cNvSpPr/>
          <p:nvPr/>
        </p:nvSpPr>
        <p:spPr>
          <a:xfrm>
            <a:off x="6035040" y="2834640"/>
            <a:ext cx="685800" cy="27432"/>
          </a:xfrm>
          <a:prstGeom prst="rect">
            <a:avLst/>
          </a:prstGeom>
          <a:solidFill>
            <a:srgbClr val="C0392B"/>
          </a:solidFill>
          <a:ln w="12700">
            <a:solidFill>
              <a:srgbClr val="C0392B"/>
            </a:solidFill>
            <a:prstDash val="solid"/>
          </a:ln>
        </p:spPr>
      </p:sp>
      <p:sp>
        <p:nvSpPr>
          <p:cNvPr id="22" name="Text 20"/>
          <p:cNvSpPr/>
          <p:nvPr/>
        </p:nvSpPr>
        <p:spPr>
          <a:xfrm>
            <a:off x="6172200" y="2651760"/>
            <a:ext cx="365760" cy="320040"/>
          </a:xfrm>
          <a:prstGeom prst="rect">
            <a:avLst/>
          </a:prstGeom>
          <a:noFill/>
          <a:ln/>
        </p:spPr>
        <p:txBody>
          <a:bodyPr wrap="square" rtlCol="0" anchor="ctr"/>
          <a:lstStyle/>
          <a:p>
            <a:pPr algn="ctr" indent="0" marL="0">
              <a:buNone/>
            </a:pPr>
            <a:r>
              <a:rPr lang="en-US" sz="1400" dirty="0">
                <a:solidFill>
                  <a:srgbClr val="C0392B"/>
                </a:solidFill>
                <a:latin typeface="Calibri" pitchFamily="34" charset="0"/>
                <a:ea typeface="Calibri" pitchFamily="34" charset="-122"/>
                <a:cs typeface="Calibri" pitchFamily="34" charset="-120"/>
              </a:rPr>
              <a:t>▶</a:t>
            </a:r>
            <a:endParaRPr lang="en-US" sz="1400" dirty="0"/>
          </a:p>
        </p:txBody>
      </p:sp>
      <p:sp>
        <p:nvSpPr>
          <p:cNvPr id="23" name="Shape 21"/>
          <p:cNvSpPr/>
          <p:nvPr/>
        </p:nvSpPr>
        <p:spPr>
          <a:xfrm>
            <a:off x="6400800" y="1325880"/>
            <a:ext cx="2606040" cy="3474720"/>
          </a:xfrm>
          <a:prstGeom prst="rect">
            <a:avLst/>
          </a:prstGeom>
          <a:solidFill>
            <a:srgbClr val="FEF2F2"/>
          </a:solidFill>
          <a:ln w="12700">
            <a:solidFill>
              <a:srgbClr val="C0392B"/>
            </a:solidFill>
            <a:prstDash val="solid"/>
          </a:ln>
          <a:effectLst>
            <a:outerShdw sx="100000" sy="100000" kx="0" ky="0" algn="bl" rotWithShape="0" blurRad="101600" dist="38100" dir="8100000">
              <a:srgbClr val="000000">
                <a:alpha val="12000"/>
              </a:srgbClr>
            </a:outerShdw>
          </a:effectLst>
        </p:spPr>
      </p:sp>
      <p:sp>
        <p:nvSpPr>
          <p:cNvPr id="24" name="Shape 22"/>
          <p:cNvSpPr/>
          <p:nvPr/>
        </p:nvSpPr>
        <p:spPr>
          <a:xfrm>
            <a:off x="6400800" y="1325880"/>
            <a:ext cx="2606040" cy="54864"/>
          </a:xfrm>
          <a:prstGeom prst="rect">
            <a:avLst/>
          </a:prstGeom>
          <a:solidFill>
            <a:srgbClr val="C0392B"/>
          </a:solidFill>
          <a:ln w="12700">
            <a:solidFill>
              <a:srgbClr val="C0392B"/>
            </a:solidFill>
            <a:prstDash val="solid"/>
          </a:ln>
        </p:spPr>
      </p:sp>
      <p:sp>
        <p:nvSpPr>
          <p:cNvPr id="25" name="Text 23"/>
          <p:cNvSpPr/>
          <p:nvPr/>
        </p:nvSpPr>
        <p:spPr>
          <a:xfrm>
            <a:off x="6492240" y="1444752"/>
            <a:ext cx="2423160" cy="365760"/>
          </a:xfrm>
          <a:prstGeom prst="rect">
            <a:avLst/>
          </a:prstGeom>
          <a:noFill/>
          <a:ln/>
        </p:spPr>
        <p:txBody>
          <a:bodyPr wrap="square" rtlCol="0" anchor="ctr"/>
          <a:lstStyle/>
          <a:p>
            <a:pPr algn="ctr" indent="0" marL="0">
              <a:buNone/>
            </a:pPr>
            <a:r>
              <a:rPr lang="en-US" sz="1100" b="1" dirty="0">
                <a:solidFill>
                  <a:srgbClr val="0A1628"/>
                </a:solidFill>
                <a:latin typeface="Calibri" pitchFamily="34" charset="0"/>
                <a:ea typeface="Calibri" pitchFamily="34" charset="-122"/>
                <a:cs typeface="Calibri" pitchFamily="34" charset="-120"/>
              </a:rPr>
              <a:t>VIP Customer</a:t>
            </a:r>
            <a:endParaRPr lang="en-US" sz="1100" dirty="0"/>
          </a:p>
        </p:txBody>
      </p:sp>
      <p:sp>
        <p:nvSpPr>
          <p:cNvPr id="26" name="Text 24"/>
          <p:cNvSpPr/>
          <p:nvPr/>
        </p:nvSpPr>
        <p:spPr>
          <a:xfrm>
            <a:off x="6492240" y="1920240"/>
            <a:ext cx="2423160" cy="685800"/>
          </a:xfrm>
          <a:prstGeom prst="rect">
            <a:avLst/>
          </a:prstGeom>
          <a:noFill/>
          <a:ln/>
        </p:spPr>
        <p:txBody>
          <a:bodyPr wrap="square" rtlCol="0" anchor="ctr"/>
          <a:lstStyle/>
          <a:p>
            <a:pPr algn="ctr" indent="0" marL="0">
              <a:buNone/>
            </a:pPr>
            <a:r>
              <a:rPr lang="en-US" sz="3800" b="1" dirty="0">
                <a:solidFill>
                  <a:srgbClr val="C0392B"/>
                </a:solidFill>
                <a:latin typeface="Calibri" pitchFamily="34" charset="0"/>
                <a:ea typeface="Calibri" pitchFamily="34" charset="-122"/>
                <a:cs typeface="Calibri" pitchFamily="34" charset="-120"/>
              </a:rPr>
              <a:t>−47.0</a:t>
            </a:r>
            <a:endParaRPr lang="en-US" sz="3800" dirty="0"/>
          </a:p>
        </p:txBody>
      </p:sp>
      <p:sp>
        <p:nvSpPr>
          <p:cNvPr id="27" name="Text 25"/>
          <p:cNvSpPr/>
          <p:nvPr/>
        </p:nvSpPr>
        <p:spPr>
          <a:xfrm>
            <a:off x="6492240" y="2633472"/>
            <a:ext cx="2423160" cy="228600"/>
          </a:xfrm>
          <a:prstGeom prst="rect">
            <a:avLst/>
          </a:prstGeom>
          <a:noFill/>
          <a:ln/>
        </p:spPr>
        <p:txBody>
          <a:bodyPr wrap="square" rtlCol="0" anchor="ctr"/>
          <a:lstStyle/>
          <a:p>
            <a:pPr algn="ctr" indent="0" marL="0">
              <a:buNone/>
            </a:pPr>
            <a:r>
              <a:rPr lang="en-US" sz="900" dirty="0">
                <a:solidFill>
                  <a:srgbClr val="5A6A85"/>
                </a:solidFill>
                <a:latin typeface="Calibri" pitchFamily="34" charset="0"/>
                <a:ea typeface="Calibri" pitchFamily="34" charset="-122"/>
                <a:cs typeface="Calibri" pitchFamily="34" charset="-120"/>
              </a:rPr>
              <a:t>NPS</a:t>
            </a:r>
            <a:endParaRPr lang="en-US" sz="900" dirty="0"/>
          </a:p>
        </p:txBody>
      </p:sp>
      <p:sp>
        <p:nvSpPr>
          <p:cNvPr id="28" name="Text 26"/>
          <p:cNvSpPr/>
          <p:nvPr/>
        </p:nvSpPr>
        <p:spPr>
          <a:xfrm>
            <a:off x="6492240" y="2971800"/>
            <a:ext cx="2423160" cy="640080"/>
          </a:xfrm>
          <a:prstGeom prst="rect">
            <a:avLst/>
          </a:prstGeom>
          <a:noFill/>
          <a:ln/>
        </p:spPr>
        <p:txBody>
          <a:bodyPr wrap="square" rtlCol="0" anchor="ctr"/>
          <a:lstStyle/>
          <a:p>
            <a:pPr algn="ctr" indent="0" marL="0">
              <a:buNone/>
            </a:pPr>
            <a:r>
              <a:rPr lang="en-US" sz="950" i="1" dirty="0">
                <a:solidFill>
                  <a:srgbClr val="5A6A85"/>
                </a:solidFill>
                <a:latin typeface="Calibri" pitchFamily="34" charset="0"/>
                <a:ea typeface="Calibri" pitchFamily="34" charset="-122"/>
                <a:cs typeface="Calibri" pitchFamily="34" charset="-120"/>
              </a:rPr>
              <a:t>65.2% detractors</a:t>
            </a:r>
            <a:endParaRPr lang="en-US" sz="950" dirty="0"/>
          </a:p>
          <a:p>
            <a:pPr algn="ctr" indent="0" marL="0">
              <a:buNone/>
            </a:pPr>
            <a:r>
              <a:rPr lang="en-US" sz="950" i="1" dirty="0">
                <a:solidFill>
                  <a:srgbClr val="5A6A85"/>
                </a:solidFill>
                <a:latin typeface="Calibri" pitchFamily="34" charset="0"/>
                <a:ea typeface="Calibri" pitchFamily="34" charset="-122"/>
                <a:cs typeface="Calibri" pitchFamily="34" charset="-120"/>
              </a:rPr>
              <a:t>Highest spender</a:t>
            </a:r>
            <a:endParaRPr lang="en-US" sz="950" dirty="0"/>
          </a:p>
        </p:txBody>
      </p:sp>
      <p:sp>
        <p:nvSpPr>
          <p:cNvPr id="29" name="Shape 27"/>
          <p:cNvSpPr/>
          <p:nvPr/>
        </p:nvSpPr>
        <p:spPr>
          <a:xfrm>
            <a:off x="9052560" y="2834640"/>
            <a:ext cx="685800" cy="27432"/>
          </a:xfrm>
          <a:prstGeom prst="rect">
            <a:avLst/>
          </a:prstGeom>
          <a:solidFill>
            <a:srgbClr val="C0392B"/>
          </a:solidFill>
          <a:ln w="12700">
            <a:solidFill>
              <a:srgbClr val="C0392B"/>
            </a:solidFill>
            <a:prstDash val="solid"/>
          </a:ln>
        </p:spPr>
      </p:sp>
      <p:sp>
        <p:nvSpPr>
          <p:cNvPr id="30" name="Text 28"/>
          <p:cNvSpPr/>
          <p:nvPr/>
        </p:nvSpPr>
        <p:spPr>
          <a:xfrm>
            <a:off x="9189720" y="2651760"/>
            <a:ext cx="365760" cy="320040"/>
          </a:xfrm>
          <a:prstGeom prst="rect">
            <a:avLst/>
          </a:prstGeom>
          <a:noFill/>
          <a:ln/>
        </p:spPr>
        <p:txBody>
          <a:bodyPr wrap="square" rtlCol="0" anchor="ctr"/>
          <a:lstStyle/>
          <a:p>
            <a:pPr algn="ctr" indent="0" marL="0">
              <a:buNone/>
            </a:pPr>
            <a:r>
              <a:rPr lang="en-US" sz="1400" dirty="0">
                <a:solidFill>
                  <a:srgbClr val="C0392B"/>
                </a:solidFill>
                <a:latin typeface="Calibri" pitchFamily="34" charset="0"/>
                <a:ea typeface="Calibri" pitchFamily="34" charset="-122"/>
                <a:cs typeface="Calibri" pitchFamily="34" charset="-120"/>
              </a:rPr>
              <a:t>▶</a:t>
            </a:r>
            <a:endParaRPr lang="en-US" sz="1400" dirty="0"/>
          </a:p>
        </p:txBody>
      </p:sp>
      <p:sp>
        <p:nvSpPr>
          <p:cNvPr id="31" name="Shape 29"/>
          <p:cNvSpPr/>
          <p:nvPr/>
        </p:nvSpPr>
        <p:spPr>
          <a:xfrm>
            <a:off x="9418320" y="1325880"/>
            <a:ext cx="2606040" cy="3474720"/>
          </a:xfrm>
          <a:prstGeom prst="rect">
            <a:avLst/>
          </a:prstGeom>
          <a:solidFill>
            <a:srgbClr val="FEF2F2"/>
          </a:solidFill>
          <a:ln w="12700">
            <a:solidFill>
              <a:srgbClr val="8B0000"/>
            </a:solidFill>
            <a:prstDash val="solid"/>
          </a:ln>
          <a:effectLst>
            <a:outerShdw sx="100000" sy="100000" kx="0" ky="0" algn="bl" rotWithShape="0" blurRad="101600" dist="38100" dir="8100000">
              <a:srgbClr val="000000">
                <a:alpha val="12000"/>
              </a:srgbClr>
            </a:outerShdw>
          </a:effectLst>
        </p:spPr>
      </p:sp>
      <p:sp>
        <p:nvSpPr>
          <p:cNvPr id="32" name="Shape 30"/>
          <p:cNvSpPr/>
          <p:nvPr/>
        </p:nvSpPr>
        <p:spPr>
          <a:xfrm>
            <a:off x="9418320" y="1325880"/>
            <a:ext cx="2606040" cy="54864"/>
          </a:xfrm>
          <a:prstGeom prst="rect">
            <a:avLst/>
          </a:prstGeom>
          <a:solidFill>
            <a:srgbClr val="8B0000"/>
          </a:solidFill>
          <a:ln w="12700">
            <a:solidFill>
              <a:srgbClr val="8B0000"/>
            </a:solidFill>
            <a:prstDash val="solid"/>
          </a:ln>
        </p:spPr>
      </p:sp>
      <p:sp>
        <p:nvSpPr>
          <p:cNvPr id="33" name="Text 31"/>
          <p:cNvSpPr/>
          <p:nvPr/>
        </p:nvSpPr>
        <p:spPr>
          <a:xfrm>
            <a:off x="9509760" y="1444752"/>
            <a:ext cx="2423160" cy="365760"/>
          </a:xfrm>
          <a:prstGeom prst="rect">
            <a:avLst/>
          </a:prstGeom>
          <a:noFill/>
          <a:ln/>
        </p:spPr>
        <p:txBody>
          <a:bodyPr wrap="square" rtlCol="0" anchor="ctr"/>
          <a:lstStyle/>
          <a:p>
            <a:pPr algn="ctr" indent="0" marL="0">
              <a:buNone/>
            </a:pPr>
            <a:r>
              <a:rPr lang="en-US" sz="1100" b="1" dirty="0">
                <a:solidFill>
                  <a:srgbClr val="0A1628"/>
                </a:solidFill>
                <a:latin typeface="Calibri" pitchFamily="34" charset="0"/>
                <a:ea typeface="Calibri" pitchFamily="34" charset="-122"/>
                <a:cs typeface="Calibri" pitchFamily="34" charset="-120"/>
              </a:rPr>
              <a:t>Hostile VIP</a:t>
            </a:r>
            <a:endParaRPr lang="en-US" sz="1100" dirty="0"/>
          </a:p>
        </p:txBody>
      </p:sp>
      <p:sp>
        <p:nvSpPr>
          <p:cNvPr id="34" name="Text 32"/>
          <p:cNvSpPr/>
          <p:nvPr/>
        </p:nvSpPr>
        <p:spPr>
          <a:xfrm>
            <a:off x="9509760" y="1920240"/>
            <a:ext cx="2423160" cy="685800"/>
          </a:xfrm>
          <a:prstGeom prst="rect">
            <a:avLst/>
          </a:prstGeom>
          <a:noFill/>
          <a:ln/>
        </p:spPr>
        <p:txBody>
          <a:bodyPr wrap="square" rtlCol="0" anchor="ctr"/>
          <a:lstStyle/>
          <a:p>
            <a:pPr algn="ctr" indent="0" marL="0">
              <a:buNone/>
            </a:pPr>
            <a:r>
              <a:rPr lang="en-US" sz="3800" b="1" dirty="0">
                <a:solidFill>
                  <a:srgbClr val="8B0000"/>
                </a:solidFill>
                <a:latin typeface="Calibri" pitchFamily="34" charset="0"/>
                <a:ea typeface="Calibri" pitchFamily="34" charset="-122"/>
                <a:cs typeface="Calibri" pitchFamily="34" charset="-120"/>
              </a:rPr>
              <a:t>0–2</a:t>
            </a:r>
            <a:endParaRPr lang="en-US" sz="3800" dirty="0"/>
          </a:p>
        </p:txBody>
      </p:sp>
      <p:sp>
        <p:nvSpPr>
          <p:cNvPr id="35" name="Text 33"/>
          <p:cNvSpPr/>
          <p:nvPr/>
        </p:nvSpPr>
        <p:spPr>
          <a:xfrm>
            <a:off x="9509760" y="2633472"/>
            <a:ext cx="2423160" cy="228600"/>
          </a:xfrm>
          <a:prstGeom prst="rect">
            <a:avLst/>
          </a:prstGeom>
          <a:noFill/>
          <a:ln/>
        </p:spPr>
        <p:txBody>
          <a:bodyPr wrap="square" rtlCol="0" anchor="ctr"/>
          <a:lstStyle/>
          <a:p>
            <a:pPr algn="ctr" indent="0" marL="0">
              <a:buNone/>
            </a:pPr>
            <a:r>
              <a:rPr lang="en-US" sz="900" dirty="0">
                <a:solidFill>
                  <a:srgbClr val="5A6A85"/>
                </a:solidFill>
                <a:latin typeface="Calibri" pitchFamily="34" charset="0"/>
                <a:ea typeface="Calibri" pitchFamily="34" charset="-122"/>
                <a:cs typeface="Calibri" pitchFamily="34" charset="-120"/>
              </a:rPr>
              <a:t>NPS</a:t>
            </a:r>
            <a:endParaRPr lang="en-US" sz="900" dirty="0"/>
          </a:p>
        </p:txBody>
      </p:sp>
      <p:sp>
        <p:nvSpPr>
          <p:cNvPr id="36" name="Text 34"/>
          <p:cNvSpPr/>
          <p:nvPr/>
        </p:nvSpPr>
        <p:spPr>
          <a:xfrm>
            <a:off x="9509760" y="2971800"/>
            <a:ext cx="2423160" cy="640080"/>
          </a:xfrm>
          <a:prstGeom prst="rect">
            <a:avLst/>
          </a:prstGeom>
          <a:noFill/>
          <a:ln/>
        </p:spPr>
        <p:txBody>
          <a:bodyPr wrap="square" rtlCol="0" anchor="ctr"/>
          <a:lstStyle/>
          <a:p>
            <a:pPr algn="ctr" indent="0" marL="0">
              <a:buNone/>
            </a:pPr>
            <a:r>
              <a:rPr lang="en-US" sz="950" i="1" dirty="0">
                <a:solidFill>
                  <a:srgbClr val="5A6A85"/>
                </a:solidFill>
                <a:latin typeface="Calibri" pitchFamily="34" charset="0"/>
                <a:ea typeface="Calibri" pitchFamily="34" charset="-122"/>
                <a:cs typeface="Calibri" pitchFamily="34" charset="-120"/>
              </a:rPr>
              <a:t>$6.5M revenue</a:t>
            </a:r>
            <a:endParaRPr lang="en-US" sz="950" dirty="0"/>
          </a:p>
          <a:p>
            <a:pPr algn="ctr" indent="0" marL="0">
              <a:buNone/>
            </a:pPr>
            <a:r>
              <a:rPr lang="en-US" sz="950" i="1" dirty="0">
                <a:solidFill>
                  <a:srgbClr val="5A6A85"/>
                </a:solidFill>
                <a:latin typeface="Calibri" pitchFamily="34" charset="0"/>
                <a:ea typeface="Calibri" pitchFamily="34" charset="-122"/>
                <a:cs typeface="Calibri" pitchFamily="34" charset="-120"/>
              </a:rPr>
              <a:t>One day from leaving</a:t>
            </a:r>
            <a:endParaRPr lang="en-US" sz="950" dirty="0"/>
          </a:p>
        </p:txBody>
      </p:sp>
      <p:sp>
        <p:nvSpPr>
          <p:cNvPr id="37" name="Shape 35"/>
          <p:cNvSpPr/>
          <p:nvPr/>
        </p:nvSpPr>
        <p:spPr>
          <a:xfrm>
            <a:off x="365760" y="5074920"/>
            <a:ext cx="11430000" cy="1097280"/>
          </a:xfrm>
          <a:prstGeom prst="rect">
            <a:avLst/>
          </a:prstGeom>
          <a:solidFill>
            <a:srgbClr val="FEF2F2"/>
          </a:solidFill>
          <a:ln w="12700">
            <a:solidFill>
              <a:srgbClr val="D0D8E8"/>
            </a:solidFill>
            <a:prstDash val="solid"/>
          </a:ln>
        </p:spPr>
      </p:sp>
      <p:sp>
        <p:nvSpPr>
          <p:cNvPr id="38" name="Shape 36"/>
          <p:cNvSpPr/>
          <p:nvPr/>
        </p:nvSpPr>
        <p:spPr>
          <a:xfrm>
            <a:off x="365760" y="5074920"/>
            <a:ext cx="54864" cy="1097280"/>
          </a:xfrm>
          <a:prstGeom prst="rect">
            <a:avLst/>
          </a:prstGeom>
          <a:solidFill>
            <a:srgbClr val="C0392B"/>
          </a:solidFill>
          <a:ln w="12700">
            <a:solidFill>
              <a:srgbClr val="C0392B"/>
            </a:solidFill>
            <a:prstDash val="solid"/>
          </a:ln>
        </p:spPr>
      </p:sp>
      <p:sp>
        <p:nvSpPr>
          <p:cNvPr id="39" name="Text 37"/>
          <p:cNvSpPr/>
          <p:nvPr/>
        </p:nvSpPr>
        <p:spPr>
          <a:xfrm>
            <a:off x="502920" y="5138928"/>
            <a:ext cx="11201400" cy="969264"/>
          </a:xfrm>
          <a:prstGeom prst="rect">
            <a:avLst/>
          </a:prstGeom>
          <a:noFill/>
          <a:ln/>
        </p:spPr>
        <p:txBody>
          <a:bodyPr wrap="square" rtlCol="0" anchor="ctr"/>
          <a:lstStyle/>
          <a:p>
            <a:pPr indent="0" marL="0">
              <a:buNone/>
            </a:pPr>
            <a:r>
              <a:rPr lang="en-US" sz="1000" i="1" dirty="0">
                <a:solidFill>
                  <a:srgbClr val="2A2820"/>
                </a:solidFill>
                <a:latin typeface="Calibri" pitchFamily="34" charset="0"/>
                <a:ea typeface="Calibri" pitchFamily="34" charset="-122"/>
                <a:cs typeface="Calibri" pitchFamily="34" charset="-120"/>
              </a:rPr>
              <a:t>AfriTech does not have a new customer problem. It has a poisoned pipeline. Every damaged new customer is a future damaged returning customer. Every damaged returning customer is a future hostile VIP. The Hostile band replenishes itself automatically because the entry experience keeps breaking customers from day one.</a:t>
            </a:r>
            <a:endParaRPr lang="en-US" sz="1000" dirty="0"/>
          </a:p>
        </p:txBody>
      </p:sp>
      <p:sp>
        <p:nvSpPr>
          <p:cNvPr id="40" name="Shape 38"/>
          <p:cNvSpPr/>
          <p:nvPr/>
        </p:nvSpPr>
        <p:spPr>
          <a:xfrm>
            <a:off x="0" y="6537960"/>
            <a:ext cx="12161520" cy="320040"/>
          </a:xfrm>
          <a:prstGeom prst="rect">
            <a:avLst/>
          </a:prstGeom>
          <a:solidFill>
            <a:srgbClr val="0A1628"/>
          </a:solidFill>
          <a:ln w="12700">
            <a:solidFill>
              <a:srgbClr val="0A1628"/>
            </a:solidFill>
            <a:prstDash val="solid"/>
          </a:ln>
        </p:spPr>
      </p:sp>
      <p:sp>
        <p:nvSpPr>
          <p:cNvPr id="41" name="Text 39"/>
          <p:cNvSpPr/>
          <p:nvPr/>
        </p:nvSpPr>
        <p:spPr>
          <a:xfrm>
            <a:off x="365760" y="6565392"/>
            <a:ext cx="9144000" cy="256032"/>
          </a:xfrm>
          <a:prstGeom prst="rect">
            <a:avLst/>
          </a:prstGeom>
          <a:noFill/>
          <a:ln/>
        </p:spPr>
        <p:txBody>
          <a:bodyPr wrap="square" rtlCol="0" anchor="ctr"/>
          <a:lstStyle/>
          <a:p>
            <a:pPr indent="0" marL="0">
              <a:buNone/>
            </a:pPr>
            <a:r>
              <a:rPr lang="en-US" sz="750" dirty="0">
                <a:solidFill>
                  <a:srgbClr val="8899BB"/>
                </a:solidFill>
                <a:latin typeface="Calibri" pitchFamily="34" charset="0"/>
                <a:ea typeface="Calibri" pitchFamily="34" charset="-122"/>
                <a:cs typeface="Calibri" pitchFamily="34" charset="-120"/>
              </a:rPr>
              <a:t>Samuel Ahinakwa  |  Finance &amp; Analytics Professional  |  BSc · MSc · ICAG Finalist  |  Confidential</a:t>
            </a:r>
            <a:endParaRPr lang="en-US" sz="750" dirty="0"/>
          </a:p>
        </p:txBody>
      </p:sp>
      <p:sp>
        <p:nvSpPr>
          <p:cNvPr id="42" name="Text 40"/>
          <p:cNvSpPr/>
          <p:nvPr/>
        </p:nvSpPr>
        <p:spPr>
          <a:xfrm>
            <a:off x="11338560" y="6565392"/>
            <a:ext cx="731520" cy="256032"/>
          </a:xfrm>
          <a:prstGeom prst="rect">
            <a:avLst/>
          </a:prstGeom>
          <a:noFill/>
          <a:ln/>
        </p:spPr>
        <p:txBody>
          <a:bodyPr wrap="square" rtlCol="0" anchor="ctr"/>
          <a:lstStyle/>
          <a:p>
            <a:pPr algn="r" indent="0" marL="0">
              <a:buNone/>
            </a:pPr>
            <a:r>
              <a:rPr lang="en-US" sz="800" dirty="0">
                <a:solidFill>
                  <a:srgbClr val="C8A84B"/>
                </a:solidFill>
                <a:latin typeface="Calibri" pitchFamily="34" charset="0"/>
                <a:ea typeface="Calibri" pitchFamily="34" charset="-122"/>
                <a:cs typeface="Calibri" pitchFamily="34" charset="-120"/>
              </a:rPr>
              <a:t>8 / 20</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C0392B"/>
          </a:solidFill>
          <a:ln w="12700">
            <a:solidFill>
              <a:srgbClr val="C0392B"/>
            </a:solidFill>
            <a:prstDash val="solid"/>
          </a:ln>
        </p:spPr>
      </p:sp>
      <p:sp>
        <p:nvSpPr>
          <p:cNvPr id="3" name="Text 1"/>
          <p:cNvSpPr/>
          <p:nvPr/>
        </p:nvSpPr>
        <p:spPr>
          <a:xfrm>
            <a:off x="365760" y="320040"/>
            <a:ext cx="7315200" cy="228600"/>
          </a:xfrm>
          <a:prstGeom prst="rect">
            <a:avLst/>
          </a:prstGeom>
          <a:noFill/>
          <a:ln/>
        </p:spPr>
        <p:txBody>
          <a:bodyPr wrap="square" rtlCol="0" anchor="ctr"/>
          <a:lstStyle/>
          <a:p>
            <a:pPr indent="0" marL="0">
              <a:buNone/>
            </a:pPr>
            <a:r>
              <a:rPr lang="en-US" sz="800" b="1" spc="200" kern="0" dirty="0">
                <a:solidFill>
                  <a:srgbClr val="C8A84B"/>
                </a:solidFill>
                <a:latin typeface="Calibri" pitchFamily="34" charset="0"/>
                <a:ea typeface="Calibri" pitchFamily="34" charset="-122"/>
                <a:cs typeface="Calibri" pitchFamily="34" charset="-120"/>
              </a:rPr>
              <a:t>02 — CUSTOMER SEGMENTATION</a:t>
            </a:r>
            <a:endParaRPr lang="en-US" sz="800" dirty="0"/>
          </a:p>
        </p:txBody>
      </p:sp>
      <p:sp>
        <p:nvSpPr>
          <p:cNvPr id="4" name="Text 2"/>
          <p:cNvSpPr/>
          <p:nvPr/>
        </p:nvSpPr>
        <p:spPr>
          <a:xfrm>
            <a:off x="365760" y="640080"/>
            <a:ext cx="11430000" cy="1280160"/>
          </a:xfrm>
          <a:prstGeom prst="rect">
            <a:avLst/>
          </a:prstGeom>
          <a:noFill/>
          <a:ln/>
        </p:spPr>
        <p:txBody>
          <a:bodyPr wrap="square" rtlCol="0" anchor="ctr"/>
          <a:lstStyle/>
          <a:p>
            <a:pPr indent="0" marL="0">
              <a:lnSpc>
                <a:spcPct val="115000"/>
              </a:lnSpc>
              <a:buNone/>
            </a:pPr>
            <a:r>
              <a:rPr lang="en-US" sz="3400" b="1" dirty="0">
                <a:solidFill>
                  <a:srgbClr val="FFFFFF"/>
                </a:solidFill>
                <a:latin typeface="Calibri" pitchFamily="34" charset="0"/>
                <a:ea typeface="Calibri" pitchFamily="34" charset="-122"/>
                <a:cs typeface="Calibri" pitchFamily="34" charset="-120"/>
              </a:rPr>
              <a:t>AfriTech's marketing team is spending money to build their competitors' future customer base.</a:t>
            </a:r>
            <a:endParaRPr lang="en-US" sz="3400" dirty="0"/>
          </a:p>
        </p:txBody>
      </p:sp>
      <p:sp>
        <p:nvSpPr>
          <p:cNvPr id="5" name="Shape 3"/>
          <p:cNvSpPr/>
          <p:nvPr/>
        </p:nvSpPr>
        <p:spPr>
          <a:xfrm>
            <a:off x="365760" y="2103120"/>
            <a:ext cx="11430000" cy="2286000"/>
          </a:xfrm>
          <a:prstGeom prst="rect">
            <a:avLst/>
          </a:prstGeom>
          <a:solidFill>
            <a:srgbClr val="0D1F35"/>
          </a:solidFill>
          <a:ln w="12700">
            <a:solidFill>
              <a:srgbClr val="0D1F35"/>
            </a:solidFill>
            <a:prstDash val="solid"/>
          </a:ln>
        </p:spPr>
      </p:sp>
      <p:sp>
        <p:nvSpPr>
          <p:cNvPr id="6" name="Text 4"/>
          <p:cNvSpPr/>
          <p:nvPr/>
        </p:nvSpPr>
        <p:spPr>
          <a:xfrm>
            <a:off x="548640" y="2240280"/>
            <a:ext cx="3657600" cy="256032"/>
          </a:xfrm>
          <a:prstGeom prst="rect">
            <a:avLst/>
          </a:prstGeom>
          <a:noFill/>
          <a:ln/>
        </p:spPr>
        <p:txBody>
          <a:bodyPr wrap="square" rtlCol="0" anchor="ctr"/>
          <a:lstStyle/>
          <a:p>
            <a:pPr indent="0" marL="0">
              <a:buNone/>
            </a:pPr>
            <a:r>
              <a:rPr lang="en-US" sz="900" b="1" spc="200" kern="0" dirty="0">
                <a:solidFill>
                  <a:srgbClr val="C8A84B"/>
                </a:solidFill>
                <a:latin typeface="Calibri" pitchFamily="34" charset="0"/>
                <a:ea typeface="Calibri" pitchFamily="34" charset="-122"/>
                <a:cs typeface="Calibri" pitchFamily="34" charset="-120"/>
              </a:rPr>
              <a:t>THE PROOF:</a:t>
            </a:r>
            <a:endParaRPr lang="en-US" sz="900" dirty="0"/>
          </a:p>
        </p:txBody>
      </p:sp>
      <p:sp>
        <p:nvSpPr>
          <p:cNvPr id="7" name="Text 5"/>
          <p:cNvSpPr/>
          <p:nvPr/>
        </p:nvSpPr>
        <p:spPr>
          <a:xfrm>
            <a:off x="548640" y="2560320"/>
            <a:ext cx="11064240" cy="301752"/>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61.4% of new customers become detractors after their first interaction.</a:t>
            </a:r>
            <a:endParaRPr lang="en-US" sz="1050" dirty="0"/>
          </a:p>
        </p:txBody>
      </p:sp>
      <p:sp>
        <p:nvSpPr>
          <p:cNvPr id="8" name="Text 6"/>
          <p:cNvSpPr/>
          <p:nvPr/>
        </p:nvSpPr>
        <p:spPr>
          <a:xfrm>
            <a:off x="548640" y="2898648"/>
            <a:ext cx="11064240" cy="301752"/>
          </a:xfrm>
          <a:prstGeom prst="rect">
            <a:avLst/>
          </a:prstGeom>
          <a:noFill/>
          <a:ln/>
        </p:spPr>
        <p:txBody>
          <a:bodyPr wrap="square" rtlCol="0" anchor="ctr"/>
          <a:lstStyle/>
          <a:p>
            <a:pPr indent="0" marL="0">
              <a:buNone/>
            </a:pPr>
            <a:r>
              <a:rPr lang="en-US" sz="1050" dirty="0">
                <a:solidFill>
                  <a:srgbClr val="AABBCC"/>
                </a:solidFill>
                <a:latin typeface="Calibri" pitchFamily="34" charset="0"/>
                <a:ea typeface="Calibri" pitchFamily="34" charset="-122"/>
                <a:cs typeface="Calibri" pitchFamily="34" charset="-120"/>
              </a:rPr>
              <a:t>Detractors do not stay silent — they tell others, they post, they appear in competitor conversations.</a:t>
            </a:r>
            <a:endParaRPr lang="en-US" sz="1050" dirty="0"/>
          </a:p>
        </p:txBody>
      </p:sp>
      <p:sp>
        <p:nvSpPr>
          <p:cNvPr id="9" name="Text 7"/>
          <p:cNvSpPr/>
          <p:nvPr/>
        </p:nvSpPr>
        <p:spPr>
          <a:xfrm>
            <a:off x="548640" y="3236976"/>
            <a:ext cx="11064240" cy="301752"/>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51.5% of new customers are already exposed to competitor mentions.</a:t>
            </a:r>
            <a:endParaRPr lang="en-US" sz="1050" dirty="0"/>
          </a:p>
        </p:txBody>
      </p:sp>
      <p:sp>
        <p:nvSpPr>
          <p:cNvPr id="10" name="Text 8"/>
          <p:cNvSpPr/>
          <p:nvPr/>
        </p:nvSpPr>
        <p:spPr>
          <a:xfrm>
            <a:off x="548640" y="3575304"/>
            <a:ext cx="11064240" cy="301752"/>
          </a:xfrm>
          <a:prstGeom prst="rect">
            <a:avLst/>
          </a:prstGeom>
          <a:noFill/>
          <a:ln/>
        </p:spPr>
        <p:txBody>
          <a:bodyPr wrap="square" rtlCol="0" anchor="ctr"/>
          <a:lstStyle/>
          <a:p>
            <a:pPr indent="0" marL="0">
              <a:buNone/>
            </a:pPr>
            <a:r>
              <a:rPr lang="en-US" sz="1050" dirty="0">
                <a:solidFill>
                  <a:srgbClr val="AABBCC"/>
                </a:solidFill>
                <a:latin typeface="Calibri" pitchFamily="34" charset="0"/>
                <a:ea typeface="Calibri" pitchFamily="34" charset="-122"/>
                <a:cs typeface="Calibri" pitchFamily="34" charset="-120"/>
              </a:rPr>
              <a:t>AfriTech pays to acquire customers, damages them on arrival, and watches competitors harvest them.</a:t>
            </a:r>
            <a:endParaRPr lang="en-US" sz="1050" dirty="0"/>
          </a:p>
        </p:txBody>
      </p:sp>
      <p:sp>
        <p:nvSpPr>
          <p:cNvPr id="11" name="Text 9"/>
          <p:cNvSpPr/>
          <p:nvPr/>
        </p:nvSpPr>
        <p:spPr>
          <a:xfrm>
            <a:off x="548640" y="3913632"/>
            <a:ext cx="11064240" cy="301752"/>
          </a:xfrm>
          <a:prstGeom prst="rect">
            <a:avLst/>
          </a:prstGeom>
          <a:noFill/>
          <a:ln/>
        </p:spPr>
        <p:txBody>
          <a:bodyPr wrap="square" rtlCol="0" anchor="ctr"/>
          <a:lstStyle/>
          <a:p>
            <a:pPr indent="0" marL="0">
              <a:buNone/>
            </a:pPr>
            <a:r>
              <a:rPr lang="en-US" sz="1050" b="1" dirty="0">
                <a:solidFill>
                  <a:srgbClr val="C0392B"/>
                </a:solidFill>
                <a:latin typeface="Calibri" pitchFamily="34" charset="0"/>
                <a:ea typeface="Calibri" pitchFamily="34" charset="-122"/>
                <a:cs typeface="Calibri" pitchFamily="34" charset="-120"/>
              </a:rPr>
              <a:t>The acquisition cost is real. The lifetime value is negative.</a:t>
            </a:r>
            <a:endParaRPr lang="en-US" sz="1050" dirty="0"/>
          </a:p>
        </p:txBody>
      </p:sp>
      <p:sp>
        <p:nvSpPr>
          <p:cNvPr id="12" name="Text 10"/>
          <p:cNvSpPr/>
          <p:nvPr/>
        </p:nvSpPr>
        <p:spPr>
          <a:xfrm>
            <a:off x="365760" y="4617720"/>
            <a:ext cx="7315200" cy="274320"/>
          </a:xfrm>
          <a:prstGeom prst="rect">
            <a:avLst/>
          </a:prstGeom>
          <a:noFill/>
          <a:ln/>
        </p:spPr>
        <p:txBody>
          <a:bodyPr wrap="square" rtlCol="0" anchor="ctr"/>
          <a:lstStyle/>
          <a:p>
            <a:pPr indent="0" marL="0">
              <a:buNone/>
            </a:pPr>
            <a:r>
              <a:rPr lang="en-US" sz="900" b="1" spc="100" kern="0" dirty="0">
                <a:solidFill>
                  <a:srgbClr val="C8A84B"/>
                </a:solidFill>
                <a:latin typeface="Calibri" pitchFamily="34" charset="0"/>
                <a:ea typeface="Calibri" pitchFamily="34" charset="-122"/>
                <a:cs typeface="Calibri" pitchFamily="34" charset="-120"/>
              </a:rPr>
              <a:t>FIX BEFORE YOU FUND — Marketing Priority Order:</a:t>
            </a:r>
            <a:endParaRPr lang="en-US" sz="900" dirty="0"/>
          </a:p>
        </p:txBody>
      </p:sp>
      <p:sp>
        <p:nvSpPr>
          <p:cNvPr id="13" name="Text 11"/>
          <p:cNvSpPr/>
          <p:nvPr/>
        </p:nvSpPr>
        <p:spPr>
          <a:xfrm>
            <a:off x="365760" y="4983480"/>
            <a:ext cx="2743200" cy="411480"/>
          </a:xfrm>
          <a:prstGeom prst="rect">
            <a:avLst/>
          </a:prstGeom>
          <a:noFill/>
          <a:ln/>
        </p:spPr>
        <p:txBody>
          <a:bodyPr wrap="square" rtlCol="0" anchor="ctr"/>
          <a:lstStyle/>
          <a:p>
            <a:pPr algn="ctr" indent="0" marL="0">
              <a:buNone/>
            </a:pPr>
            <a:r>
              <a:rPr lang="en-US" sz="1100" b="1" dirty="0">
                <a:solidFill>
                  <a:srgbClr val="C0392B"/>
                </a:solidFill>
                <a:latin typeface="Calibri" pitchFamily="34" charset="0"/>
                <a:ea typeface="Calibri" pitchFamily="34" charset="-122"/>
                <a:cs typeface="Calibri" pitchFamily="34" charset="-120"/>
              </a:rPr>
              <a:t>01  Fix the entry experience</a:t>
            </a:r>
            <a:endParaRPr lang="en-US" sz="1100" dirty="0"/>
          </a:p>
        </p:txBody>
      </p:sp>
      <p:sp>
        <p:nvSpPr>
          <p:cNvPr id="14" name="Text 12"/>
          <p:cNvSpPr/>
          <p:nvPr/>
        </p:nvSpPr>
        <p:spPr>
          <a:xfrm>
            <a:off x="3291840" y="4983480"/>
            <a:ext cx="2743200" cy="411480"/>
          </a:xfrm>
          <a:prstGeom prst="rect">
            <a:avLst/>
          </a:prstGeom>
          <a:noFill/>
          <a:ln/>
        </p:spPr>
        <p:txBody>
          <a:bodyPr wrap="square" rtlCol="0" anchor="ctr"/>
          <a:lstStyle/>
          <a:p>
            <a:pPr algn="ctr" indent="0" marL="0">
              <a:buNone/>
            </a:pPr>
            <a:r>
              <a:rPr lang="en-US" sz="1100" b="1" dirty="0">
                <a:solidFill>
                  <a:srgbClr val="D4820A"/>
                </a:solidFill>
                <a:latin typeface="Calibri" pitchFamily="34" charset="0"/>
                <a:ea typeface="Calibri" pitchFamily="34" charset="-122"/>
                <a:cs typeface="Calibri" pitchFamily="34" charset="-120"/>
              </a:rPr>
              <a:t>02  Redirect spend to retention</a:t>
            </a:r>
            <a:endParaRPr lang="en-US" sz="1100" dirty="0"/>
          </a:p>
        </p:txBody>
      </p:sp>
      <p:sp>
        <p:nvSpPr>
          <p:cNvPr id="15" name="Text 13"/>
          <p:cNvSpPr/>
          <p:nvPr/>
        </p:nvSpPr>
        <p:spPr>
          <a:xfrm>
            <a:off x="6217920" y="4983480"/>
            <a:ext cx="2743200" cy="411480"/>
          </a:xfrm>
          <a:prstGeom prst="rect">
            <a:avLst/>
          </a:prstGeom>
          <a:noFill/>
          <a:ln/>
        </p:spPr>
        <p:txBody>
          <a:bodyPr wrap="square" rtlCol="0" anchor="ctr"/>
          <a:lstStyle/>
          <a:p>
            <a:pPr algn="ctr" indent="0" marL="0">
              <a:buNone/>
            </a:pPr>
            <a:r>
              <a:rPr lang="en-US" sz="1100" b="1" dirty="0">
                <a:solidFill>
                  <a:srgbClr val="1A6B3A"/>
                </a:solidFill>
                <a:latin typeface="Calibri" pitchFamily="34" charset="0"/>
                <a:ea typeface="Calibri" pitchFamily="34" charset="-122"/>
                <a:cs typeface="Calibri" pitchFamily="34" charset="-120"/>
              </a:rPr>
              <a:t>03  Convert passives to promoters</a:t>
            </a:r>
            <a:endParaRPr lang="en-US" sz="1100" dirty="0"/>
          </a:p>
        </p:txBody>
      </p:sp>
      <p:sp>
        <p:nvSpPr>
          <p:cNvPr id="16" name="Text 14"/>
          <p:cNvSpPr/>
          <p:nvPr/>
        </p:nvSpPr>
        <p:spPr>
          <a:xfrm>
            <a:off x="9144000" y="4983480"/>
            <a:ext cx="2743200" cy="4114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04  Only then acquire at scale</a:t>
            </a:r>
            <a:endParaRPr lang="en-US" sz="1100" dirty="0"/>
          </a:p>
        </p:txBody>
      </p:sp>
      <p:sp>
        <p:nvSpPr>
          <p:cNvPr id="17" name="Shape 15"/>
          <p:cNvSpPr/>
          <p:nvPr/>
        </p:nvSpPr>
        <p:spPr>
          <a:xfrm>
            <a:off x="0" y="6537960"/>
            <a:ext cx="12161520" cy="320040"/>
          </a:xfrm>
          <a:prstGeom prst="rect">
            <a:avLst/>
          </a:prstGeom>
          <a:solidFill>
            <a:srgbClr val="0A1628"/>
          </a:solidFill>
          <a:ln w="12700">
            <a:solidFill>
              <a:srgbClr val="0A1628"/>
            </a:solidFill>
            <a:prstDash val="solid"/>
          </a:ln>
        </p:spPr>
      </p:sp>
      <p:sp>
        <p:nvSpPr>
          <p:cNvPr id="18" name="Text 16"/>
          <p:cNvSpPr/>
          <p:nvPr/>
        </p:nvSpPr>
        <p:spPr>
          <a:xfrm>
            <a:off x="365760" y="6565392"/>
            <a:ext cx="9144000" cy="256032"/>
          </a:xfrm>
          <a:prstGeom prst="rect">
            <a:avLst/>
          </a:prstGeom>
          <a:noFill/>
          <a:ln/>
        </p:spPr>
        <p:txBody>
          <a:bodyPr wrap="square" rtlCol="0" anchor="ctr"/>
          <a:lstStyle/>
          <a:p>
            <a:pPr indent="0" marL="0">
              <a:buNone/>
            </a:pPr>
            <a:r>
              <a:rPr lang="en-US" sz="750" dirty="0">
                <a:solidFill>
                  <a:srgbClr val="8899BB"/>
                </a:solidFill>
                <a:latin typeface="Calibri" pitchFamily="34" charset="0"/>
                <a:ea typeface="Calibri" pitchFamily="34" charset="-122"/>
                <a:cs typeface="Calibri" pitchFamily="34" charset="-120"/>
              </a:rPr>
              <a:t>Samuel Ahinakwa  |  Finance &amp; Analytics Professional  |  BSc · MSc · ICAG Finalist  |  Confidential</a:t>
            </a:r>
            <a:endParaRPr lang="en-US" sz="750" dirty="0"/>
          </a:p>
        </p:txBody>
      </p:sp>
      <p:sp>
        <p:nvSpPr>
          <p:cNvPr id="19" name="Text 17"/>
          <p:cNvSpPr/>
          <p:nvPr/>
        </p:nvSpPr>
        <p:spPr>
          <a:xfrm>
            <a:off x="11338560" y="6565392"/>
            <a:ext cx="731520" cy="256032"/>
          </a:xfrm>
          <a:prstGeom prst="rect">
            <a:avLst/>
          </a:prstGeom>
          <a:noFill/>
          <a:ln/>
        </p:spPr>
        <p:txBody>
          <a:bodyPr wrap="square" rtlCol="0" anchor="ctr"/>
          <a:lstStyle/>
          <a:p>
            <a:pPr algn="r" indent="0" marL="0">
              <a:buNone/>
            </a:pPr>
            <a:r>
              <a:rPr lang="en-US" sz="800" dirty="0">
                <a:solidFill>
                  <a:srgbClr val="C8A84B"/>
                </a:solidFill>
                <a:latin typeface="Calibri" pitchFamily="34" charset="0"/>
                <a:ea typeface="Calibri" pitchFamily="34" charset="-122"/>
                <a:cs typeface="Calibri" pitchFamily="34" charset="-120"/>
              </a:rPr>
              <a:t>9 / 20</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1051560"/>
          </a:xfrm>
          <a:prstGeom prst="rect">
            <a:avLst/>
          </a:prstGeom>
          <a:solidFill>
            <a:srgbClr val="0A1628"/>
          </a:solidFill>
          <a:ln w="12700">
            <a:solidFill>
              <a:srgbClr val="0A1628"/>
            </a:solidFill>
            <a:prstDash val="solid"/>
          </a:ln>
        </p:spPr>
      </p:sp>
      <p:sp>
        <p:nvSpPr>
          <p:cNvPr id="3" name="Shape 1"/>
          <p:cNvSpPr/>
          <p:nvPr/>
        </p:nvSpPr>
        <p:spPr>
          <a:xfrm>
            <a:off x="0" y="1051560"/>
            <a:ext cx="12161520" cy="36576"/>
          </a:xfrm>
          <a:prstGeom prst="rect">
            <a:avLst/>
          </a:prstGeom>
          <a:solidFill>
            <a:srgbClr val="C8A84B"/>
          </a:solidFill>
          <a:ln w="12700">
            <a:solidFill>
              <a:srgbClr val="C8A84B"/>
            </a:solidFill>
            <a:prstDash val="solid"/>
          </a:ln>
        </p:spPr>
      </p:sp>
      <p:sp>
        <p:nvSpPr>
          <p:cNvPr id="4" name="Text 2"/>
          <p:cNvSpPr/>
          <p:nvPr/>
        </p:nvSpPr>
        <p:spPr>
          <a:xfrm>
            <a:off x="365760" y="64008"/>
            <a:ext cx="4572000" cy="228600"/>
          </a:xfrm>
          <a:prstGeom prst="rect">
            <a:avLst/>
          </a:prstGeom>
          <a:noFill/>
          <a:ln/>
        </p:spPr>
        <p:txBody>
          <a:bodyPr wrap="square" rtlCol="0" anchor="ctr"/>
          <a:lstStyle/>
          <a:p>
            <a:pPr indent="0" marL="0">
              <a:buNone/>
            </a:pPr>
            <a:r>
              <a:rPr lang="en-US" sz="800" b="1" spc="200" kern="0" dirty="0">
                <a:solidFill>
                  <a:srgbClr val="C8A84B"/>
                </a:solidFill>
                <a:latin typeface="Calibri" pitchFamily="34" charset="0"/>
                <a:ea typeface="Calibri" pitchFamily="34" charset="-122"/>
                <a:cs typeface="Calibri" pitchFamily="34" charset="-120"/>
              </a:rPr>
              <a:t>02 — CUSTOMER SEGMENTATION</a:t>
            </a:r>
            <a:endParaRPr lang="en-US" sz="800" dirty="0"/>
          </a:p>
        </p:txBody>
      </p:sp>
      <p:sp>
        <p:nvSpPr>
          <p:cNvPr id="5" name="Text 3"/>
          <p:cNvSpPr/>
          <p:nvPr/>
        </p:nvSpPr>
        <p:spPr>
          <a:xfrm>
            <a:off x="365760" y="256032"/>
            <a:ext cx="9601200" cy="566928"/>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VIP Recovery Tiers — Who to Call First</a:t>
            </a:r>
            <a:endParaRPr lang="en-US" sz="2600" dirty="0"/>
          </a:p>
        </p:txBody>
      </p:sp>
      <p:sp>
        <p:nvSpPr>
          <p:cNvPr id="6" name="Text 4"/>
          <p:cNvSpPr/>
          <p:nvPr/>
        </p:nvSpPr>
        <p:spPr>
          <a:xfrm>
            <a:off x="365760" y="795528"/>
            <a:ext cx="10058400" cy="228600"/>
          </a:xfrm>
          <a:prstGeom prst="rect">
            <a:avLst/>
          </a:prstGeom>
          <a:noFill/>
          <a:ln/>
        </p:spPr>
        <p:txBody>
          <a:bodyPr wrap="square" rtlCol="0" anchor="ctr"/>
          <a:lstStyle/>
          <a:p>
            <a:pPr indent="0" marL="0">
              <a:buNone/>
            </a:pPr>
            <a:r>
              <a:rPr lang="en-US" sz="1050" i="1" dirty="0">
                <a:solidFill>
                  <a:srgbClr val="8899BB"/>
                </a:solidFill>
                <a:latin typeface="Calibri" pitchFamily="34" charset="0"/>
                <a:ea typeface="Calibri" pitchFamily="34" charset="-122"/>
                <a:cs typeface="Calibri" pitchFamily="34" charset="-120"/>
              </a:rPr>
              <a:t>5,305 disengaged VIP customers · $4.1M recoverable · $633,911 in 30 days</a:t>
            </a:r>
            <a:endParaRPr lang="en-US" sz="1050" dirty="0"/>
          </a:p>
        </p:txBody>
      </p:sp>
      <p:sp>
        <p:nvSpPr>
          <p:cNvPr id="7" name="Shape 5"/>
          <p:cNvSpPr/>
          <p:nvPr/>
        </p:nvSpPr>
        <p:spPr>
          <a:xfrm>
            <a:off x="365760" y="1325880"/>
            <a:ext cx="2743200" cy="4114800"/>
          </a:xfrm>
          <a:prstGeom prst="rect">
            <a:avLst/>
          </a:prstGeom>
          <a:solidFill>
            <a:srgbClr val="F0FDF4"/>
          </a:solidFill>
          <a:ln w="12700">
            <a:solidFill>
              <a:srgbClr val="1A6B3A"/>
            </a:solidFill>
            <a:prstDash val="solid"/>
          </a:ln>
          <a:effectLst>
            <a:outerShdw sx="100000" sy="100000" kx="0" ky="0" algn="bl" rotWithShape="0" blurRad="101600" dist="38100" dir="8100000">
              <a:srgbClr val="000000">
                <a:alpha val="12000"/>
              </a:srgbClr>
            </a:outerShdw>
          </a:effectLst>
        </p:spPr>
      </p:sp>
      <p:sp>
        <p:nvSpPr>
          <p:cNvPr id="8" name="Shape 6"/>
          <p:cNvSpPr/>
          <p:nvPr/>
        </p:nvSpPr>
        <p:spPr>
          <a:xfrm>
            <a:off x="365760" y="1325880"/>
            <a:ext cx="2743200" cy="45720"/>
          </a:xfrm>
          <a:prstGeom prst="rect">
            <a:avLst/>
          </a:prstGeom>
          <a:solidFill>
            <a:srgbClr val="1A6B3A"/>
          </a:solidFill>
          <a:ln w="12700">
            <a:solidFill>
              <a:srgbClr val="1A6B3A"/>
            </a:solidFill>
            <a:prstDash val="solid"/>
          </a:ln>
        </p:spPr>
      </p:sp>
      <p:sp>
        <p:nvSpPr>
          <p:cNvPr id="9" name="Text 7"/>
          <p:cNvSpPr/>
          <p:nvPr/>
        </p:nvSpPr>
        <p:spPr>
          <a:xfrm>
            <a:off x="457200" y="1435608"/>
            <a:ext cx="2560320" cy="228600"/>
          </a:xfrm>
          <a:prstGeom prst="rect">
            <a:avLst/>
          </a:prstGeom>
          <a:noFill/>
          <a:ln/>
        </p:spPr>
        <p:txBody>
          <a:bodyPr wrap="square" rtlCol="0" anchor="ctr"/>
          <a:lstStyle/>
          <a:p>
            <a:pPr algn="ctr" indent="0" marL="0">
              <a:buNone/>
            </a:pPr>
            <a:r>
              <a:rPr lang="en-US" sz="900" b="1" spc="200" kern="0" dirty="0">
                <a:solidFill>
                  <a:srgbClr val="1A6B3A"/>
                </a:solidFill>
                <a:latin typeface="Calibri" pitchFamily="34" charset="0"/>
                <a:ea typeface="Calibri" pitchFamily="34" charset="-122"/>
                <a:cs typeface="Calibri" pitchFamily="34" charset="-120"/>
              </a:rPr>
              <a:t>TIER 1</a:t>
            </a:r>
            <a:endParaRPr lang="en-US" sz="900" dirty="0"/>
          </a:p>
        </p:txBody>
      </p:sp>
      <p:sp>
        <p:nvSpPr>
          <p:cNvPr id="10" name="Text 8"/>
          <p:cNvSpPr/>
          <p:nvPr/>
        </p:nvSpPr>
        <p:spPr>
          <a:xfrm>
            <a:off x="457200" y="1719072"/>
            <a:ext cx="2560320" cy="274320"/>
          </a:xfrm>
          <a:prstGeom prst="rect">
            <a:avLst/>
          </a:prstGeom>
          <a:noFill/>
          <a:ln/>
        </p:spPr>
        <p:txBody>
          <a:bodyPr wrap="square" rtlCol="0" anchor="ctr"/>
          <a:lstStyle/>
          <a:p>
            <a:pPr algn="ctr" indent="0" marL="0">
              <a:buNone/>
            </a:pPr>
            <a:r>
              <a:rPr lang="en-US" sz="1200" b="1" dirty="0">
                <a:solidFill>
                  <a:srgbClr val="0A1628"/>
                </a:solidFill>
                <a:latin typeface="Calibri" pitchFamily="34" charset="0"/>
                <a:ea typeface="Calibri" pitchFamily="34" charset="-122"/>
                <a:cs typeface="Calibri" pitchFamily="34" charset="-120"/>
              </a:rPr>
              <a:t>Act This Week</a:t>
            </a:r>
            <a:endParaRPr lang="en-US" sz="1200" dirty="0"/>
          </a:p>
        </p:txBody>
      </p:sp>
      <p:sp>
        <p:nvSpPr>
          <p:cNvPr id="11" name="Text 9"/>
          <p:cNvSpPr/>
          <p:nvPr/>
        </p:nvSpPr>
        <p:spPr>
          <a:xfrm>
            <a:off x="457200" y="2103120"/>
            <a:ext cx="2560320" cy="594360"/>
          </a:xfrm>
          <a:prstGeom prst="rect">
            <a:avLst/>
          </a:prstGeom>
          <a:noFill/>
          <a:ln/>
        </p:spPr>
        <p:txBody>
          <a:bodyPr wrap="square" rtlCol="0" anchor="ctr"/>
          <a:lstStyle/>
          <a:p>
            <a:pPr algn="ctr" indent="0" marL="0">
              <a:buNone/>
            </a:pPr>
            <a:r>
              <a:rPr lang="en-US" sz="3600" b="1" dirty="0">
                <a:solidFill>
                  <a:srgbClr val="1A6B3A"/>
                </a:solidFill>
                <a:latin typeface="Calibri" pitchFamily="34" charset="0"/>
                <a:ea typeface="Calibri" pitchFamily="34" charset="-122"/>
                <a:cs typeface="Calibri" pitchFamily="34" charset="-120"/>
              </a:rPr>
              <a:t>1,045</a:t>
            </a:r>
            <a:endParaRPr lang="en-US" sz="3600" dirty="0"/>
          </a:p>
        </p:txBody>
      </p:sp>
      <p:sp>
        <p:nvSpPr>
          <p:cNvPr id="12" name="Text 10"/>
          <p:cNvSpPr/>
          <p:nvPr/>
        </p:nvSpPr>
        <p:spPr>
          <a:xfrm>
            <a:off x="457200" y="2743200"/>
            <a:ext cx="2560320" cy="228600"/>
          </a:xfrm>
          <a:prstGeom prst="rect">
            <a:avLst/>
          </a:prstGeom>
          <a:noFill/>
          <a:ln/>
        </p:spPr>
        <p:txBody>
          <a:bodyPr wrap="square" rtlCol="0" anchor="ctr"/>
          <a:lstStyle/>
          <a:p>
            <a:pPr algn="ctr" indent="0" marL="0">
              <a:buNone/>
            </a:pPr>
            <a:r>
              <a:rPr lang="en-US" sz="900" dirty="0">
                <a:solidFill>
                  <a:srgbClr val="5A6A85"/>
                </a:solidFill>
                <a:latin typeface="Calibri" pitchFamily="34" charset="0"/>
                <a:ea typeface="Calibri" pitchFamily="34" charset="-122"/>
                <a:cs typeface="Calibri" pitchFamily="34" charset="-120"/>
              </a:rPr>
              <a:t>customers</a:t>
            </a:r>
            <a:endParaRPr lang="en-US" sz="900" dirty="0"/>
          </a:p>
        </p:txBody>
      </p:sp>
      <p:sp>
        <p:nvSpPr>
          <p:cNvPr id="13" name="Text 11"/>
          <p:cNvSpPr/>
          <p:nvPr/>
        </p:nvSpPr>
        <p:spPr>
          <a:xfrm>
            <a:off x="457200" y="3063240"/>
            <a:ext cx="2560320" cy="320040"/>
          </a:xfrm>
          <a:prstGeom prst="rect">
            <a:avLst/>
          </a:prstGeom>
          <a:noFill/>
          <a:ln/>
        </p:spPr>
        <p:txBody>
          <a:bodyPr wrap="square" rtlCol="0" anchor="ctr"/>
          <a:lstStyle/>
          <a:p>
            <a:pPr algn="ctr" indent="0" marL="0">
              <a:buNone/>
            </a:pPr>
            <a:r>
              <a:rPr lang="en-US" sz="1600" b="1" dirty="0">
                <a:solidFill>
                  <a:srgbClr val="0A1628"/>
                </a:solidFill>
                <a:latin typeface="Calibri" pitchFamily="34" charset="0"/>
                <a:ea typeface="Calibri" pitchFamily="34" charset="-122"/>
                <a:cs typeface="Calibri" pitchFamily="34" charset="-120"/>
              </a:rPr>
              <a:t>$843,315</a:t>
            </a:r>
            <a:endParaRPr lang="en-US" sz="1600" dirty="0"/>
          </a:p>
        </p:txBody>
      </p:sp>
      <p:sp>
        <p:nvSpPr>
          <p:cNvPr id="14" name="Text 12"/>
          <p:cNvSpPr/>
          <p:nvPr/>
        </p:nvSpPr>
        <p:spPr>
          <a:xfrm>
            <a:off x="457200" y="3493008"/>
            <a:ext cx="2560320" cy="914400"/>
          </a:xfrm>
          <a:prstGeom prst="rect">
            <a:avLst/>
          </a:prstGeom>
          <a:noFill/>
          <a:ln/>
        </p:spPr>
        <p:txBody>
          <a:bodyPr wrap="square" rtlCol="0" anchor="t"/>
          <a:lstStyle/>
          <a:p>
            <a:pPr algn="ctr" indent="0" marL="0">
              <a:buNone/>
            </a:pPr>
            <a:r>
              <a:rPr lang="en-US" sz="850" i="1" dirty="0">
                <a:solidFill>
                  <a:srgbClr val="5A6A85"/>
                </a:solidFill>
                <a:latin typeface="Calibri" pitchFamily="34" charset="0"/>
                <a:ea typeface="Calibri" pitchFamily="34" charset="-122"/>
                <a:cs typeface="Calibri" pitchFamily="34" charset="-120"/>
              </a:rPr>
              <a:t>Score 5–6 · No crisis · No competitor · No recall. They drifted. One genuine call repairs it immediately.</a:t>
            </a:r>
            <a:endParaRPr lang="en-US" sz="850" dirty="0"/>
          </a:p>
        </p:txBody>
      </p:sp>
      <p:sp>
        <p:nvSpPr>
          <p:cNvPr id="15" name="Shape 13"/>
          <p:cNvSpPr/>
          <p:nvPr/>
        </p:nvSpPr>
        <p:spPr>
          <a:xfrm>
            <a:off x="3291840" y="1325880"/>
            <a:ext cx="2743200" cy="4114800"/>
          </a:xfrm>
          <a:prstGeom prst="rect">
            <a:avLst/>
          </a:prstGeom>
          <a:solidFill>
            <a:srgbClr val="FFFBEB"/>
          </a:solidFill>
          <a:ln w="12700">
            <a:solidFill>
              <a:srgbClr val="D4820A"/>
            </a:solidFill>
            <a:prstDash val="solid"/>
          </a:ln>
          <a:effectLst>
            <a:outerShdw sx="100000" sy="100000" kx="0" ky="0" algn="bl" rotWithShape="0" blurRad="101600" dist="38100" dir="8100000">
              <a:srgbClr val="000000">
                <a:alpha val="12000"/>
              </a:srgbClr>
            </a:outerShdw>
          </a:effectLst>
        </p:spPr>
      </p:sp>
      <p:sp>
        <p:nvSpPr>
          <p:cNvPr id="16" name="Shape 14"/>
          <p:cNvSpPr/>
          <p:nvPr/>
        </p:nvSpPr>
        <p:spPr>
          <a:xfrm>
            <a:off x="3291840" y="1325880"/>
            <a:ext cx="2743200" cy="45720"/>
          </a:xfrm>
          <a:prstGeom prst="rect">
            <a:avLst/>
          </a:prstGeom>
          <a:solidFill>
            <a:srgbClr val="D4820A"/>
          </a:solidFill>
          <a:ln w="12700">
            <a:solidFill>
              <a:srgbClr val="D4820A"/>
            </a:solidFill>
            <a:prstDash val="solid"/>
          </a:ln>
        </p:spPr>
      </p:sp>
      <p:sp>
        <p:nvSpPr>
          <p:cNvPr id="17" name="Text 15"/>
          <p:cNvSpPr/>
          <p:nvPr/>
        </p:nvSpPr>
        <p:spPr>
          <a:xfrm>
            <a:off x="3383280" y="1435608"/>
            <a:ext cx="2560320" cy="228600"/>
          </a:xfrm>
          <a:prstGeom prst="rect">
            <a:avLst/>
          </a:prstGeom>
          <a:noFill/>
          <a:ln/>
        </p:spPr>
        <p:txBody>
          <a:bodyPr wrap="square" rtlCol="0" anchor="ctr"/>
          <a:lstStyle/>
          <a:p>
            <a:pPr algn="ctr" indent="0" marL="0">
              <a:buNone/>
            </a:pPr>
            <a:r>
              <a:rPr lang="en-US" sz="900" b="1" spc="200" kern="0" dirty="0">
                <a:solidFill>
                  <a:srgbClr val="D4820A"/>
                </a:solidFill>
                <a:latin typeface="Calibri" pitchFamily="34" charset="0"/>
                <a:ea typeface="Calibri" pitchFamily="34" charset="-122"/>
                <a:cs typeface="Calibri" pitchFamily="34" charset="-120"/>
              </a:rPr>
              <a:t>TIER 2</a:t>
            </a:r>
            <a:endParaRPr lang="en-US" sz="900" dirty="0"/>
          </a:p>
        </p:txBody>
      </p:sp>
      <p:sp>
        <p:nvSpPr>
          <p:cNvPr id="18" name="Text 16"/>
          <p:cNvSpPr/>
          <p:nvPr/>
        </p:nvSpPr>
        <p:spPr>
          <a:xfrm>
            <a:off x="3383280" y="1719072"/>
            <a:ext cx="2560320" cy="274320"/>
          </a:xfrm>
          <a:prstGeom prst="rect">
            <a:avLst/>
          </a:prstGeom>
          <a:noFill/>
          <a:ln/>
        </p:spPr>
        <p:txBody>
          <a:bodyPr wrap="square" rtlCol="0" anchor="ctr"/>
          <a:lstStyle/>
          <a:p>
            <a:pPr algn="ctr" indent="0" marL="0">
              <a:buNone/>
            </a:pPr>
            <a:r>
              <a:rPr lang="en-US" sz="1200" b="1" dirty="0">
                <a:solidFill>
                  <a:srgbClr val="0A1628"/>
                </a:solidFill>
                <a:latin typeface="Calibri" pitchFamily="34" charset="0"/>
                <a:ea typeface="Calibri" pitchFamily="34" charset="-122"/>
                <a:cs typeface="Calibri" pitchFamily="34" charset="-120"/>
              </a:rPr>
              <a:t>Act This Month</a:t>
            </a:r>
            <a:endParaRPr lang="en-US" sz="1200" dirty="0"/>
          </a:p>
        </p:txBody>
      </p:sp>
      <p:sp>
        <p:nvSpPr>
          <p:cNvPr id="19" name="Text 17"/>
          <p:cNvSpPr/>
          <p:nvPr/>
        </p:nvSpPr>
        <p:spPr>
          <a:xfrm>
            <a:off x="3383280" y="2103120"/>
            <a:ext cx="2560320" cy="594360"/>
          </a:xfrm>
          <a:prstGeom prst="rect">
            <a:avLst/>
          </a:prstGeom>
          <a:noFill/>
          <a:ln/>
        </p:spPr>
        <p:txBody>
          <a:bodyPr wrap="square" rtlCol="0" anchor="ctr"/>
          <a:lstStyle/>
          <a:p>
            <a:pPr algn="ctr" indent="0" marL="0">
              <a:buNone/>
            </a:pPr>
            <a:r>
              <a:rPr lang="en-US" sz="3600" b="1" dirty="0">
                <a:solidFill>
                  <a:srgbClr val="D4820A"/>
                </a:solidFill>
                <a:latin typeface="Calibri" pitchFamily="34" charset="0"/>
                <a:ea typeface="Calibri" pitchFamily="34" charset="-122"/>
                <a:cs typeface="Calibri" pitchFamily="34" charset="-120"/>
              </a:rPr>
              <a:t>2,150</a:t>
            </a:r>
            <a:endParaRPr lang="en-US" sz="3600" dirty="0"/>
          </a:p>
        </p:txBody>
      </p:sp>
      <p:sp>
        <p:nvSpPr>
          <p:cNvPr id="20" name="Text 18"/>
          <p:cNvSpPr/>
          <p:nvPr/>
        </p:nvSpPr>
        <p:spPr>
          <a:xfrm>
            <a:off x="3383280" y="2743200"/>
            <a:ext cx="2560320" cy="228600"/>
          </a:xfrm>
          <a:prstGeom prst="rect">
            <a:avLst/>
          </a:prstGeom>
          <a:noFill/>
          <a:ln/>
        </p:spPr>
        <p:txBody>
          <a:bodyPr wrap="square" rtlCol="0" anchor="ctr"/>
          <a:lstStyle/>
          <a:p>
            <a:pPr algn="ctr" indent="0" marL="0">
              <a:buNone/>
            </a:pPr>
            <a:r>
              <a:rPr lang="en-US" sz="900" dirty="0">
                <a:solidFill>
                  <a:srgbClr val="5A6A85"/>
                </a:solidFill>
                <a:latin typeface="Calibri" pitchFamily="34" charset="0"/>
                <a:ea typeface="Calibri" pitchFamily="34" charset="-122"/>
                <a:cs typeface="Calibri" pitchFamily="34" charset="-120"/>
              </a:rPr>
              <a:t>customers</a:t>
            </a:r>
            <a:endParaRPr lang="en-US" sz="900" dirty="0"/>
          </a:p>
        </p:txBody>
      </p:sp>
      <p:sp>
        <p:nvSpPr>
          <p:cNvPr id="21" name="Text 19"/>
          <p:cNvSpPr/>
          <p:nvPr/>
        </p:nvSpPr>
        <p:spPr>
          <a:xfrm>
            <a:off x="3383280" y="3063240"/>
            <a:ext cx="2560320" cy="320040"/>
          </a:xfrm>
          <a:prstGeom prst="rect">
            <a:avLst/>
          </a:prstGeom>
          <a:noFill/>
          <a:ln/>
        </p:spPr>
        <p:txBody>
          <a:bodyPr wrap="square" rtlCol="0" anchor="ctr"/>
          <a:lstStyle/>
          <a:p>
            <a:pPr algn="ctr" indent="0" marL="0">
              <a:buNone/>
            </a:pPr>
            <a:r>
              <a:rPr lang="en-US" sz="1600" b="1" dirty="0">
                <a:solidFill>
                  <a:srgbClr val="0A1628"/>
                </a:solidFill>
                <a:latin typeface="Calibri" pitchFamily="34" charset="0"/>
                <a:ea typeface="Calibri" pitchFamily="34" charset="-122"/>
                <a:cs typeface="Calibri" pitchFamily="34" charset="-120"/>
              </a:rPr>
              <a:t>$1,692,331</a:t>
            </a:r>
            <a:endParaRPr lang="en-US" sz="1600" dirty="0"/>
          </a:p>
        </p:txBody>
      </p:sp>
      <p:sp>
        <p:nvSpPr>
          <p:cNvPr id="22" name="Text 20"/>
          <p:cNvSpPr/>
          <p:nvPr/>
        </p:nvSpPr>
        <p:spPr>
          <a:xfrm>
            <a:off x="3383280" y="3493008"/>
            <a:ext cx="2560320" cy="914400"/>
          </a:xfrm>
          <a:prstGeom prst="rect">
            <a:avLst/>
          </a:prstGeom>
          <a:noFill/>
          <a:ln/>
        </p:spPr>
        <p:txBody>
          <a:bodyPr wrap="square" rtlCol="0" anchor="t"/>
          <a:lstStyle/>
          <a:p>
            <a:pPr algn="ctr" indent="0" marL="0">
              <a:buNone/>
            </a:pPr>
            <a:r>
              <a:rPr lang="en-US" sz="850" i="1" dirty="0">
                <a:solidFill>
                  <a:srgbClr val="5A6A85"/>
                </a:solidFill>
                <a:latin typeface="Calibri" pitchFamily="34" charset="0"/>
                <a:ea typeface="Calibri" pitchFamily="34" charset="-122"/>
                <a:cs typeface="Calibri" pitchFamily="34" charset="-120"/>
              </a:rPr>
              <a:t>Score 5–6 · No crisis · Competitor already present. Window closing. Every day of delay increases risk.</a:t>
            </a:r>
            <a:endParaRPr lang="en-US" sz="850" dirty="0"/>
          </a:p>
        </p:txBody>
      </p:sp>
      <p:sp>
        <p:nvSpPr>
          <p:cNvPr id="23" name="Shape 21"/>
          <p:cNvSpPr/>
          <p:nvPr/>
        </p:nvSpPr>
        <p:spPr>
          <a:xfrm>
            <a:off x="6217920" y="1325880"/>
            <a:ext cx="2743200" cy="4114800"/>
          </a:xfrm>
          <a:prstGeom prst="rect">
            <a:avLst/>
          </a:prstGeom>
          <a:solidFill>
            <a:srgbClr val="EFF6FF"/>
          </a:solidFill>
          <a:ln w="12700">
            <a:solidFill>
              <a:srgbClr val="5A6A85"/>
            </a:solidFill>
            <a:prstDash val="solid"/>
          </a:ln>
          <a:effectLst>
            <a:outerShdw sx="100000" sy="100000" kx="0" ky="0" algn="bl" rotWithShape="0" blurRad="101600" dist="38100" dir="8100000">
              <a:srgbClr val="000000">
                <a:alpha val="12000"/>
              </a:srgbClr>
            </a:outerShdw>
          </a:effectLst>
        </p:spPr>
      </p:sp>
      <p:sp>
        <p:nvSpPr>
          <p:cNvPr id="24" name="Shape 22"/>
          <p:cNvSpPr/>
          <p:nvPr/>
        </p:nvSpPr>
        <p:spPr>
          <a:xfrm>
            <a:off x="6217920" y="1325880"/>
            <a:ext cx="2743200" cy="45720"/>
          </a:xfrm>
          <a:prstGeom prst="rect">
            <a:avLst/>
          </a:prstGeom>
          <a:solidFill>
            <a:srgbClr val="5A6A85"/>
          </a:solidFill>
          <a:ln w="12700">
            <a:solidFill>
              <a:srgbClr val="5A6A85"/>
            </a:solidFill>
            <a:prstDash val="solid"/>
          </a:ln>
        </p:spPr>
      </p:sp>
      <p:sp>
        <p:nvSpPr>
          <p:cNvPr id="25" name="Text 23"/>
          <p:cNvSpPr/>
          <p:nvPr/>
        </p:nvSpPr>
        <p:spPr>
          <a:xfrm>
            <a:off x="6309360" y="1435608"/>
            <a:ext cx="2560320" cy="228600"/>
          </a:xfrm>
          <a:prstGeom prst="rect">
            <a:avLst/>
          </a:prstGeom>
          <a:noFill/>
          <a:ln/>
        </p:spPr>
        <p:txBody>
          <a:bodyPr wrap="square" rtlCol="0" anchor="ctr"/>
          <a:lstStyle/>
          <a:p>
            <a:pPr algn="ctr" indent="0" marL="0">
              <a:buNone/>
            </a:pPr>
            <a:r>
              <a:rPr lang="en-US" sz="900" b="1" spc="200" kern="0" dirty="0">
                <a:solidFill>
                  <a:srgbClr val="5A6A85"/>
                </a:solidFill>
                <a:latin typeface="Calibri" pitchFamily="34" charset="0"/>
                <a:ea typeface="Calibri" pitchFamily="34" charset="-122"/>
                <a:cs typeface="Calibri" pitchFamily="34" charset="-120"/>
              </a:rPr>
              <a:t>TIER 3</a:t>
            </a:r>
            <a:endParaRPr lang="en-US" sz="900" dirty="0"/>
          </a:p>
        </p:txBody>
      </p:sp>
      <p:sp>
        <p:nvSpPr>
          <p:cNvPr id="26" name="Text 24"/>
          <p:cNvSpPr/>
          <p:nvPr/>
        </p:nvSpPr>
        <p:spPr>
          <a:xfrm>
            <a:off x="6309360" y="1719072"/>
            <a:ext cx="2560320" cy="274320"/>
          </a:xfrm>
          <a:prstGeom prst="rect">
            <a:avLst/>
          </a:prstGeom>
          <a:noFill/>
          <a:ln/>
        </p:spPr>
        <p:txBody>
          <a:bodyPr wrap="square" rtlCol="0" anchor="ctr"/>
          <a:lstStyle/>
          <a:p>
            <a:pPr algn="ctr" indent="0" marL="0">
              <a:buNone/>
            </a:pPr>
            <a:r>
              <a:rPr lang="en-US" sz="1200" b="1" dirty="0">
                <a:solidFill>
                  <a:srgbClr val="0A1628"/>
                </a:solidFill>
                <a:latin typeface="Calibri" pitchFamily="34" charset="0"/>
                <a:ea typeface="Calibri" pitchFamily="34" charset="-122"/>
                <a:cs typeface="Calibri" pitchFamily="34" charset="-120"/>
              </a:rPr>
              <a:t>Follow Up</a:t>
            </a:r>
            <a:endParaRPr lang="en-US" sz="1200" dirty="0"/>
          </a:p>
        </p:txBody>
      </p:sp>
      <p:sp>
        <p:nvSpPr>
          <p:cNvPr id="27" name="Text 25"/>
          <p:cNvSpPr/>
          <p:nvPr/>
        </p:nvSpPr>
        <p:spPr>
          <a:xfrm>
            <a:off x="6309360" y="2103120"/>
            <a:ext cx="2560320" cy="594360"/>
          </a:xfrm>
          <a:prstGeom prst="rect">
            <a:avLst/>
          </a:prstGeom>
          <a:noFill/>
          <a:ln/>
        </p:spPr>
        <p:txBody>
          <a:bodyPr wrap="square" rtlCol="0" anchor="ctr"/>
          <a:lstStyle/>
          <a:p>
            <a:pPr algn="ctr" indent="0" marL="0">
              <a:buNone/>
            </a:pPr>
            <a:r>
              <a:rPr lang="en-US" sz="3600" b="1" dirty="0">
                <a:solidFill>
                  <a:srgbClr val="5A6A85"/>
                </a:solidFill>
                <a:latin typeface="Calibri" pitchFamily="34" charset="0"/>
                <a:ea typeface="Calibri" pitchFamily="34" charset="-122"/>
                <a:cs typeface="Calibri" pitchFamily="34" charset="-120"/>
              </a:rPr>
              <a:t>569</a:t>
            </a:r>
            <a:endParaRPr lang="en-US" sz="3600" dirty="0"/>
          </a:p>
        </p:txBody>
      </p:sp>
      <p:sp>
        <p:nvSpPr>
          <p:cNvPr id="28" name="Text 26"/>
          <p:cNvSpPr/>
          <p:nvPr/>
        </p:nvSpPr>
        <p:spPr>
          <a:xfrm>
            <a:off x="6309360" y="2743200"/>
            <a:ext cx="2560320" cy="228600"/>
          </a:xfrm>
          <a:prstGeom prst="rect">
            <a:avLst/>
          </a:prstGeom>
          <a:noFill/>
          <a:ln/>
        </p:spPr>
        <p:txBody>
          <a:bodyPr wrap="square" rtlCol="0" anchor="ctr"/>
          <a:lstStyle/>
          <a:p>
            <a:pPr algn="ctr" indent="0" marL="0">
              <a:buNone/>
            </a:pPr>
            <a:r>
              <a:rPr lang="en-US" sz="900" dirty="0">
                <a:solidFill>
                  <a:srgbClr val="5A6A85"/>
                </a:solidFill>
                <a:latin typeface="Calibri" pitchFamily="34" charset="0"/>
                <a:ea typeface="Calibri" pitchFamily="34" charset="-122"/>
                <a:cs typeface="Calibri" pitchFamily="34" charset="-120"/>
              </a:rPr>
              <a:t>customers</a:t>
            </a:r>
            <a:endParaRPr lang="en-US" sz="900" dirty="0"/>
          </a:p>
        </p:txBody>
      </p:sp>
      <p:sp>
        <p:nvSpPr>
          <p:cNvPr id="29" name="Text 27"/>
          <p:cNvSpPr/>
          <p:nvPr/>
        </p:nvSpPr>
        <p:spPr>
          <a:xfrm>
            <a:off x="6309360" y="3063240"/>
            <a:ext cx="2560320" cy="320040"/>
          </a:xfrm>
          <a:prstGeom prst="rect">
            <a:avLst/>
          </a:prstGeom>
          <a:noFill/>
          <a:ln/>
        </p:spPr>
        <p:txBody>
          <a:bodyPr wrap="square" rtlCol="0" anchor="ctr"/>
          <a:lstStyle/>
          <a:p>
            <a:pPr algn="ctr" indent="0" marL="0">
              <a:buNone/>
            </a:pPr>
            <a:r>
              <a:rPr lang="en-US" sz="1600" b="1" dirty="0">
                <a:solidFill>
                  <a:srgbClr val="0A1628"/>
                </a:solidFill>
                <a:latin typeface="Calibri" pitchFamily="34" charset="0"/>
                <a:ea typeface="Calibri" pitchFamily="34" charset="-122"/>
                <a:cs typeface="Calibri" pitchFamily="34" charset="-120"/>
              </a:rPr>
              <a:t>$429,705</a:t>
            </a:r>
            <a:endParaRPr lang="en-US" sz="1600" dirty="0"/>
          </a:p>
        </p:txBody>
      </p:sp>
      <p:sp>
        <p:nvSpPr>
          <p:cNvPr id="30" name="Text 28"/>
          <p:cNvSpPr/>
          <p:nvPr/>
        </p:nvSpPr>
        <p:spPr>
          <a:xfrm>
            <a:off x="6309360" y="3493008"/>
            <a:ext cx="2560320" cy="914400"/>
          </a:xfrm>
          <a:prstGeom prst="rect">
            <a:avLst/>
          </a:prstGeom>
          <a:noFill/>
          <a:ln/>
        </p:spPr>
        <p:txBody>
          <a:bodyPr wrap="square" rtlCol="0" anchor="t"/>
          <a:lstStyle/>
          <a:p>
            <a:pPr algn="ctr" indent="0" marL="0">
              <a:buNone/>
            </a:pPr>
            <a:r>
              <a:rPr lang="en-US" sz="850" i="1" dirty="0">
                <a:solidFill>
                  <a:srgbClr val="5A6A85"/>
                </a:solidFill>
                <a:latin typeface="Calibri" pitchFamily="34" charset="0"/>
                <a:ea typeface="Calibri" pitchFamily="34" charset="-122"/>
                <a:cs typeface="Calibri" pitchFamily="34" charset="-120"/>
              </a:rPr>
              <a:t>Crisis resolved but NPS still 5–6. Trust not restored. Follow-up call confirms the fix and rebuilds.</a:t>
            </a:r>
            <a:endParaRPr lang="en-US" sz="850" dirty="0"/>
          </a:p>
        </p:txBody>
      </p:sp>
      <p:sp>
        <p:nvSpPr>
          <p:cNvPr id="31" name="Shape 29"/>
          <p:cNvSpPr/>
          <p:nvPr/>
        </p:nvSpPr>
        <p:spPr>
          <a:xfrm>
            <a:off x="9144000" y="1325880"/>
            <a:ext cx="2743200" cy="4114800"/>
          </a:xfrm>
          <a:prstGeom prst="rect">
            <a:avLst/>
          </a:prstGeom>
          <a:solidFill>
            <a:srgbClr val="FEF2F2"/>
          </a:solidFill>
          <a:ln w="12700">
            <a:solidFill>
              <a:srgbClr val="C0392B"/>
            </a:solidFill>
            <a:prstDash val="solid"/>
          </a:ln>
          <a:effectLst>
            <a:outerShdw sx="100000" sy="100000" kx="0" ky="0" algn="bl" rotWithShape="0" blurRad="101600" dist="38100" dir="8100000">
              <a:srgbClr val="000000">
                <a:alpha val="12000"/>
              </a:srgbClr>
            </a:outerShdw>
          </a:effectLst>
        </p:spPr>
      </p:sp>
      <p:sp>
        <p:nvSpPr>
          <p:cNvPr id="32" name="Shape 30"/>
          <p:cNvSpPr/>
          <p:nvPr/>
        </p:nvSpPr>
        <p:spPr>
          <a:xfrm>
            <a:off x="9144000" y="1325880"/>
            <a:ext cx="2743200" cy="45720"/>
          </a:xfrm>
          <a:prstGeom prst="rect">
            <a:avLst/>
          </a:prstGeom>
          <a:solidFill>
            <a:srgbClr val="C0392B"/>
          </a:solidFill>
          <a:ln w="12700">
            <a:solidFill>
              <a:srgbClr val="C0392B"/>
            </a:solidFill>
            <a:prstDash val="solid"/>
          </a:ln>
        </p:spPr>
      </p:sp>
      <p:sp>
        <p:nvSpPr>
          <p:cNvPr id="33" name="Text 31"/>
          <p:cNvSpPr/>
          <p:nvPr/>
        </p:nvSpPr>
        <p:spPr>
          <a:xfrm>
            <a:off x="9235440" y="1435608"/>
            <a:ext cx="2560320" cy="228600"/>
          </a:xfrm>
          <a:prstGeom prst="rect">
            <a:avLst/>
          </a:prstGeom>
          <a:noFill/>
          <a:ln/>
        </p:spPr>
        <p:txBody>
          <a:bodyPr wrap="square" rtlCol="0" anchor="ctr"/>
          <a:lstStyle/>
          <a:p>
            <a:pPr algn="ctr" indent="0" marL="0">
              <a:buNone/>
            </a:pPr>
            <a:r>
              <a:rPr lang="en-US" sz="900" b="1" spc="200" kern="0" dirty="0">
                <a:solidFill>
                  <a:srgbClr val="C0392B"/>
                </a:solidFill>
                <a:latin typeface="Calibri" pitchFamily="34" charset="0"/>
                <a:ea typeface="Calibri" pitchFamily="34" charset="-122"/>
                <a:cs typeface="Calibri" pitchFamily="34" charset="-120"/>
              </a:rPr>
              <a:t>TIER 4</a:t>
            </a:r>
            <a:endParaRPr lang="en-US" sz="900" dirty="0"/>
          </a:p>
        </p:txBody>
      </p:sp>
      <p:sp>
        <p:nvSpPr>
          <p:cNvPr id="34" name="Text 32"/>
          <p:cNvSpPr/>
          <p:nvPr/>
        </p:nvSpPr>
        <p:spPr>
          <a:xfrm>
            <a:off x="9235440" y="1719072"/>
            <a:ext cx="2560320" cy="274320"/>
          </a:xfrm>
          <a:prstGeom prst="rect">
            <a:avLst/>
          </a:prstGeom>
          <a:noFill/>
          <a:ln/>
        </p:spPr>
        <p:txBody>
          <a:bodyPr wrap="square" rtlCol="0" anchor="ctr"/>
          <a:lstStyle/>
          <a:p>
            <a:pPr algn="ctr" indent="0" marL="0">
              <a:buNone/>
            </a:pPr>
            <a:r>
              <a:rPr lang="en-US" sz="1200" b="1" dirty="0">
                <a:solidFill>
                  <a:srgbClr val="0A1628"/>
                </a:solidFill>
                <a:latin typeface="Calibri" pitchFamily="34" charset="0"/>
                <a:ea typeface="Calibri" pitchFamily="34" charset="-122"/>
                <a:cs typeface="Calibri" pitchFamily="34" charset="-120"/>
              </a:rPr>
              <a:t>Fix First</a:t>
            </a:r>
            <a:endParaRPr lang="en-US" sz="1200" dirty="0"/>
          </a:p>
        </p:txBody>
      </p:sp>
      <p:sp>
        <p:nvSpPr>
          <p:cNvPr id="35" name="Text 33"/>
          <p:cNvSpPr/>
          <p:nvPr/>
        </p:nvSpPr>
        <p:spPr>
          <a:xfrm>
            <a:off x="9235440" y="2103120"/>
            <a:ext cx="2560320" cy="594360"/>
          </a:xfrm>
          <a:prstGeom prst="rect">
            <a:avLst/>
          </a:prstGeom>
          <a:noFill/>
          <a:ln/>
        </p:spPr>
        <p:txBody>
          <a:bodyPr wrap="square" rtlCol="0" anchor="ctr"/>
          <a:lstStyle/>
          <a:p>
            <a:pPr algn="ctr" indent="0" marL="0">
              <a:buNone/>
            </a:pPr>
            <a:r>
              <a:rPr lang="en-US" sz="3600" b="1" dirty="0">
                <a:solidFill>
                  <a:srgbClr val="C0392B"/>
                </a:solidFill>
                <a:latin typeface="Calibri" pitchFamily="34" charset="0"/>
                <a:ea typeface="Calibri" pitchFamily="34" charset="-122"/>
                <a:cs typeface="Calibri" pitchFamily="34" charset="-120"/>
              </a:rPr>
              <a:t>490</a:t>
            </a:r>
            <a:endParaRPr lang="en-US" sz="3600" dirty="0"/>
          </a:p>
        </p:txBody>
      </p:sp>
      <p:sp>
        <p:nvSpPr>
          <p:cNvPr id="36" name="Text 34"/>
          <p:cNvSpPr/>
          <p:nvPr/>
        </p:nvSpPr>
        <p:spPr>
          <a:xfrm>
            <a:off x="9235440" y="2743200"/>
            <a:ext cx="2560320" cy="228600"/>
          </a:xfrm>
          <a:prstGeom prst="rect">
            <a:avLst/>
          </a:prstGeom>
          <a:noFill/>
          <a:ln/>
        </p:spPr>
        <p:txBody>
          <a:bodyPr wrap="square" rtlCol="0" anchor="ctr"/>
          <a:lstStyle/>
          <a:p>
            <a:pPr algn="ctr" indent="0" marL="0">
              <a:buNone/>
            </a:pPr>
            <a:r>
              <a:rPr lang="en-US" sz="900" dirty="0">
                <a:solidFill>
                  <a:srgbClr val="5A6A85"/>
                </a:solidFill>
                <a:latin typeface="Calibri" pitchFamily="34" charset="0"/>
                <a:ea typeface="Calibri" pitchFamily="34" charset="-122"/>
                <a:cs typeface="Calibri" pitchFamily="34" charset="-120"/>
              </a:rPr>
              <a:t>customers</a:t>
            </a:r>
            <a:endParaRPr lang="en-US" sz="900" dirty="0"/>
          </a:p>
        </p:txBody>
      </p:sp>
      <p:sp>
        <p:nvSpPr>
          <p:cNvPr id="37" name="Text 35"/>
          <p:cNvSpPr/>
          <p:nvPr/>
        </p:nvSpPr>
        <p:spPr>
          <a:xfrm>
            <a:off x="9235440" y="3063240"/>
            <a:ext cx="2560320" cy="320040"/>
          </a:xfrm>
          <a:prstGeom prst="rect">
            <a:avLst/>
          </a:prstGeom>
          <a:noFill/>
          <a:ln/>
        </p:spPr>
        <p:txBody>
          <a:bodyPr wrap="square" rtlCol="0" anchor="ctr"/>
          <a:lstStyle/>
          <a:p>
            <a:pPr algn="ctr" indent="0" marL="0">
              <a:buNone/>
            </a:pPr>
            <a:r>
              <a:rPr lang="en-US" sz="1600" b="1" dirty="0">
                <a:solidFill>
                  <a:srgbClr val="0A1628"/>
                </a:solidFill>
                <a:latin typeface="Calibri" pitchFamily="34" charset="0"/>
                <a:ea typeface="Calibri" pitchFamily="34" charset="-122"/>
                <a:cs typeface="Calibri" pitchFamily="34" charset="-120"/>
              </a:rPr>
              <a:t>$377,609</a:t>
            </a:r>
            <a:endParaRPr lang="en-US" sz="1600" dirty="0"/>
          </a:p>
        </p:txBody>
      </p:sp>
      <p:sp>
        <p:nvSpPr>
          <p:cNvPr id="38" name="Text 36"/>
          <p:cNvSpPr/>
          <p:nvPr/>
        </p:nvSpPr>
        <p:spPr>
          <a:xfrm>
            <a:off x="9235440" y="3493008"/>
            <a:ext cx="2560320" cy="914400"/>
          </a:xfrm>
          <a:prstGeom prst="rect">
            <a:avLst/>
          </a:prstGeom>
          <a:noFill/>
          <a:ln/>
        </p:spPr>
        <p:txBody>
          <a:bodyPr wrap="square" rtlCol="0" anchor="t"/>
          <a:lstStyle/>
          <a:p>
            <a:pPr algn="ctr" indent="0" marL="0">
              <a:buNone/>
            </a:pPr>
            <a:r>
              <a:rPr lang="en-US" sz="850" i="1" dirty="0">
                <a:solidFill>
                  <a:srgbClr val="5A6A85"/>
                </a:solidFill>
                <a:latin typeface="Calibri" pitchFamily="34" charset="0"/>
                <a:ea typeface="Calibri" pitchFamily="34" charset="-122"/>
                <a:cs typeface="Calibri" pitchFamily="34" charset="-120"/>
              </a:rPr>
              <a:t>Open unresolved crisis. Resolve the complaint first. Never offer a reward to an ignored customer.</a:t>
            </a:r>
            <a:endParaRPr lang="en-US" sz="850" dirty="0"/>
          </a:p>
        </p:txBody>
      </p:sp>
      <p:sp>
        <p:nvSpPr>
          <p:cNvPr id="39" name="Shape 37"/>
          <p:cNvSpPr/>
          <p:nvPr/>
        </p:nvSpPr>
        <p:spPr>
          <a:xfrm>
            <a:off x="365760" y="5577840"/>
            <a:ext cx="11430000" cy="658368"/>
          </a:xfrm>
          <a:prstGeom prst="rect">
            <a:avLst/>
          </a:prstGeom>
          <a:solidFill>
            <a:srgbClr val="FDF8EC"/>
          </a:solidFill>
          <a:ln w="12700">
            <a:solidFill>
              <a:srgbClr val="C8A84B"/>
            </a:solidFill>
            <a:prstDash val="solid"/>
          </a:ln>
        </p:spPr>
      </p:sp>
      <p:sp>
        <p:nvSpPr>
          <p:cNvPr id="40" name="Text 38"/>
          <p:cNvSpPr/>
          <p:nvPr/>
        </p:nvSpPr>
        <p:spPr>
          <a:xfrm>
            <a:off x="548640" y="5669280"/>
            <a:ext cx="4572000" cy="365760"/>
          </a:xfrm>
          <a:prstGeom prst="rect">
            <a:avLst/>
          </a:prstGeom>
          <a:noFill/>
          <a:ln/>
        </p:spPr>
        <p:txBody>
          <a:bodyPr wrap="square" rtlCol="0" anchor="ctr"/>
          <a:lstStyle/>
          <a:p>
            <a:pPr indent="0" marL="0">
              <a:buNone/>
            </a:pPr>
            <a:r>
              <a:rPr lang="en-US" sz="1000" dirty="0">
                <a:solidFill>
                  <a:srgbClr val="2A2820"/>
                </a:solidFill>
                <a:latin typeface="Calibri" pitchFamily="34" charset="0"/>
                <a:ea typeface="Calibri" pitchFamily="34" charset="-122"/>
                <a:cs typeface="Calibri" pitchFamily="34" charset="-120"/>
              </a:rPr>
              <a:t>Conservative 25% recovery of Tier 1 + Tier 2:</a:t>
            </a:r>
            <a:endParaRPr lang="en-US" sz="1000" dirty="0"/>
          </a:p>
        </p:txBody>
      </p:sp>
      <p:sp>
        <p:nvSpPr>
          <p:cNvPr id="41" name="Text 39"/>
          <p:cNvSpPr/>
          <p:nvPr/>
        </p:nvSpPr>
        <p:spPr>
          <a:xfrm>
            <a:off x="5212080" y="5669280"/>
            <a:ext cx="3657600" cy="365760"/>
          </a:xfrm>
          <a:prstGeom prst="rect">
            <a:avLst/>
          </a:prstGeom>
          <a:noFill/>
          <a:ln/>
        </p:spPr>
        <p:txBody>
          <a:bodyPr wrap="square" rtlCol="0" anchor="ctr"/>
          <a:lstStyle/>
          <a:p>
            <a:pPr indent="0" marL="0">
              <a:buNone/>
            </a:pPr>
            <a:r>
              <a:rPr lang="en-US" sz="1300" b="1" dirty="0">
                <a:solidFill>
                  <a:srgbClr val="1A6B3A"/>
                </a:solidFill>
                <a:latin typeface="Calibri" pitchFamily="34" charset="0"/>
                <a:ea typeface="Calibri" pitchFamily="34" charset="-122"/>
                <a:cs typeface="Calibri" pitchFamily="34" charset="-120"/>
              </a:rPr>
              <a:t>$633,911 secured in 30 days</a:t>
            </a:r>
            <a:endParaRPr lang="en-US" sz="1300" dirty="0"/>
          </a:p>
        </p:txBody>
      </p:sp>
      <p:sp>
        <p:nvSpPr>
          <p:cNvPr id="42" name="Text 40"/>
          <p:cNvSpPr/>
          <p:nvPr/>
        </p:nvSpPr>
        <p:spPr>
          <a:xfrm>
            <a:off x="8961120" y="5687568"/>
            <a:ext cx="2743200" cy="347472"/>
          </a:xfrm>
          <a:prstGeom prst="rect">
            <a:avLst/>
          </a:prstGeom>
          <a:noFill/>
          <a:ln/>
        </p:spPr>
        <p:txBody>
          <a:bodyPr wrap="square" rtlCol="0" anchor="ctr"/>
          <a:lstStyle/>
          <a:p>
            <a:pPr indent="0" marL="0">
              <a:buNone/>
            </a:pPr>
            <a:r>
              <a:rPr lang="en-US" sz="950" i="1" dirty="0">
                <a:solidFill>
                  <a:srgbClr val="C0392B"/>
                </a:solidFill>
                <a:latin typeface="Calibri" pitchFamily="34" charset="0"/>
                <a:ea typeface="Calibri" pitchFamily="34" charset="-122"/>
                <a:cs typeface="Calibri" pitchFamily="34" charset="-120"/>
              </a:rPr>
              <a:t>from customers who were never angry — just ignored.</a:t>
            </a:r>
            <a:endParaRPr lang="en-US" sz="950" dirty="0"/>
          </a:p>
        </p:txBody>
      </p:sp>
      <p:sp>
        <p:nvSpPr>
          <p:cNvPr id="43" name="Shape 41"/>
          <p:cNvSpPr/>
          <p:nvPr/>
        </p:nvSpPr>
        <p:spPr>
          <a:xfrm>
            <a:off x="0" y="6537960"/>
            <a:ext cx="12161520" cy="320040"/>
          </a:xfrm>
          <a:prstGeom prst="rect">
            <a:avLst/>
          </a:prstGeom>
          <a:solidFill>
            <a:srgbClr val="0A1628"/>
          </a:solidFill>
          <a:ln w="12700">
            <a:solidFill>
              <a:srgbClr val="0A1628"/>
            </a:solidFill>
            <a:prstDash val="solid"/>
          </a:ln>
        </p:spPr>
      </p:sp>
      <p:sp>
        <p:nvSpPr>
          <p:cNvPr id="44" name="Text 42"/>
          <p:cNvSpPr/>
          <p:nvPr/>
        </p:nvSpPr>
        <p:spPr>
          <a:xfrm>
            <a:off x="365760" y="6565392"/>
            <a:ext cx="9144000" cy="256032"/>
          </a:xfrm>
          <a:prstGeom prst="rect">
            <a:avLst/>
          </a:prstGeom>
          <a:noFill/>
          <a:ln/>
        </p:spPr>
        <p:txBody>
          <a:bodyPr wrap="square" rtlCol="0" anchor="ctr"/>
          <a:lstStyle/>
          <a:p>
            <a:pPr indent="0" marL="0">
              <a:buNone/>
            </a:pPr>
            <a:r>
              <a:rPr lang="en-US" sz="750" dirty="0">
                <a:solidFill>
                  <a:srgbClr val="8899BB"/>
                </a:solidFill>
                <a:latin typeface="Calibri" pitchFamily="34" charset="0"/>
                <a:ea typeface="Calibri" pitchFamily="34" charset="-122"/>
                <a:cs typeface="Calibri" pitchFamily="34" charset="-120"/>
              </a:rPr>
              <a:t>Samuel Ahinakwa  |  Finance &amp; Analytics Professional  |  BSc · MSc · ICAG Finalist  |  Confidential</a:t>
            </a:r>
            <a:endParaRPr lang="en-US" sz="750" dirty="0"/>
          </a:p>
        </p:txBody>
      </p:sp>
      <p:sp>
        <p:nvSpPr>
          <p:cNvPr id="45" name="Text 43"/>
          <p:cNvSpPr/>
          <p:nvPr/>
        </p:nvSpPr>
        <p:spPr>
          <a:xfrm>
            <a:off x="11338560" y="6565392"/>
            <a:ext cx="731520" cy="256032"/>
          </a:xfrm>
          <a:prstGeom prst="rect">
            <a:avLst/>
          </a:prstGeom>
          <a:noFill/>
          <a:ln/>
        </p:spPr>
        <p:txBody>
          <a:bodyPr wrap="square" rtlCol="0" anchor="ctr"/>
          <a:lstStyle/>
          <a:p>
            <a:pPr algn="r" indent="0" marL="0">
              <a:buNone/>
            </a:pPr>
            <a:r>
              <a:rPr lang="en-US" sz="800" dirty="0">
                <a:solidFill>
                  <a:srgbClr val="C8A84B"/>
                </a:solidFill>
                <a:latin typeface="Calibri" pitchFamily="34" charset="0"/>
                <a:ea typeface="Calibri" pitchFamily="34" charset="-122"/>
                <a:cs typeface="Calibri" pitchFamily="34" charset="-120"/>
              </a:rPr>
              <a:t>10 / 20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C8A84B"/>
          </a:solidFill>
          <a:ln w="12700">
            <a:solidFill>
              <a:srgbClr val="C8A84B"/>
            </a:solidFill>
            <a:prstDash val="solid"/>
          </a:ln>
        </p:spPr>
      </p:sp>
      <p:sp>
        <p:nvSpPr>
          <p:cNvPr id="3" name="Text 1"/>
          <p:cNvSpPr/>
          <p:nvPr/>
        </p:nvSpPr>
        <p:spPr>
          <a:xfrm>
            <a:off x="365760" y="731520"/>
            <a:ext cx="1828800" cy="365760"/>
          </a:xfrm>
          <a:prstGeom prst="rect">
            <a:avLst/>
          </a:prstGeom>
          <a:noFill/>
          <a:ln/>
        </p:spPr>
        <p:txBody>
          <a:bodyPr wrap="square" rtlCol="0" anchor="ctr"/>
          <a:lstStyle/>
          <a:p>
            <a:pPr indent="0" marL="0">
              <a:buNone/>
            </a:pPr>
            <a:r>
              <a:rPr lang="en-US" sz="1100" b="1" spc="300" kern="0" dirty="0">
                <a:solidFill>
                  <a:srgbClr val="C8A84B"/>
                </a:solidFill>
                <a:latin typeface="Calibri" pitchFamily="34" charset="0"/>
                <a:ea typeface="Calibri" pitchFamily="34" charset="-122"/>
                <a:cs typeface="Calibri" pitchFamily="34" charset="-120"/>
              </a:rPr>
              <a:t>PART THREE</a:t>
            </a:r>
            <a:endParaRPr lang="en-US" sz="1100" dirty="0"/>
          </a:p>
        </p:txBody>
      </p:sp>
      <p:sp>
        <p:nvSpPr>
          <p:cNvPr id="4" name="Text 2"/>
          <p:cNvSpPr/>
          <p:nvPr/>
        </p:nvSpPr>
        <p:spPr>
          <a:xfrm>
            <a:off x="365760" y="1188720"/>
            <a:ext cx="8229600" cy="2011680"/>
          </a:xfrm>
          <a:prstGeom prst="rect">
            <a:avLst/>
          </a:prstGeom>
          <a:noFill/>
          <a:ln/>
        </p:spPr>
        <p:txBody>
          <a:bodyPr wrap="square" rtlCol="0" anchor="ctr"/>
          <a:lstStyle/>
          <a:p>
            <a:pPr indent="0" marL="0">
              <a:lnSpc>
                <a:spcPct val="110000"/>
              </a:lnSpc>
              <a:buNone/>
            </a:pPr>
            <a:r>
              <a:rPr lang="en-US" sz="4800" b="1" dirty="0">
                <a:solidFill>
                  <a:srgbClr val="FFFFFF"/>
                </a:solidFill>
                <a:latin typeface="Calibri" pitchFamily="34" charset="0"/>
                <a:ea typeface="Calibri" pitchFamily="34" charset="-122"/>
                <a:cs typeface="Calibri" pitchFamily="34" charset="-120"/>
              </a:rPr>
              <a:t>AfriTech Is</a:t>
            </a:r>
            <a:endParaRPr lang="en-US" sz="4800" dirty="0"/>
          </a:p>
          <a:p>
            <a:pPr indent="0" marL="0">
              <a:lnSpc>
                <a:spcPct val="110000"/>
              </a:lnSpc>
              <a:buNone/>
            </a:pPr>
            <a:r>
              <a:rPr lang="en-US" sz="4800" b="1" dirty="0">
                <a:solidFill>
                  <a:srgbClr val="FFFFFF"/>
                </a:solidFill>
                <a:latin typeface="Calibri" pitchFamily="34" charset="0"/>
                <a:ea typeface="Calibri" pitchFamily="34" charset="-122"/>
                <a:cs typeface="Calibri" pitchFamily="34" charset="-120"/>
              </a:rPr>
              <a:t>Sitting on</a:t>
            </a:r>
            <a:endParaRPr lang="en-US" sz="4800" dirty="0"/>
          </a:p>
          <a:p>
            <a:pPr indent="0" marL="0">
              <a:lnSpc>
                <a:spcPct val="110000"/>
              </a:lnSpc>
              <a:buNone/>
            </a:pPr>
            <a:r>
              <a:rPr lang="en-US" sz="4800" b="1" dirty="0">
                <a:solidFill>
                  <a:srgbClr val="FFFFFF"/>
                </a:solidFill>
                <a:latin typeface="Calibri" pitchFamily="34" charset="0"/>
                <a:ea typeface="Calibri" pitchFamily="34" charset="-122"/>
                <a:cs typeface="Calibri" pitchFamily="34" charset="-120"/>
              </a:rPr>
              <a:t>Time Bombs.</a:t>
            </a:r>
            <a:endParaRPr lang="en-US" sz="4800" dirty="0"/>
          </a:p>
        </p:txBody>
      </p:sp>
      <p:sp>
        <p:nvSpPr>
          <p:cNvPr id="5" name="Text 3"/>
          <p:cNvSpPr/>
          <p:nvPr/>
        </p:nvSpPr>
        <p:spPr>
          <a:xfrm>
            <a:off x="365760" y="3337560"/>
            <a:ext cx="8229600" cy="457200"/>
          </a:xfrm>
          <a:prstGeom prst="rect">
            <a:avLst/>
          </a:prstGeom>
          <a:noFill/>
          <a:ln/>
        </p:spPr>
        <p:txBody>
          <a:bodyPr wrap="square" rtlCol="0" anchor="ctr"/>
          <a:lstStyle/>
          <a:p>
            <a:pPr indent="0" marL="0">
              <a:buNone/>
            </a:pPr>
            <a:r>
              <a:rPr lang="en-US" sz="1600" i="1" dirty="0">
                <a:solidFill>
                  <a:srgbClr val="8899BB"/>
                </a:solidFill>
                <a:latin typeface="Calibri" pitchFamily="34" charset="0"/>
                <a:ea typeface="Calibri" pitchFamily="34" charset="-122"/>
                <a:cs typeface="Calibri" pitchFamily="34" charset="-120"/>
              </a:rPr>
              <a:t>The Follow-Through Problem and Its Competitive Consequences</a:t>
            </a:r>
            <a:endParaRPr lang="en-US" sz="1600" dirty="0"/>
          </a:p>
        </p:txBody>
      </p:sp>
      <p:sp>
        <p:nvSpPr>
          <p:cNvPr id="6" name="Shape 4"/>
          <p:cNvSpPr/>
          <p:nvPr/>
        </p:nvSpPr>
        <p:spPr>
          <a:xfrm>
            <a:off x="365760" y="5577840"/>
            <a:ext cx="5486400" cy="27432"/>
          </a:xfrm>
          <a:prstGeom prst="rect">
            <a:avLst/>
          </a:prstGeom>
          <a:solidFill>
            <a:srgbClr val="C8A84B"/>
          </a:solidFill>
          <a:ln w="12700">
            <a:solidFill>
              <a:srgbClr val="C8A84B"/>
            </a:solidFill>
            <a:prstDash val="solid"/>
          </a:ln>
        </p:spPr>
      </p:sp>
      <p:sp>
        <p:nvSpPr>
          <p:cNvPr id="7" name="Text 5"/>
          <p:cNvSpPr/>
          <p:nvPr/>
        </p:nvSpPr>
        <p:spPr>
          <a:xfrm>
            <a:off x="365760" y="5715000"/>
            <a:ext cx="9144000" cy="274320"/>
          </a:xfrm>
          <a:prstGeom prst="rect">
            <a:avLst/>
          </a:prstGeom>
          <a:noFill/>
          <a:ln/>
        </p:spPr>
        <p:txBody>
          <a:bodyPr wrap="square" rtlCol="0" anchor="ctr"/>
          <a:lstStyle/>
          <a:p>
            <a:pPr indent="0" marL="0">
              <a:buNone/>
            </a:pPr>
            <a:r>
              <a:rPr lang="en-US" sz="1000" dirty="0">
                <a:solidFill>
                  <a:srgbClr val="8899BB"/>
                </a:solidFill>
                <a:latin typeface="Calibri" pitchFamily="34" charset="0"/>
                <a:ea typeface="Calibri" pitchFamily="34" charset="-122"/>
                <a:cs typeface="Calibri" pitchFamily="34" charset="-120"/>
              </a:rPr>
              <a:t>190 days avg response  ·  88 same-day but 60 still open  ·  $1,076,419 Point of No Return</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1051560"/>
          </a:xfrm>
          <a:prstGeom prst="rect">
            <a:avLst/>
          </a:prstGeom>
          <a:solidFill>
            <a:srgbClr val="0A1628"/>
          </a:solidFill>
          <a:ln w="12700">
            <a:solidFill>
              <a:srgbClr val="0A1628"/>
            </a:solidFill>
            <a:prstDash val="solid"/>
          </a:ln>
        </p:spPr>
      </p:sp>
      <p:sp>
        <p:nvSpPr>
          <p:cNvPr id="3" name="Shape 1"/>
          <p:cNvSpPr/>
          <p:nvPr/>
        </p:nvSpPr>
        <p:spPr>
          <a:xfrm>
            <a:off x="0" y="1051560"/>
            <a:ext cx="12161520" cy="36576"/>
          </a:xfrm>
          <a:prstGeom prst="rect">
            <a:avLst/>
          </a:prstGeom>
          <a:solidFill>
            <a:srgbClr val="C8A84B"/>
          </a:solidFill>
          <a:ln w="12700">
            <a:solidFill>
              <a:srgbClr val="C8A84B"/>
            </a:solidFill>
            <a:prstDash val="solid"/>
          </a:ln>
        </p:spPr>
      </p:sp>
      <p:sp>
        <p:nvSpPr>
          <p:cNvPr id="4" name="Text 2"/>
          <p:cNvSpPr/>
          <p:nvPr/>
        </p:nvSpPr>
        <p:spPr>
          <a:xfrm>
            <a:off x="365760" y="64008"/>
            <a:ext cx="4572000" cy="228600"/>
          </a:xfrm>
          <a:prstGeom prst="rect">
            <a:avLst/>
          </a:prstGeom>
          <a:noFill/>
          <a:ln/>
        </p:spPr>
        <p:txBody>
          <a:bodyPr wrap="square" rtlCol="0" anchor="ctr"/>
          <a:lstStyle/>
          <a:p>
            <a:pPr indent="0" marL="0">
              <a:buNone/>
            </a:pPr>
            <a:r>
              <a:rPr lang="en-US" sz="800" b="1" spc="200" kern="0" dirty="0">
                <a:solidFill>
                  <a:srgbClr val="C8A84B"/>
                </a:solidFill>
                <a:latin typeface="Calibri" pitchFamily="34" charset="0"/>
                <a:ea typeface="Calibri" pitchFamily="34" charset="-122"/>
                <a:cs typeface="Calibri" pitchFamily="34" charset="-120"/>
              </a:rPr>
              <a:t>03 — CRISIS MANAGEMENT</a:t>
            </a:r>
            <a:endParaRPr lang="en-US" sz="800" dirty="0"/>
          </a:p>
        </p:txBody>
      </p:sp>
      <p:sp>
        <p:nvSpPr>
          <p:cNvPr id="5" name="Text 3"/>
          <p:cNvSpPr/>
          <p:nvPr/>
        </p:nvSpPr>
        <p:spPr>
          <a:xfrm>
            <a:off x="365760" y="256032"/>
            <a:ext cx="9601200" cy="566928"/>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The Follow-Through Problem</a:t>
            </a:r>
            <a:endParaRPr lang="en-US" sz="2600" dirty="0"/>
          </a:p>
        </p:txBody>
      </p:sp>
      <p:sp>
        <p:nvSpPr>
          <p:cNvPr id="6" name="Text 4"/>
          <p:cNvSpPr/>
          <p:nvPr/>
        </p:nvSpPr>
        <p:spPr>
          <a:xfrm>
            <a:off x="365760" y="795528"/>
            <a:ext cx="10058400" cy="228600"/>
          </a:xfrm>
          <a:prstGeom prst="rect">
            <a:avLst/>
          </a:prstGeom>
          <a:noFill/>
          <a:ln/>
        </p:spPr>
        <p:txBody>
          <a:bodyPr wrap="square" rtlCol="0" anchor="ctr"/>
          <a:lstStyle/>
          <a:p>
            <a:pPr indent="0" marL="0">
              <a:buNone/>
            </a:pPr>
            <a:r>
              <a:rPr lang="en-US" sz="1050" i="1" dirty="0">
                <a:solidFill>
                  <a:srgbClr val="8899BB"/>
                </a:solidFill>
                <a:latin typeface="Calibri" pitchFamily="34" charset="0"/>
                <a:ea typeface="Calibri" pitchFamily="34" charset="-122"/>
                <a:cs typeface="Calibri" pitchFamily="34" charset="-120"/>
              </a:rPr>
              <a:t>88 same-day responses. 60 still unresolved. They pick up the phone. They never call back.</a:t>
            </a:r>
            <a:endParaRPr lang="en-US" sz="1050" dirty="0"/>
          </a:p>
        </p:txBody>
      </p:sp>
      <p:sp>
        <p:nvSpPr>
          <p:cNvPr id="7" name="Text 5"/>
          <p:cNvSpPr/>
          <p:nvPr/>
        </p:nvSpPr>
        <p:spPr>
          <a:xfrm>
            <a:off x="365760" y="1298448"/>
            <a:ext cx="5029200" cy="228600"/>
          </a:xfrm>
          <a:prstGeom prst="rect">
            <a:avLst/>
          </a:prstGeom>
          <a:noFill/>
          <a:ln/>
        </p:spPr>
        <p:txBody>
          <a:bodyPr wrap="square" rtlCol="0" anchor="ctr"/>
          <a:lstStyle/>
          <a:p>
            <a:pPr indent="0" marL="0">
              <a:buNone/>
            </a:pPr>
            <a:r>
              <a:rPr lang="en-US" sz="850" b="1" spc="200" kern="0" dirty="0">
                <a:solidFill>
                  <a:srgbClr val="C8A84B"/>
                </a:solidFill>
                <a:latin typeface="Calibri" pitchFamily="34" charset="0"/>
                <a:ea typeface="Calibri" pitchFamily="34" charset="-122"/>
                <a:cs typeface="Calibri" pitchFamily="34" charset="-120"/>
              </a:rPr>
              <a:t>RESPONSE TIME DISTRIBUTION</a:t>
            </a:r>
            <a:endParaRPr lang="en-US" sz="850" dirty="0"/>
          </a:p>
        </p:txBody>
      </p:sp>
      <p:sp>
        <p:nvSpPr>
          <p:cNvPr id="8" name="Text 6"/>
          <p:cNvSpPr/>
          <p:nvPr/>
        </p:nvSpPr>
        <p:spPr>
          <a:xfrm>
            <a:off x="365760" y="1645920"/>
            <a:ext cx="1920240" cy="320040"/>
          </a:xfrm>
          <a:prstGeom prst="rect">
            <a:avLst/>
          </a:prstGeom>
          <a:noFill/>
          <a:ln/>
        </p:spPr>
        <p:txBody>
          <a:bodyPr wrap="square" rtlCol="0" anchor="ctr"/>
          <a:lstStyle/>
          <a:p>
            <a:pPr indent="0" marL="0">
              <a:buNone/>
            </a:pPr>
            <a:r>
              <a:rPr lang="en-US" sz="950" dirty="0">
                <a:solidFill>
                  <a:srgbClr val="5A6A85"/>
                </a:solidFill>
                <a:latin typeface="Calibri" pitchFamily="34" charset="0"/>
                <a:ea typeface="Calibri" pitchFamily="34" charset="-122"/>
                <a:cs typeface="Calibri" pitchFamily="34" charset="-120"/>
              </a:rPr>
              <a:t>Same Day</a:t>
            </a:r>
            <a:endParaRPr lang="en-US" sz="950" dirty="0"/>
          </a:p>
        </p:txBody>
      </p:sp>
      <p:sp>
        <p:nvSpPr>
          <p:cNvPr id="9" name="Shape 7"/>
          <p:cNvSpPr/>
          <p:nvPr/>
        </p:nvSpPr>
        <p:spPr>
          <a:xfrm>
            <a:off x="2331720" y="1664208"/>
            <a:ext cx="36576" cy="256032"/>
          </a:xfrm>
          <a:prstGeom prst="rect">
            <a:avLst/>
          </a:prstGeom>
          <a:solidFill>
            <a:srgbClr val="1A6B3A"/>
          </a:solidFill>
          <a:ln w="12700">
            <a:solidFill>
              <a:srgbClr val="1A6B3A"/>
            </a:solidFill>
            <a:prstDash val="solid"/>
          </a:ln>
        </p:spPr>
      </p:sp>
      <p:sp>
        <p:nvSpPr>
          <p:cNvPr id="10" name="Text 8"/>
          <p:cNvSpPr/>
          <p:nvPr/>
        </p:nvSpPr>
        <p:spPr>
          <a:xfrm>
            <a:off x="2414016" y="1664208"/>
            <a:ext cx="2011680" cy="256032"/>
          </a:xfrm>
          <a:prstGeom prst="rect">
            <a:avLst/>
          </a:prstGeom>
          <a:noFill/>
          <a:ln/>
        </p:spPr>
        <p:txBody>
          <a:bodyPr wrap="square" rtlCol="0" anchor="ctr"/>
          <a:lstStyle/>
          <a:p>
            <a:pPr indent="0" marL="0">
              <a:buNone/>
            </a:pPr>
            <a:r>
              <a:rPr lang="en-US" sz="950" b="1" dirty="0">
                <a:solidFill>
                  <a:srgbClr val="1A6B3A"/>
                </a:solidFill>
                <a:latin typeface="Calibri" pitchFamily="34" charset="0"/>
                <a:ea typeface="Calibri" pitchFamily="34" charset="-122"/>
                <a:cs typeface="Calibri" pitchFamily="34" charset="-120"/>
              </a:rPr>
              <a:t>88 (0.66%)</a:t>
            </a:r>
            <a:endParaRPr lang="en-US" sz="950" dirty="0"/>
          </a:p>
        </p:txBody>
      </p:sp>
      <p:sp>
        <p:nvSpPr>
          <p:cNvPr id="11" name="Text 9"/>
          <p:cNvSpPr/>
          <p:nvPr/>
        </p:nvSpPr>
        <p:spPr>
          <a:xfrm>
            <a:off x="365760" y="2468880"/>
            <a:ext cx="1920240" cy="320040"/>
          </a:xfrm>
          <a:prstGeom prst="rect">
            <a:avLst/>
          </a:prstGeom>
          <a:noFill/>
          <a:ln/>
        </p:spPr>
        <p:txBody>
          <a:bodyPr wrap="square" rtlCol="0" anchor="ctr"/>
          <a:lstStyle/>
          <a:p>
            <a:pPr indent="0" marL="0">
              <a:buNone/>
            </a:pPr>
            <a:r>
              <a:rPr lang="en-US" sz="950" dirty="0">
                <a:solidFill>
                  <a:srgbClr val="5A6A85"/>
                </a:solidFill>
                <a:latin typeface="Calibri" pitchFamily="34" charset="0"/>
                <a:ea typeface="Calibri" pitchFamily="34" charset="-122"/>
                <a:cs typeface="Calibri" pitchFamily="34" charset="-120"/>
              </a:rPr>
              <a:t>Within 7 Days</a:t>
            </a:r>
            <a:endParaRPr lang="en-US" sz="950" dirty="0"/>
          </a:p>
        </p:txBody>
      </p:sp>
      <p:sp>
        <p:nvSpPr>
          <p:cNvPr id="12" name="Shape 10"/>
          <p:cNvSpPr/>
          <p:nvPr/>
        </p:nvSpPr>
        <p:spPr>
          <a:xfrm>
            <a:off x="2331720" y="2487168"/>
            <a:ext cx="320040" cy="256032"/>
          </a:xfrm>
          <a:prstGeom prst="rect">
            <a:avLst/>
          </a:prstGeom>
          <a:solidFill>
            <a:srgbClr val="D4820A"/>
          </a:solidFill>
          <a:ln w="12700">
            <a:solidFill>
              <a:srgbClr val="D4820A"/>
            </a:solidFill>
            <a:prstDash val="solid"/>
          </a:ln>
        </p:spPr>
      </p:sp>
      <p:sp>
        <p:nvSpPr>
          <p:cNvPr id="13" name="Text 11"/>
          <p:cNvSpPr/>
          <p:nvPr/>
        </p:nvSpPr>
        <p:spPr>
          <a:xfrm>
            <a:off x="2697480" y="2487168"/>
            <a:ext cx="2011680" cy="256032"/>
          </a:xfrm>
          <a:prstGeom prst="rect">
            <a:avLst/>
          </a:prstGeom>
          <a:noFill/>
          <a:ln/>
        </p:spPr>
        <p:txBody>
          <a:bodyPr wrap="square" rtlCol="0" anchor="ctr"/>
          <a:lstStyle/>
          <a:p>
            <a:pPr indent="0" marL="0">
              <a:buNone/>
            </a:pPr>
            <a:r>
              <a:rPr lang="en-US" sz="950" b="1" dirty="0">
                <a:solidFill>
                  <a:srgbClr val="D4820A"/>
                </a:solidFill>
                <a:latin typeface="Calibri" pitchFamily="34" charset="0"/>
                <a:ea typeface="Calibri" pitchFamily="34" charset="-122"/>
                <a:cs typeface="Calibri" pitchFamily="34" charset="-120"/>
              </a:rPr>
              <a:t>731 (5.46%)</a:t>
            </a:r>
            <a:endParaRPr lang="en-US" sz="950" dirty="0"/>
          </a:p>
        </p:txBody>
      </p:sp>
      <p:sp>
        <p:nvSpPr>
          <p:cNvPr id="14" name="Text 12"/>
          <p:cNvSpPr/>
          <p:nvPr/>
        </p:nvSpPr>
        <p:spPr>
          <a:xfrm>
            <a:off x="365760" y="3291840"/>
            <a:ext cx="1920240" cy="320040"/>
          </a:xfrm>
          <a:prstGeom prst="rect">
            <a:avLst/>
          </a:prstGeom>
          <a:noFill/>
          <a:ln/>
        </p:spPr>
        <p:txBody>
          <a:bodyPr wrap="square" rtlCol="0" anchor="ctr"/>
          <a:lstStyle/>
          <a:p>
            <a:pPr indent="0" marL="0">
              <a:buNone/>
            </a:pPr>
            <a:r>
              <a:rPr lang="en-US" sz="950" dirty="0">
                <a:solidFill>
                  <a:srgbClr val="5A6A85"/>
                </a:solidFill>
                <a:latin typeface="Calibri" pitchFamily="34" charset="0"/>
                <a:ea typeface="Calibri" pitchFamily="34" charset="-122"/>
                <a:cs typeface="Calibri" pitchFamily="34" charset="-120"/>
              </a:rPr>
              <a:t>Within 30 Days</a:t>
            </a:r>
            <a:endParaRPr lang="en-US" sz="950" dirty="0"/>
          </a:p>
        </p:txBody>
      </p:sp>
      <p:sp>
        <p:nvSpPr>
          <p:cNvPr id="15" name="Shape 13"/>
          <p:cNvSpPr/>
          <p:nvPr/>
        </p:nvSpPr>
        <p:spPr>
          <a:xfrm>
            <a:off x="2331720" y="3310128"/>
            <a:ext cx="722376" cy="256032"/>
          </a:xfrm>
          <a:prstGeom prst="rect">
            <a:avLst/>
          </a:prstGeom>
          <a:solidFill>
            <a:srgbClr val="D4820A"/>
          </a:solidFill>
          <a:ln w="12700">
            <a:solidFill>
              <a:srgbClr val="D4820A"/>
            </a:solidFill>
            <a:prstDash val="solid"/>
          </a:ln>
        </p:spPr>
      </p:sp>
      <p:sp>
        <p:nvSpPr>
          <p:cNvPr id="16" name="Text 14"/>
          <p:cNvSpPr/>
          <p:nvPr/>
        </p:nvSpPr>
        <p:spPr>
          <a:xfrm>
            <a:off x="3099816" y="3310128"/>
            <a:ext cx="2011680" cy="256032"/>
          </a:xfrm>
          <a:prstGeom prst="rect">
            <a:avLst/>
          </a:prstGeom>
          <a:noFill/>
          <a:ln/>
        </p:spPr>
        <p:txBody>
          <a:bodyPr wrap="square" rtlCol="0" anchor="ctr"/>
          <a:lstStyle/>
          <a:p>
            <a:pPr indent="0" marL="0">
              <a:buNone/>
            </a:pPr>
            <a:r>
              <a:rPr lang="en-US" sz="950" b="1" dirty="0">
                <a:solidFill>
                  <a:srgbClr val="D4820A"/>
                </a:solidFill>
                <a:latin typeface="Calibri" pitchFamily="34" charset="0"/>
                <a:ea typeface="Calibri" pitchFamily="34" charset="-122"/>
                <a:cs typeface="Calibri" pitchFamily="34" charset="-120"/>
              </a:rPr>
              <a:t>1,637 (12.23%)</a:t>
            </a:r>
            <a:endParaRPr lang="en-US" sz="950" dirty="0"/>
          </a:p>
        </p:txBody>
      </p:sp>
      <p:sp>
        <p:nvSpPr>
          <p:cNvPr id="17" name="Text 15"/>
          <p:cNvSpPr/>
          <p:nvPr/>
        </p:nvSpPr>
        <p:spPr>
          <a:xfrm>
            <a:off x="365760" y="4114800"/>
            <a:ext cx="1920240" cy="320040"/>
          </a:xfrm>
          <a:prstGeom prst="rect">
            <a:avLst/>
          </a:prstGeom>
          <a:noFill/>
          <a:ln/>
        </p:spPr>
        <p:txBody>
          <a:bodyPr wrap="square" rtlCol="0" anchor="ctr"/>
          <a:lstStyle/>
          <a:p>
            <a:pPr indent="0" marL="0">
              <a:buNone/>
            </a:pPr>
            <a:r>
              <a:rPr lang="en-US" sz="950" dirty="0">
                <a:solidFill>
                  <a:srgbClr val="5A6A85"/>
                </a:solidFill>
                <a:latin typeface="Calibri" pitchFamily="34" charset="0"/>
                <a:ea typeface="Calibri" pitchFamily="34" charset="-122"/>
                <a:cs typeface="Calibri" pitchFamily="34" charset="-120"/>
              </a:rPr>
              <a:t>Over 30 Days</a:t>
            </a:r>
            <a:endParaRPr lang="en-US" sz="950" dirty="0"/>
          </a:p>
        </p:txBody>
      </p:sp>
      <p:sp>
        <p:nvSpPr>
          <p:cNvPr id="18" name="Shape 16"/>
          <p:cNvSpPr/>
          <p:nvPr/>
        </p:nvSpPr>
        <p:spPr>
          <a:xfrm>
            <a:off x="2331720" y="4133088"/>
            <a:ext cx="4846320" cy="256032"/>
          </a:xfrm>
          <a:prstGeom prst="rect">
            <a:avLst/>
          </a:prstGeom>
          <a:solidFill>
            <a:srgbClr val="C0392B"/>
          </a:solidFill>
          <a:ln w="12700">
            <a:solidFill>
              <a:srgbClr val="C0392B"/>
            </a:solidFill>
            <a:prstDash val="solid"/>
          </a:ln>
        </p:spPr>
      </p:sp>
      <p:sp>
        <p:nvSpPr>
          <p:cNvPr id="19" name="Text 17"/>
          <p:cNvSpPr/>
          <p:nvPr/>
        </p:nvSpPr>
        <p:spPr>
          <a:xfrm>
            <a:off x="7223760" y="4133088"/>
            <a:ext cx="2011680" cy="256032"/>
          </a:xfrm>
          <a:prstGeom prst="rect">
            <a:avLst/>
          </a:prstGeom>
          <a:noFill/>
          <a:ln/>
        </p:spPr>
        <p:txBody>
          <a:bodyPr wrap="square" rtlCol="0" anchor="ctr"/>
          <a:lstStyle/>
          <a:p>
            <a:pPr indent="0" marL="0">
              <a:buNone/>
            </a:pPr>
            <a:r>
              <a:rPr lang="en-US" sz="950" b="1" dirty="0">
                <a:solidFill>
                  <a:srgbClr val="C0392B"/>
                </a:solidFill>
                <a:latin typeface="Calibri" pitchFamily="34" charset="0"/>
                <a:ea typeface="Calibri" pitchFamily="34" charset="-122"/>
                <a:cs typeface="Calibri" pitchFamily="34" charset="-120"/>
              </a:rPr>
              <a:t>10,927 (81.65%)</a:t>
            </a:r>
            <a:endParaRPr lang="en-US" sz="950" dirty="0"/>
          </a:p>
        </p:txBody>
      </p:sp>
      <p:sp>
        <p:nvSpPr>
          <p:cNvPr id="20" name="Text 18"/>
          <p:cNvSpPr/>
          <p:nvPr/>
        </p:nvSpPr>
        <p:spPr>
          <a:xfrm>
            <a:off x="6583680" y="1298448"/>
            <a:ext cx="5029200" cy="228600"/>
          </a:xfrm>
          <a:prstGeom prst="rect">
            <a:avLst/>
          </a:prstGeom>
          <a:noFill/>
          <a:ln/>
        </p:spPr>
        <p:txBody>
          <a:bodyPr wrap="square" rtlCol="0" anchor="ctr"/>
          <a:lstStyle/>
          <a:p>
            <a:pPr indent="0" marL="0">
              <a:buNone/>
            </a:pPr>
            <a:r>
              <a:rPr lang="en-US" sz="850" b="1" spc="200" kern="0" dirty="0">
                <a:solidFill>
                  <a:srgbClr val="C8A84B"/>
                </a:solidFill>
                <a:latin typeface="Calibri" pitchFamily="34" charset="0"/>
                <a:ea typeface="Calibri" pitchFamily="34" charset="-122"/>
                <a:cs typeface="Calibri" pitchFamily="34" charset="-120"/>
              </a:rPr>
              <a:t>RESOLUTION BY SEGMENT</a:t>
            </a:r>
            <a:endParaRPr lang="en-US" sz="850" dirty="0"/>
          </a:p>
        </p:txBody>
      </p:sp>
      <p:sp>
        <p:nvSpPr>
          <p:cNvPr id="21" name="Shape 19"/>
          <p:cNvSpPr/>
          <p:nvPr/>
        </p:nvSpPr>
        <p:spPr>
          <a:xfrm>
            <a:off x="6583680" y="1645920"/>
            <a:ext cx="5212080" cy="914400"/>
          </a:xfrm>
          <a:prstGeom prst="rect">
            <a:avLst/>
          </a:prstGeom>
          <a:solidFill>
            <a:srgbClr val="F0F4F8"/>
          </a:solidFill>
          <a:ln w="12700">
            <a:solidFill>
              <a:srgbClr val="D0D8E8"/>
            </a:solidFill>
            <a:prstDash val="solid"/>
          </a:ln>
        </p:spPr>
      </p:sp>
      <p:sp>
        <p:nvSpPr>
          <p:cNvPr id="22" name="Text 20"/>
          <p:cNvSpPr/>
          <p:nvPr/>
        </p:nvSpPr>
        <p:spPr>
          <a:xfrm>
            <a:off x="6720840" y="1719072"/>
            <a:ext cx="1097280" cy="320040"/>
          </a:xfrm>
          <a:prstGeom prst="rect">
            <a:avLst/>
          </a:prstGeom>
          <a:noFill/>
          <a:ln/>
        </p:spPr>
        <p:txBody>
          <a:bodyPr wrap="square" rtlCol="0" anchor="ctr"/>
          <a:lstStyle/>
          <a:p>
            <a:pPr indent="0" marL="0">
              <a:buNone/>
            </a:pPr>
            <a:r>
              <a:rPr lang="en-US" sz="1200" b="1" dirty="0">
                <a:solidFill>
                  <a:srgbClr val="0A1628"/>
                </a:solidFill>
                <a:latin typeface="Calibri" pitchFamily="34" charset="0"/>
                <a:ea typeface="Calibri" pitchFamily="34" charset="-122"/>
                <a:cs typeface="Calibri" pitchFamily="34" charset="-120"/>
              </a:rPr>
              <a:t>VIP</a:t>
            </a:r>
            <a:endParaRPr lang="en-US" sz="1200" dirty="0"/>
          </a:p>
        </p:txBody>
      </p:sp>
      <p:sp>
        <p:nvSpPr>
          <p:cNvPr id="23" name="Text 21"/>
          <p:cNvSpPr/>
          <p:nvPr/>
        </p:nvSpPr>
        <p:spPr>
          <a:xfrm>
            <a:off x="7909560" y="1719072"/>
            <a:ext cx="1828800" cy="256032"/>
          </a:xfrm>
          <a:prstGeom prst="rect">
            <a:avLst/>
          </a:prstGeom>
          <a:noFill/>
          <a:ln/>
        </p:spPr>
        <p:txBody>
          <a:bodyPr wrap="square" rtlCol="0" anchor="ctr"/>
          <a:lstStyle/>
          <a:p>
            <a:pPr indent="0" marL="0">
              <a:buNone/>
            </a:pPr>
            <a:r>
              <a:rPr lang="en-US" sz="900" b="1" dirty="0">
                <a:solidFill>
                  <a:srgbClr val="1A6B3A"/>
                </a:solidFill>
                <a:latin typeface="Calibri" pitchFamily="34" charset="0"/>
                <a:ea typeface="Calibri" pitchFamily="34" charset="-122"/>
                <a:cs typeface="Calibri" pitchFamily="34" charset="-120"/>
              </a:rPr>
              <a:t>Resolved: 2,782</a:t>
            </a:r>
            <a:endParaRPr lang="en-US" sz="900" dirty="0"/>
          </a:p>
        </p:txBody>
      </p:sp>
      <p:sp>
        <p:nvSpPr>
          <p:cNvPr id="24" name="Text 22"/>
          <p:cNvSpPr/>
          <p:nvPr/>
        </p:nvSpPr>
        <p:spPr>
          <a:xfrm>
            <a:off x="7909560" y="1984248"/>
            <a:ext cx="1828800" cy="256032"/>
          </a:xfrm>
          <a:prstGeom prst="rect">
            <a:avLst/>
          </a:prstGeom>
          <a:noFill/>
          <a:ln/>
        </p:spPr>
        <p:txBody>
          <a:bodyPr wrap="square" rtlCol="0" anchor="ctr"/>
          <a:lstStyle/>
          <a:p>
            <a:pPr indent="0" marL="0">
              <a:buNone/>
            </a:pPr>
            <a:r>
              <a:rPr lang="en-US" sz="900" b="1" dirty="0">
                <a:solidFill>
                  <a:srgbClr val="C0392B"/>
                </a:solidFill>
                <a:latin typeface="Calibri" pitchFamily="34" charset="0"/>
                <a:ea typeface="Calibri" pitchFamily="34" charset="-122"/>
                <a:cs typeface="Calibri" pitchFamily="34" charset="-120"/>
              </a:rPr>
              <a:t>Unresolved: 2,975</a:t>
            </a:r>
            <a:endParaRPr lang="en-US" sz="900" dirty="0"/>
          </a:p>
        </p:txBody>
      </p:sp>
      <p:sp>
        <p:nvSpPr>
          <p:cNvPr id="25" name="Text 23"/>
          <p:cNvSpPr/>
          <p:nvPr/>
        </p:nvSpPr>
        <p:spPr>
          <a:xfrm>
            <a:off x="9829800" y="1719072"/>
            <a:ext cx="1828800" cy="502920"/>
          </a:xfrm>
          <a:prstGeom prst="rect">
            <a:avLst/>
          </a:prstGeom>
          <a:noFill/>
          <a:ln/>
        </p:spPr>
        <p:txBody>
          <a:bodyPr wrap="square" rtlCol="0" anchor="ctr"/>
          <a:lstStyle/>
          <a:p>
            <a:pPr indent="0" marL="0">
              <a:buNone/>
            </a:pPr>
            <a:r>
              <a:rPr lang="en-US" sz="800" i="1" dirty="0">
                <a:solidFill>
                  <a:srgbClr val="5A6A85"/>
                </a:solidFill>
                <a:latin typeface="Calibri" pitchFamily="34" charset="0"/>
                <a:ea typeface="Calibri" pitchFamily="34" charset="-122"/>
                <a:cs typeface="Calibri" pitchFamily="34" charset="-120"/>
              </a:rPr>
              <a:t>Avg: 188.5d  Rev@Risk: $2,281,839</a:t>
            </a:r>
            <a:endParaRPr lang="en-US" sz="800" dirty="0"/>
          </a:p>
        </p:txBody>
      </p:sp>
      <p:sp>
        <p:nvSpPr>
          <p:cNvPr id="26" name="Shape 24"/>
          <p:cNvSpPr/>
          <p:nvPr/>
        </p:nvSpPr>
        <p:spPr>
          <a:xfrm>
            <a:off x="6583680" y="2697480"/>
            <a:ext cx="5212080" cy="914400"/>
          </a:xfrm>
          <a:prstGeom prst="rect">
            <a:avLst/>
          </a:prstGeom>
          <a:solidFill>
            <a:srgbClr val="FFFFFF"/>
          </a:solidFill>
          <a:ln w="12700">
            <a:solidFill>
              <a:srgbClr val="D0D8E8"/>
            </a:solidFill>
            <a:prstDash val="solid"/>
          </a:ln>
        </p:spPr>
      </p:sp>
      <p:sp>
        <p:nvSpPr>
          <p:cNvPr id="27" name="Text 25"/>
          <p:cNvSpPr/>
          <p:nvPr/>
        </p:nvSpPr>
        <p:spPr>
          <a:xfrm>
            <a:off x="6720840" y="2770632"/>
            <a:ext cx="1097280" cy="320040"/>
          </a:xfrm>
          <a:prstGeom prst="rect">
            <a:avLst/>
          </a:prstGeom>
          <a:noFill/>
          <a:ln/>
        </p:spPr>
        <p:txBody>
          <a:bodyPr wrap="square" rtlCol="0" anchor="ctr"/>
          <a:lstStyle/>
          <a:p>
            <a:pPr indent="0" marL="0">
              <a:buNone/>
            </a:pPr>
            <a:r>
              <a:rPr lang="en-US" sz="1200" b="1" dirty="0">
                <a:solidFill>
                  <a:srgbClr val="0A1628"/>
                </a:solidFill>
                <a:latin typeface="Calibri" pitchFamily="34" charset="0"/>
                <a:ea typeface="Calibri" pitchFamily="34" charset="-122"/>
                <a:cs typeface="Calibri" pitchFamily="34" charset="-120"/>
              </a:rPr>
              <a:t>Returning</a:t>
            </a:r>
            <a:endParaRPr lang="en-US" sz="1200" dirty="0"/>
          </a:p>
        </p:txBody>
      </p:sp>
      <p:sp>
        <p:nvSpPr>
          <p:cNvPr id="28" name="Text 26"/>
          <p:cNvSpPr/>
          <p:nvPr/>
        </p:nvSpPr>
        <p:spPr>
          <a:xfrm>
            <a:off x="7909560" y="2770632"/>
            <a:ext cx="1828800" cy="256032"/>
          </a:xfrm>
          <a:prstGeom prst="rect">
            <a:avLst/>
          </a:prstGeom>
          <a:noFill/>
          <a:ln/>
        </p:spPr>
        <p:txBody>
          <a:bodyPr wrap="square" rtlCol="0" anchor="ctr"/>
          <a:lstStyle/>
          <a:p>
            <a:pPr indent="0" marL="0">
              <a:buNone/>
            </a:pPr>
            <a:r>
              <a:rPr lang="en-US" sz="900" b="1" dirty="0">
                <a:solidFill>
                  <a:srgbClr val="1A6B3A"/>
                </a:solidFill>
                <a:latin typeface="Calibri" pitchFamily="34" charset="0"/>
                <a:ea typeface="Calibri" pitchFamily="34" charset="-122"/>
                <a:cs typeface="Calibri" pitchFamily="34" charset="-120"/>
              </a:rPr>
              <a:t>Resolved: 2,956</a:t>
            </a:r>
            <a:endParaRPr lang="en-US" sz="900" dirty="0"/>
          </a:p>
        </p:txBody>
      </p:sp>
      <p:sp>
        <p:nvSpPr>
          <p:cNvPr id="29" name="Text 27"/>
          <p:cNvSpPr/>
          <p:nvPr/>
        </p:nvSpPr>
        <p:spPr>
          <a:xfrm>
            <a:off x="7909560" y="3035808"/>
            <a:ext cx="1828800" cy="256032"/>
          </a:xfrm>
          <a:prstGeom prst="rect">
            <a:avLst/>
          </a:prstGeom>
          <a:noFill/>
          <a:ln/>
        </p:spPr>
        <p:txBody>
          <a:bodyPr wrap="square" rtlCol="0" anchor="ctr"/>
          <a:lstStyle/>
          <a:p>
            <a:pPr indent="0" marL="0">
              <a:buNone/>
            </a:pPr>
            <a:r>
              <a:rPr lang="en-US" sz="900" b="1" dirty="0">
                <a:solidFill>
                  <a:srgbClr val="C0392B"/>
                </a:solidFill>
                <a:latin typeface="Calibri" pitchFamily="34" charset="0"/>
                <a:ea typeface="Calibri" pitchFamily="34" charset="-122"/>
                <a:cs typeface="Calibri" pitchFamily="34" charset="-120"/>
              </a:rPr>
              <a:t>Unresolved: 3,423</a:t>
            </a:r>
            <a:endParaRPr lang="en-US" sz="900" dirty="0"/>
          </a:p>
        </p:txBody>
      </p:sp>
      <p:sp>
        <p:nvSpPr>
          <p:cNvPr id="30" name="Text 28"/>
          <p:cNvSpPr/>
          <p:nvPr/>
        </p:nvSpPr>
        <p:spPr>
          <a:xfrm>
            <a:off x="9829800" y="2770632"/>
            <a:ext cx="1828800" cy="502920"/>
          </a:xfrm>
          <a:prstGeom prst="rect">
            <a:avLst/>
          </a:prstGeom>
          <a:noFill/>
          <a:ln/>
        </p:spPr>
        <p:txBody>
          <a:bodyPr wrap="square" rtlCol="0" anchor="ctr"/>
          <a:lstStyle/>
          <a:p>
            <a:pPr indent="0" marL="0">
              <a:buNone/>
            </a:pPr>
            <a:r>
              <a:rPr lang="en-US" sz="800" i="1" dirty="0">
                <a:solidFill>
                  <a:srgbClr val="5A6A85"/>
                </a:solidFill>
                <a:latin typeface="Calibri" pitchFamily="34" charset="0"/>
                <a:ea typeface="Calibri" pitchFamily="34" charset="-122"/>
                <a:cs typeface="Calibri" pitchFamily="34" charset="-120"/>
              </a:rPr>
              <a:t>Avg: 189.5d  Rev@Risk: $2,642,334</a:t>
            </a:r>
            <a:endParaRPr lang="en-US" sz="800" dirty="0"/>
          </a:p>
        </p:txBody>
      </p:sp>
      <p:sp>
        <p:nvSpPr>
          <p:cNvPr id="31" name="Shape 29"/>
          <p:cNvSpPr/>
          <p:nvPr/>
        </p:nvSpPr>
        <p:spPr>
          <a:xfrm>
            <a:off x="6583680" y="3749040"/>
            <a:ext cx="5212080" cy="914400"/>
          </a:xfrm>
          <a:prstGeom prst="rect">
            <a:avLst/>
          </a:prstGeom>
          <a:solidFill>
            <a:srgbClr val="F0F4F8"/>
          </a:solidFill>
          <a:ln w="12700">
            <a:solidFill>
              <a:srgbClr val="D0D8E8"/>
            </a:solidFill>
            <a:prstDash val="solid"/>
          </a:ln>
        </p:spPr>
      </p:sp>
      <p:sp>
        <p:nvSpPr>
          <p:cNvPr id="32" name="Text 30"/>
          <p:cNvSpPr/>
          <p:nvPr/>
        </p:nvSpPr>
        <p:spPr>
          <a:xfrm>
            <a:off x="6720840" y="3822192"/>
            <a:ext cx="1097280" cy="320040"/>
          </a:xfrm>
          <a:prstGeom prst="rect">
            <a:avLst/>
          </a:prstGeom>
          <a:noFill/>
          <a:ln/>
        </p:spPr>
        <p:txBody>
          <a:bodyPr wrap="square" rtlCol="0" anchor="ctr"/>
          <a:lstStyle/>
          <a:p>
            <a:pPr indent="0" marL="0">
              <a:buNone/>
            </a:pPr>
            <a:r>
              <a:rPr lang="en-US" sz="1200" b="1" dirty="0">
                <a:solidFill>
                  <a:srgbClr val="0A1628"/>
                </a:solidFill>
                <a:latin typeface="Calibri" pitchFamily="34" charset="0"/>
                <a:ea typeface="Calibri" pitchFamily="34" charset="-122"/>
                <a:cs typeface="Calibri" pitchFamily="34" charset="-120"/>
              </a:rPr>
              <a:t>New</a:t>
            </a:r>
            <a:endParaRPr lang="en-US" sz="1200" dirty="0"/>
          </a:p>
        </p:txBody>
      </p:sp>
      <p:sp>
        <p:nvSpPr>
          <p:cNvPr id="33" name="Text 31"/>
          <p:cNvSpPr/>
          <p:nvPr/>
        </p:nvSpPr>
        <p:spPr>
          <a:xfrm>
            <a:off x="7909560" y="3822192"/>
            <a:ext cx="1828800" cy="256032"/>
          </a:xfrm>
          <a:prstGeom prst="rect">
            <a:avLst/>
          </a:prstGeom>
          <a:noFill/>
          <a:ln/>
        </p:spPr>
        <p:txBody>
          <a:bodyPr wrap="square" rtlCol="0" anchor="ctr"/>
          <a:lstStyle/>
          <a:p>
            <a:pPr indent="0" marL="0">
              <a:buNone/>
            </a:pPr>
            <a:r>
              <a:rPr lang="en-US" sz="900" b="1" dirty="0">
                <a:solidFill>
                  <a:srgbClr val="1A6B3A"/>
                </a:solidFill>
                <a:latin typeface="Calibri" pitchFamily="34" charset="0"/>
                <a:ea typeface="Calibri" pitchFamily="34" charset="-122"/>
                <a:cs typeface="Calibri" pitchFamily="34" charset="-120"/>
              </a:rPr>
              <a:t>Resolved: 631</a:t>
            </a:r>
            <a:endParaRPr lang="en-US" sz="900" dirty="0"/>
          </a:p>
        </p:txBody>
      </p:sp>
      <p:sp>
        <p:nvSpPr>
          <p:cNvPr id="34" name="Text 32"/>
          <p:cNvSpPr/>
          <p:nvPr/>
        </p:nvSpPr>
        <p:spPr>
          <a:xfrm>
            <a:off x="7909560" y="4087368"/>
            <a:ext cx="1828800" cy="256032"/>
          </a:xfrm>
          <a:prstGeom prst="rect">
            <a:avLst/>
          </a:prstGeom>
          <a:noFill/>
          <a:ln/>
        </p:spPr>
        <p:txBody>
          <a:bodyPr wrap="square" rtlCol="0" anchor="ctr"/>
          <a:lstStyle/>
          <a:p>
            <a:pPr indent="0" marL="0">
              <a:buNone/>
            </a:pPr>
            <a:r>
              <a:rPr lang="en-US" sz="900" b="1" dirty="0">
                <a:solidFill>
                  <a:srgbClr val="C0392B"/>
                </a:solidFill>
                <a:latin typeface="Calibri" pitchFamily="34" charset="0"/>
                <a:ea typeface="Calibri" pitchFamily="34" charset="-122"/>
                <a:cs typeface="Calibri" pitchFamily="34" charset="-120"/>
              </a:rPr>
              <a:t>Unresolved: 616</a:t>
            </a:r>
            <a:endParaRPr lang="en-US" sz="900" dirty="0"/>
          </a:p>
        </p:txBody>
      </p:sp>
      <p:sp>
        <p:nvSpPr>
          <p:cNvPr id="35" name="Text 33"/>
          <p:cNvSpPr/>
          <p:nvPr/>
        </p:nvSpPr>
        <p:spPr>
          <a:xfrm>
            <a:off x="9829800" y="3822192"/>
            <a:ext cx="1828800" cy="502920"/>
          </a:xfrm>
          <a:prstGeom prst="rect">
            <a:avLst/>
          </a:prstGeom>
          <a:noFill/>
          <a:ln/>
        </p:spPr>
        <p:txBody>
          <a:bodyPr wrap="square" rtlCol="0" anchor="ctr"/>
          <a:lstStyle/>
          <a:p>
            <a:pPr indent="0" marL="0">
              <a:buNone/>
            </a:pPr>
            <a:r>
              <a:rPr lang="en-US" sz="800" i="1" dirty="0">
                <a:solidFill>
                  <a:srgbClr val="5A6A85"/>
                </a:solidFill>
                <a:latin typeface="Calibri" pitchFamily="34" charset="0"/>
                <a:ea typeface="Calibri" pitchFamily="34" charset="-122"/>
                <a:cs typeface="Calibri" pitchFamily="34" charset="-120"/>
              </a:rPr>
              <a:t>Avg: 199.2d  Rev@Risk: $499,750</a:t>
            </a:r>
            <a:endParaRPr lang="en-US" sz="800" dirty="0"/>
          </a:p>
        </p:txBody>
      </p:sp>
      <p:sp>
        <p:nvSpPr>
          <p:cNvPr id="36" name="Shape 34"/>
          <p:cNvSpPr/>
          <p:nvPr/>
        </p:nvSpPr>
        <p:spPr>
          <a:xfrm>
            <a:off x="365760" y="5166360"/>
            <a:ext cx="11430000" cy="1005840"/>
          </a:xfrm>
          <a:prstGeom prst="rect">
            <a:avLst/>
          </a:prstGeom>
          <a:solidFill>
            <a:srgbClr val="0A1628"/>
          </a:solidFill>
          <a:ln w="12700">
            <a:solidFill>
              <a:srgbClr val="0A1628"/>
            </a:solidFill>
            <a:prstDash val="solid"/>
          </a:ln>
        </p:spPr>
      </p:sp>
      <p:sp>
        <p:nvSpPr>
          <p:cNvPr id="37" name="Text 35"/>
          <p:cNvSpPr/>
          <p:nvPr/>
        </p:nvSpPr>
        <p:spPr>
          <a:xfrm>
            <a:off x="548640" y="5257800"/>
            <a:ext cx="2560320" cy="256032"/>
          </a:xfrm>
          <a:prstGeom prst="rect">
            <a:avLst/>
          </a:prstGeom>
          <a:noFill/>
          <a:ln/>
        </p:spPr>
        <p:txBody>
          <a:bodyPr wrap="square" rtlCol="0" anchor="ctr"/>
          <a:lstStyle/>
          <a:p>
            <a:pPr indent="0" marL="0">
              <a:buNone/>
            </a:pPr>
            <a:r>
              <a:rPr lang="en-US" sz="900" b="1" dirty="0">
                <a:solidFill>
                  <a:srgbClr val="C8A84B"/>
                </a:solidFill>
                <a:latin typeface="Calibri" pitchFamily="34" charset="0"/>
                <a:ea typeface="Calibri" pitchFamily="34" charset="-122"/>
                <a:cs typeface="Calibri" pitchFamily="34" charset="-120"/>
              </a:rPr>
              <a:t>SAME-DAY DEEP DIVE:</a:t>
            </a:r>
            <a:endParaRPr lang="en-US" sz="900" dirty="0"/>
          </a:p>
        </p:txBody>
      </p:sp>
      <p:sp>
        <p:nvSpPr>
          <p:cNvPr id="38" name="Text 36"/>
          <p:cNvSpPr/>
          <p:nvPr/>
        </p:nvSpPr>
        <p:spPr>
          <a:xfrm>
            <a:off x="3200400" y="5285232"/>
            <a:ext cx="2286000" cy="228600"/>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88 same-day responses</a:t>
            </a:r>
            <a:endParaRPr lang="en-US" sz="1000" dirty="0"/>
          </a:p>
        </p:txBody>
      </p:sp>
      <p:sp>
        <p:nvSpPr>
          <p:cNvPr id="39" name="Text 37"/>
          <p:cNvSpPr/>
          <p:nvPr/>
        </p:nvSpPr>
        <p:spPr>
          <a:xfrm>
            <a:off x="5577840" y="5285232"/>
            <a:ext cx="2286000" cy="228600"/>
          </a:xfrm>
          <a:prstGeom prst="rect">
            <a:avLst/>
          </a:prstGeom>
          <a:noFill/>
          <a:ln/>
        </p:spPr>
        <p:txBody>
          <a:bodyPr wrap="square" rtlCol="0" anchor="ctr"/>
          <a:lstStyle/>
          <a:p>
            <a:pPr indent="0" marL="0">
              <a:buNone/>
            </a:pPr>
            <a:r>
              <a:rPr lang="en-US" sz="1000" b="1" dirty="0">
                <a:solidFill>
                  <a:srgbClr val="1A6B3A"/>
                </a:solidFill>
                <a:latin typeface="Calibri" pitchFamily="34" charset="0"/>
                <a:ea typeface="Calibri" pitchFamily="34" charset="-122"/>
                <a:cs typeface="Calibri" pitchFamily="34" charset="-120"/>
              </a:rPr>
              <a:t>→  28 resolved (31.8%)</a:t>
            </a:r>
            <a:endParaRPr lang="en-US" sz="1000" dirty="0"/>
          </a:p>
        </p:txBody>
      </p:sp>
      <p:sp>
        <p:nvSpPr>
          <p:cNvPr id="40" name="Text 38"/>
          <p:cNvSpPr/>
          <p:nvPr/>
        </p:nvSpPr>
        <p:spPr>
          <a:xfrm>
            <a:off x="7955280" y="5285232"/>
            <a:ext cx="3657600" cy="228600"/>
          </a:xfrm>
          <a:prstGeom prst="rect">
            <a:avLst/>
          </a:prstGeom>
          <a:noFill/>
          <a:ln/>
        </p:spPr>
        <p:txBody>
          <a:bodyPr wrap="square" rtlCol="0" anchor="ctr"/>
          <a:lstStyle/>
          <a:p>
            <a:pPr indent="0" marL="0">
              <a:buNone/>
            </a:pPr>
            <a:r>
              <a:rPr lang="en-US" sz="1000" b="1" dirty="0">
                <a:solidFill>
                  <a:srgbClr val="C0392B"/>
                </a:solidFill>
                <a:latin typeface="Calibri" pitchFamily="34" charset="0"/>
                <a:ea typeface="Calibri" pitchFamily="34" charset="-122"/>
                <a:cs typeface="Calibri" pitchFamily="34" charset="-120"/>
              </a:rPr>
              <a:t>→  60 STILL UNRESOLVED (68.2%)</a:t>
            </a:r>
            <a:endParaRPr lang="en-US" sz="1000" dirty="0"/>
          </a:p>
        </p:txBody>
      </p:sp>
      <p:sp>
        <p:nvSpPr>
          <p:cNvPr id="41" name="Text 39"/>
          <p:cNvSpPr/>
          <p:nvPr/>
        </p:nvSpPr>
        <p:spPr>
          <a:xfrm>
            <a:off x="548640" y="5577840"/>
            <a:ext cx="10972800" cy="502920"/>
          </a:xfrm>
          <a:prstGeom prst="rect">
            <a:avLst/>
          </a:prstGeom>
          <a:noFill/>
          <a:ln/>
        </p:spPr>
        <p:txBody>
          <a:bodyPr wrap="square" rtlCol="0" anchor="ctr"/>
          <a:lstStyle/>
          <a:p>
            <a:pPr indent="0" marL="0">
              <a:buNone/>
            </a:pPr>
            <a:r>
              <a:rPr lang="en-US" sz="1000" i="1" dirty="0">
                <a:solidFill>
                  <a:srgbClr val="8899BB"/>
                </a:solidFill>
                <a:latin typeface="Calibri" pitchFamily="34" charset="0"/>
                <a:ea typeface="Calibri" pitchFamily="34" charset="-122"/>
                <a:cs typeface="Calibri" pitchFamily="34" charset="-120"/>
              </a:rPr>
              <a:t>AfriTech proved it can respond on the same day. Then it left 60 customers on hold permanently.</a:t>
            </a:r>
            <a:endParaRPr lang="en-US" sz="1000" dirty="0"/>
          </a:p>
        </p:txBody>
      </p:sp>
      <p:sp>
        <p:nvSpPr>
          <p:cNvPr id="42" name="Shape 40"/>
          <p:cNvSpPr/>
          <p:nvPr/>
        </p:nvSpPr>
        <p:spPr>
          <a:xfrm>
            <a:off x="0" y="6537960"/>
            <a:ext cx="12161520" cy="320040"/>
          </a:xfrm>
          <a:prstGeom prst="rect">
            <a:avLst/>
          </a:prstGeom>
          <a:solidFill>
            <a:srgbClr val="0A1628"/>
          </a:solidFill>
          <a:ln w="12700">
            <a:solidFill>
              <a:srgbClr val="0A1628"/>
            </a:solidFill>
            <a:prstDash val="solid"/>
          </a:ln>
        </p:spPr>
      </p:sp>
      <p:sp>
        <p:nvSpPr>
          <p:cNvPr id="43" name="Text 41"/>
          <p:cNvSpPr/>
          <p:nvPr/>
        </p:nvSpPr>
        <p:spPr>
          <a:xfrm>
            <a:off x="365760" y="6565392"/>
            <a:ext cx="9144000" cy="256032"/>
          </a:xfrm>
          <a:prstGeom prst="rect">
            <a:avLst/>
          </a:prstGeom>
          <a:noFill/>
          <a:ln/>
        </p:spPr>
        <p:txBody>
          <a:bodyPr wrap="square" rtlCol="0" anchor="ctr"/>
          <a:lstStyle/>
          <a:p>
            <a:pPr indent="0" marL="0">
              <a:buNone/>
            </a:pPr>
            <a:r>
              <a:rPr lang="en-US" sz="750" dirty="0">
                <a:solidFill>
                  <a:srgbClr val="8899BB"/>
                </a:solidFill>
                <a:latin typeface="Calibri" pitchFamily="34" charset="0"/>
                <a:ea typeface="Calibri" pitchFamily="34" charset="-122"/>
                <a:cs typeface="Calibri" pitchFamily="34" charset="-120"/>
              </a:rPr>
              <a:t>Samuel Ahinakwa  |  Finance &amp; Analytics Professional  |  BSc · MSc · ICAG Finalist  |  Confidential</a:t>
            </a:r>
            <a:endParaRPr lang="en-US" sz="750" dirty="0"/>
          </a:p>
        </p:txBody>
      </p:sp>
      <p:sp>
        <p:nvSpPr>
          <p:cNvPr id="44" name="Text 42"/>
          <p:cNvSpPr/>
          <p:nvPr/>
        </p:nvSpPr>
        <p:spPr>
          <a:xfrm>
            <a:off x="11338560" y="6565392"/>
            <a:ext cx="731520" cy="256032"/>
          </a:xfrm>
          <a:prstGeom prst="rect">
            <a:avLst/>
          </a:prstGeom>
          <a:noFill/>
          <a:ln/>
        </p:spPr>
        <p:txBody>
          <a:bodyPr wrap="square" rtlCol="0" anchor="ctr"/>
          <a:lstStyle/>
          <a:p>
            <a:pPr algn="r" indent="0" marL="0">
              <a:buNone/>
            </a:pPr>
            <a:r>
              <a:rPr lang="en-US" sz="800" dirty="0">
                <a:solidFill>
                  <a:srgbClr val="C8A84B"/>
                </a:solidFill>
                <a:latin typeface="Calibri" pitchFamily="34" charset="0"/>
                <a:ea typeface="Calibri" pitchFamily="34" charset="-122"/>
                <a:cs typeface="Calibri" pitchFamily="34" charset="-120"/>
              </a:rPr>
              <a:t>12 / 20</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1051560"/>
          </a:xfrm>
          <a:prstGeom prst="rect">
            <a:avLst/>
          </a:prstGeom>
          <a:solidFill>
            <a:srgbClr val="0A1628"/>
          </a:solidFill>
          <a:ln w="12700">
            <a:solidFill>
              <a:srgbClr val="0A1628"/>
            </a:solidFill>
            <a:prstDash val="solid"/>
          </a:ln>
        </p:spPr>
      </p:sp>
      <p:sp>
        <p:nvSpPr>
          <p:cNvPr id="3" name="Shape 1"/>
          <p:cNvSpPr/>
          <p:nvPr/>
        </p:nvSpPr>
        <p:spPr>
          <a:xfrm>
            <a:off x="0" y="1051560"/>
            <a:ext cx="12161520" cy="36576"/>
          </a:xfrm>
          <a:prstGeom prst="rect">
            <a:avLst/>
          </a:prstGeom>
          <a:solidFill>
            <a:srgbClr val="C8A84B"/>
          </a:solidFill>
          <a:ln w="12700">
            <a:solidFill>
              <a:srgbClr val="C8A84B"/>
            </a:solidFill>
            <a:prstDash val="solid"/>
          </a:ln>
        </p:spPr>
      </p:sp>
      <p:sp>
        <p:nvSpPr>
          <p:cNvPr id="4" name="Text 2"/>
          <p:cNvSpPr/>
          <p:nvPr/>
        </p:nvSpPr>
        <p:spPr>
          <a:xfrm>
            <a:off x="365760" y="64008"/>
            <a:ext cx="4572000" cy="228600"/>
          </a:xfrm>
          <a:prstGeom prst="rect">
            <a:avLst/>
          </a:prstGeom>
          <a:noFill/>
          <a:ln/>
        </p:spPr>
        <p:txBody>
          <a:bodyPr wrap="square" rtlCol="0" anchor="ctr"/>
          <a:lstStyle/>
          <a:p>
            <a:pPr indent="0" marL="0">
              <a:buNone/>
            </a:pPr>
            <a:r>
              <a:rPr lang="en-US" sz="800" b="1" spc="200" kern="0" dirty="0">
                <a:solidFill>
                  <a:srgbClr val="C8A84B"/>
                </a:solidFill>
                <a:latin typeface="Calibri" pitchFamily="34" charset="0"/>
                <a:ea typeface="Calibri" pitchFamily="34" charset="-122"/>
                <a:cs typeface="Calibri" pitchFamily="34" charset="-120"/>
              </a:rPr>
              <a:t>03 — CRISIS MANAGEMENT</a:t>
            </a:r>
            <a:endParaRPr lang="en-US" sz="800" dirty="0"/>
          </a:p>
        </p:txBody>
      </p:sp>
      <p:sp>
        <p:nvSpPr>
          <p:cNvPr id="5" name="Text 3"/>
          <p:cNvSpPr/>
          <p:nvPr/>
        </p:nvSpPr>
        <p:spPr>
          <a:xfrm>
            <a:off x="365760" y="256032"/>
            <a:ext cx="9601200" cy="566928"/>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The Point of No Return</a:t>
            </a:r>
            <a:endParaRPr lang="en-US" sz="2600" dirty="0"/>
          </a:p>
        </p:txBody>
      </p:sp>
      <p:sp>
        <p:nvSpPr>
          <p:cNvPr id="6" name="Text 4"/>
          <p:cNvSpPr/>
          <p:nvPr/>
        </p:nvSpPr>
        <p:spPr>
          <a:xfrm>
            <a:off x="365760" y="795528"/>
            <a:ext cx="10058400" cy="228600"/>
          </a:xfrm>
          <a:prstGeom prst="rect">
            <a:avLst/>
          </a:prstGeom>
          <a:noFill/>
          <a:ln/>
        </p:spPr>
        <p:txBody>
          <a:bodyPr wrap="square" rtlCol="0" anchor="ctr"/>
          <a:lstStyle/>
          <a:p>
            <a:pPr indent="0" marL="0">
              <a:buNone/>
            </a:pPr>
            <a:r>
              <a:rPr lang="en-US" sz="1050" i="1" dirty="0">
                <a:solidFill>
                  <a:srgbClr val="8899BB"/>
                </a:solidFill>
                <a:latin typeface="Calibri" pitchFamily="34" charset="0"/>
                <a:ea typeface="Calibri" pitchFamily="34" charset="-122"/>
                <a:cs typeface="Calibri" pitchFamily="34" charset="-120"/>
              </a:rPr>
              <a:t>This is not revenue at risk. This is revenue that is already leaving.</a:t>
            </a:r>
            <a:endParaRPr lang="en-US" sz="1050" dirty="0"/>
          </a:p>
        </p:txBody>
      </p:sp>
      <p:sp>
        <p:nvSpPr>
          <p:cNvPr id="7" name="Shape 5"/>
          <p:cNvSpPr/>
          <p:nvPr/>
        </p:nvSpPr>
        <p:spPr>
          <a:xfrm>
            <a:off x="365760" y="1280160"/>
            <a:ext cx="3566160" cy="3474720"/>
          </a:xfrm>
          <a:prstGeom prst="rect">
            <a:avLst/>
          </a:prstGeom>
          <a:solidFill>
            <a:srgbClr val="FFFBEB"/>
          </a:solidFill>
          <a:ln w="12700">
            <a:solidFill>
              <a:srgbClr val="D4820A"/>
            </a:solidFill>
            <a:prstDash val="solid"/>
          </a:ln>
          <a:effectLst>
            <a:outerShdw sx="100000" sy="100000" kx="0" ky="0" algn="bl" rotWithShape="0" blurRad="101600" dist="38100" dir="8100000">
              <a:srgbClr val="000000">
                <a:alpha val="12000"/>
              </a:srgbClr>
            </a:outerShdw>
          </a:effectLst>
        </p:spPr>
      </p:sp>
      <p:sp>
        <p:nvSpPr>
          <p:cNvPr id="8" name="Shape 6"/>
          <p:cNvSpPr/>
          <p:nvPr/>
        </p:nvSpPr>
        <p:spPr>
          <a:xfrm>
            <a:off x="365760" y="1280160"/>
            <a:ext cx="3566160" cy="54864"/>
          </a:xfrm>
          <a:prstGeom prst="rect">
            <a:avLst/>
          </a:prstGeom>
          <a:solidFill>
            <a:srgbClr val="D4820A"/>
          </a:solidFill>
          <a:ln w="12700">
            <a:solidFill>
              <a:srgbClr val="D4820A"/>
            </a:solidFill>
            <a:prstDash val="solid"/>
          </a:ln>
        </p:spPr>
      </p:sp>
      <p:sp>
        <p:nvSpPr>
          <p:cNvPr id="9" name="Text 7"/>
          <p:cNvSpPr/>
          <p:nvPr/>
        </p:nvSpPr>
        <p:spPr>
          <a:xfrm>
            <a:off x="457200" y="1417320"/>
            <a:ext cx="3383280" cy="320040"/>
          </a:xfrm>
          <a:prstGeom prst="rect">
            <a:avLst/>
          </a:prstGeom>
          <a:noFill/>
          <a:ln/>
        </p:spPr>
        <p:txBody>
          <a:bodyPr wrap="square" rtlCol="0" anchor="ctr"/>
          <a:lstStyle/>
          <a:p>
            <a:pPr algn="ctr" indent="0" marL="0">
              <a:buNone/>
            </a:pPr>
            <a:r>
              <a:rPr lang="en-US" sz="1100" b="1" dirty="0">
                <a:solidFill>
                  <a:srgbClr val="0A1628"/>
                </a:solidFill>
                <a:latin typeface="Calibri" pitchFamily="34" charset="0"/>
                <a:ea typeface="Calibri" pitchFamily="34" charset="-122"/>
                <a:cs typeface="Calibri" pitchFamily="34" charset="-120"/>
              </a:rPr>
              <a:t>Revenue at Risk</a:t>
            </a:r>
            <a:endParaRPr lang="en-US" sz="1100" dirty="0"/>
          </a:p>
        </p:txBody>
      </p:sp>
      <p:sp>
        <p:nvSpPr>
          <p:cNvPr id="10" name="Text 8"/>
          <p:cNvSpPr/>
          <p:nvPr/>
        </p:nvSpPr>
        <p:spPr>
          <a:xfrm>
            <a:off x="457200" y="1874520"/>
            <a:ext cx="3383280" cy="822960"/>
          </a:xfrm>
          <a:prstGeom prst="rect">
            <a:avLst/>
          </a:prstGeom>
          <a:noFill/>
          <a:ln/>
        </p:spPr>
        <p:txBody>
          <a:bodyPr wrap="square" rtlCol="0" anchor="ctr"/>
          <a:lstStyle/>
          <a:p>
            <a:pPr algn="ctr" indent="0" marL="0">
              <a:buNone/>
            </a:pPr>
            <a:r>
              <a:rPr lang="en-US" sz="3200" b="1" dirty="0">
                <a:solidFill>
                  <a:srgbClr val="D4820A"/>
                </a:solidFill>
                <a:latin typeface="Calibri" pitchFamily="34" charset="0"/>
                <a:ea typeface="Calibri" pitchFamily="34" charset="-122"/>
                <a:cs typeface="Calibri" pitchFamily="34" charset="-120"/>
              </a:rPr>
              <a:t>$37.2M</a:t>
            </a:r>
            <a:endParaRPr lang="en-US" sz="3200" dirty="0"/>
          </a:p>
        </p:txBody>
      </p:sp>
      <p:sp>
        <p:nvSpPr>
          <p:cNvPr id="11" name="Text 9"/>
          <p:cNvSpPr/>
          <p:nvPr/>
        </p:nvSpPr>
        <p:spPr>
          <a:xfrm>
            <a:off x="457200" y="2834640"/>
            <a:ext cx="3383280" cy="868680"/>
          </a:xfrm>
          <a:prstGeom prst="rect">
            <a:avLst/>
          </a:prstGeom>
          <a:noFill/>
          <a:ln/>
        </p:spPr>
        <p:txBody>
          <a:bodyPr wrap="square" rtlCol="0" anchor="ctr"/>
          <a:lstStyle/>
          <a:p>
            <a:pPr algn="ctr" indent="0" marL="0">
              <a:buNone/>
            </a:pPr>
            <a:r>
              <a:rPr lang="en-US" sz="950" i="1" dirty="0">
                <a:solidFill>
                  <a:srgbClr val="5A6A85"/>
                </a:solidFill>
                <a:latin typeface="Calibri" pitchFamily="34" charset="0"/>
                <a:ea typeface="Calibri" pitchFamily="34" charset="-122"/>
                <a:cs typeface="Calibri" pitchFamily="34" charset="-120"/>
              </a:rPr>
              <a:t>All detractor customers. Could leave. The risk is real but uncertain. The slow leak.</a:t>
            </a:r>
            <a:endParaRPr lang="en-US" sz="950" dirty="0"/>
          </a:p>
        </p:txBody>
      </p:sp>
      <p:sp>
        <p:nvSpPr>
          <p:cNvPr id="12" name="Shape 10"/>
          <p:cNvSpPr/>
          <p:nvPr/>
        </p:nvSpPr>
        <p:spPr>
          <a:xfrm>
            <a:off x="4343400" y="1280160"/>
            <a:ext cx="3566160" cy="3474720"/>
          </a:xfrm>
          <a:prstGeom prst="rect">
            <a:avLst/>
          </a:prstGeom>
          <a:solidFill>
            <a:srgbClr val="FEF2F2"/>
          </a:solidFill>
          <a:ln w="12700">
            <a:solidFill>
              <a:srgbClr val="C0392B"/>
            </a:solidFill>
            <a:prstDash val="solid"/>
          </a:ln>
          <a:effectLst>
            <a:outerShdw sx="100000" sy="100000" kx="0" ky="0" algn="bl" rotWithShape="0" blurRad="101600" dist="38100" dir="8100000">
              <a:srgbClr val="000000">
                <a:alpha val="12000"/>
              </a:srgbClr>
            </a:outerShdw>
          </a:effectLst>
        </p:spPr>
      </p:sp>
      <p:sp>
        <p:nvSpPr>
          <p:cNvPr id="13" name="Shape 11"/>
          <p:cNvSpPr/>
          <p:nvPr/>
        </p:nvSpPr>
        <p:spPr>
          <a:xfrm>
            <a:off x="4343400" y="1280160"/>
            <a:ext cx="3566160" cy="54864"/>
          </a:xfrm>
          <a:prstGeom prst="rect">
            <a:avLst/>
          </a:prstGeom>
          <a:solidFill>
            <a:srgbClr val="C0392B"/>
          </a:solidFill>
          <a:ln w="12700">
            <a:solidFill>
              <a:srgbClr val="C0392B"/>
            </a:solidFill>
            <a:prstDash val="solid"/>
          </a:ln>
        </p:spPr>
      </p:sp>
      <p:sp>
        <p:nvSpPr>
          <p:cNvPr id="14" name="Text 12"/>
          <p:cNvSpPr/>
          <p:nvPr/>
        </p:nvSpPr>
        <p:spPr>
          <a:xfrm>
            <a:off x="4434840" y="1417320"/>
            <a:ext cx="3383280" cy="320040"/>
          </a:xfrm>
          <a:prstGeom prst="rect">
            <a:avLst/>
          </a:prstGeom>
          <a:noFill/>
          <a:ln/>
        </p:spPr>
        <p:txBody>
          <a:bodyPr wrap="square" rtlCol="0" anchor="ctr"/>
          <a:lstStyle/>
          <a:p>
            <a:pPr algn="ctr" indent="0" marL="0">
              <a:buNone/>
            </a:pPr>
            <a:r>
              <a:rPr lang="en-US" sz="1100" b="1" dirty="0">
                <a:solidFill>
                  <a:srgbClr val="0A1628"/>
                </a:solidFill>
                <a:latin typeface="Calibri" pitchFamily="34" charset="0"/>
                <a:ea typeface="Calibri" pitchFamily="34" charset="-122"/>
                <a:cs typeface="Calibri" pitchFamily="34" charset="-120"/>
              </a:rPr>
              <a:t>VIP Revenue at Risk</a:t>
            </a:r>
            <a:endParaRPr lang="en-US" sz="1100" dirty="0"/>
          </a:p>
        </p:txBody>
      </p:sp>
      <p:sp>
        <p:nvSpPr>
          <p:cNvPr id="15" name="Text 13"/>
          <p:cNvSpPr/>
          <p:nvPr/>
        </p:nvSpPr>
        <p:spPr>
          <a:xfrm>
            <a:off x="4434840" y="1874520"/>
            <a:ext cx="3383280" cy="822960"/>
          </a:xfrm>
          <a:prstGeom prst="rect">
            <a:avLst/>
          </a:prstGeom>
          <a:noFill/>
          <a:ln/>
        </p:spPr>
        <p:txBody>
          <a:bodyPr wrap="square" rtlCol="0" anchor="ctr"/>
          <a:lstStyle/>
          <a:p>
            <a:pPr algn="ctr" indent="0" marL="0">
              <a:buNone/>
            </a:pPr>
            <a:r>
              <a:rPr lang="en-US" sz="3200" b="1" dirty="0">
                <a:solidFill>
                  <a:srgbClr val="C0392B"/>
                </a:solidFill>
                <a:latin typeface="Calibri" pitchFamily="34" charset="0"/>
                <a:ea typeface="Calibri" pitchFamily="34" charset="-122"/>
                <a:cs typeface="Calibri" pitchFamily="34" charset="-120"/>
              </a:rPr>
              <a:t>$15.7M</a:t>
            </a:r>
            <a:endParaRPr lang="en-US" sz="3200" dirty="0"/>
          </a:p>
        </p:txBody>
      </p:sp>
      <p:sp>
        <p:nvSpPr>
          <p:cNvPr id="16" name="Text 14"/>
          <p:cNvSpPr/>
          <p:nvPr/>
        </p:nvSpPr>
        <p:spPr>
          <a:xfrm>
            <a:off x="4434840" y="2834640"/>
            <a:ext cx="3383280" cy="868680"/>
          </a:xfrm>
          <a:prstGeom prst="rect">
            <a:avLst/>
          </a:prstGeom>
          <a:noFill/>
          <a:ln/>
        </p:spPr>
        <p:txBody>
          <a:bodyPr wrap="square" rtlCol="0" anchor="ctr"/>
          <a:lstStyle/>
          <a:p>
            <a:pPr algn="ctr" indent="0" marL="0">
              <a:buNone/>
            </a:pPr>
            <a:r>
              <a:rPr lang="en-US" sz="950" i="1" dirty="0">
                <a:solidFill>
                  <a:srgbClr val="5A6A85"/>
                </a:solidFill>
                <a:latin typeface="Calibri" pitchFamily="34" charset="0"/>
                <a:ea typeface="Calibri" pitchFamily="34" charset="-122"/>
                <a:cs typeface="Calibri" pitchFamily="34" charset="-120"/>
              </a:rPr>
              <a:t>VIP detractors specifically. Worst NPS. Most credible critics. The burst pipe.</a:t>
            </a:r>
            <a:endParaRPr lang="en-US" sz="950" dirty="0"/>
          </a:p>
        </p:txBody>
      </p:sp>
      <p:sp>
        <p:nvSpPr>
          <p:cNvPr id="17" name="Shape 15"/>
          <p:cNvSpPr/>
          <p:nvPr/>
        </p:nvSpPr>
        <p:spPr>
          <a:xfrm>
            <a:off x="8321040" y="1280160"/>
            <a:ext cx="3749040" cy="3474720"/>
          </a:xfrm>
          <a:prstGeom prst="rect">
            <a:avLst/>
          </a:prstGeom>
          <a:solidFill>
            <a:srgbClr val="C0392B"/>
          </a:solidFill>
          <a:ln w="12700">
            <a:solidFill>
              <a:srgbClr val="C0392B"/>
            </a:solidFill>
            <a:prstDash val="solid"/>
          </a:ln>
          <a:effectLst>
            <a:outerShdw sx="100000" sy="100000" kx="0" ky="0" algn="bl" rotWithShape="0" blurRad="101600" dist="38100" dir="8100000">
              <a:srgbClr val="000000">
                <a:alpha val="12000"/>
              </a:srgbClr>
            </a:outerShdw>
          </a:effectLst>
        </p:spPr>
      </p:sp>
      <p:sp>
        <p:nvSpPr>
          <p:cNvPr id="18" name="Shape 16"/>
          <p:cNvSpPr/>
          <p:nvPr/>
        </p:nvSpPr>
        <p:spPr>
          <a:xfrm>
            <a:off x="8321040" y="1280160"/>
            <a:ext cx="3749040" cy="54864"/>
          </a:xfrm>
          <a:prstGeom prst="rect">
            <a:avLst/>
          </a:prstGeom>
          <a:solidFill>
            <a:srgbClr val="C0392B"/>
          </a:solidFill>
          <a:ln w="12700">
            <a:solidFill>
              <a:srgbClr val="C0392B"/>
            </a:solidFill>
            <a:prstDash val="solid"/>
          </a:ln>
        </p:spPr>
      </p:sp>
      <p:sp>
        <p:nvSpPr>
          <p:cNvPr id="19" name="Text 17"/>
          <p:cNvSpPr/>
          <p:nvPr/>
        </p:nvSpPr>
        <p:spPr>
          <a:xfrm>
            <a:off x="8412480" y="1417320"/>
            <a:ext cx="3566160" cy="3200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Point of No Return</a:t>
            </a:r>
            <a:endParaRPr lang="en-US" sz="1100" dirty="0"/>
          </a:p>
        </p:txBody>
      </p:sp>
      <p:sp>
        <p:nvSpPr>
          <p:cNvPr id="20" name="Text 18"/>
          <p:cNvSpPr/>
          <p:nvPr/>
        </p:nvSpPr>
        <p:spPr>
          <a:xfrm>
            <a:off x="8412480" y="1874520"/>
            <a:ext cx="3566160" cy="822960"/>
          </a:xfrm>
          <a:prstGeom prst="rect">
            <a:avLst/>
          </a:prstGeom>
          <a:no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$1,076,419</a:t>
            </a:r>
            <a:endParaRPr lang="en-US" sz="2600" dirty="0"/>
          </a:p>
        </p:txBody>
      </p:sp>
      <p:sp>
        <p:nvSpPr>
          <p:cNvPr id="21" name="Text 19"/>
          <p:cNvSpPr/>
          <p:nvPr/>
        </p:nvSpPr>
        <p:spPr>
          <a:xfrm>
            <a:off x="8412480" y="2834640"/>
            <a:ext cx="3566160" cy="868680"/>
          </a:xfrm>
          <a:prstGeom prst="rect">
            <a:avLst/>
          </a:prstGeom>
          <a:noFill/>
          <a:ln/>
        </p:spPr>
        <p:txBody>
          <a:bodyPr wrap="square" rtlCol="0" anchor="ctr"/>
          <a:lstStyle/>
          <a:p>
            <a:pPr algn="ctr" indent="0" marL="0">
              <a:buNone/>
            </a:pPr>
            <a:r>
              <a:rPr lang="en-US" sz="950" i="1" dirty="0">
                <a:solidFill>
                  <a:srgbClr val="FFAAAA"/>
                </a:solidFill>
                <a:latin typeface="Calibri" pitchFamily="34" charset="0"/>
                <a:ea typeface="Calibri" pitchFamily="34" charset="-122"/>
                <a:cs typeface="Calibri" pitchFamily="34" charset="-120"/>
              </a:rPr>
              <a:t>VIP + Unresolved crisis + Competitor present. The house is on fire. Act today.</a:t>
            </a:r>
            <a:endParaRPr lang="en-US" sz="950" dirty="0"/>
          </a:p>
        </p:txBody>
      </p:sp>
      <p:sp>
        <p:nvSpPr>
          <p:cNvPr id="22" name="Text 20"/>
          <p:cNvSpPr/>
          <p:nvPr/>
        </p:nvSpPr>
        <p:spPr>
          <a:xfrm>
            <a:off x="365760" y="4983480"/>
            <a:ext cx="8229600" cy="256032"/>
          </a:xfrm>
          <a:prstGeom prst="rect">
            <a:avLst/>
          </a:prstGeom>
          <a:noFill/>
          <a:ln/>
        </p:spPr>
        <p:txBody>
          <a:bodyPr wrap="square" rtlCol="0" anchor="ctr"/>
          <a:lstStyle/>
          <a:p>
            <a:pPr indent="0" marL="0">
              <a:buNone/>
            </a:pPr>
            <a:r>
              <a:rPr lang="en-US" sz="900" b="1" spc="100" kern="0" dirty="0">
                <a:solidFill>
                  <a:srgbClr val="C8A84B"/>
                </a:solidFill>
                <a:latin typeface="Calibri" pitchFamily="34" charset="0"/>
                <a:ea typeface="Calibri" pitchFamily="34" charset="-122"/>
                <a:cs typeface="Calibri" pitchFamily="34" charset="-120"/>
              </a:rPr>
              <a:t>THE THREE CONDITIONS THAT CREATE A POINT OF NO RETURN:</a:t>
            </a:r>
            <a:endParaRPr lang="en-US" sz="900" dirty="0"/>
          </a:p>
        </p:txBody>
      </p:sp>
      <p:sp>
        <p:nvSpPr>
          <p:cNvPr id="23" name="Shape 21"/>
          <p:cNvSpPr/>
          <p:nvPr/>
        </p:nvSpPr>
        <p:spPr>
          <a:xfrm>
            <a:off x="365760" y="5349240"/>
            <a:ext cx="3749040" cy="822960"/>
          </a:xfrm>
          <a:prstGeom prst="rect">
            <a:avLst/>
          </a:prstGeom>
          <a:solidFill>
            <a:srgbClr val="FEF2F2"/>
          </a:solidFill>
          <a:ln w="12700">
            <a:solidFill>
              <a:srgbClr val="C0392B"/>
            </a:solidFill>
            <a:prstDash val="solid"/>
          </a:ln>
        </p:spPr>
      </p:sp>
      <p:sp>
        <p:nvSpPr>
          <p:cNvPr id="24" name="Text 22"/>
          <p:cNvSpPr/>
          <p:nvPr/>
        </p:nvSpPr>
        <p:spPr>
          <a:xfrm>
            <a:off x="502920" y="5413248"/>
            <a:ext cx="3566160" cy="256032"/>
          </a:xfrm>
          <a:prstGeom prst="rect">
            <a:avLst/>
          </a:prstGeom>
          <a:noFill/>
          <a:ln/>
        </p:spPr>
        <p:txBody>
          <a:bodyPr wrap="square" rtlCol="0" anchor="ctr"/>
          <a:lstStyle/>
          <a:p>
            <a:pPr indent="0" marL="0">
              <a:buNone/>
            </a:pPr>
            <a:r>
              <a:rPr lang="en-US" sz="1000" b="1" dirty="0">
                <a:solidFill>
                  <a:srgbClr val="C0392B"/>
                </a:solidFill>
                <a:latin typeface="Calibri" pitchFamily="34" charset="0"/>
                <a:ea typeface="Calibri" pitchFamily="34" charset="-122"/>
                <a:cs typeface="Calibri" pitchFamily="34" charset="-120"/>
              </a:rPr>
              <a:t>VIP Customer</a:t>
            </a:r>
            <a:endParaRPr lang="en-US" sz="1000" dirty="0"/>
          </a:p>
        </p:txBody>
      </p:sp>
      <p:sp>
        <p:nvSpPr>
          <p:cNvPr id="25" name="Text 23"/>
          <p:cNvSpPr/>
          <p:nvPr/>
        </p:nvSpPr>
        <p:spPr>
          <a:xfrm>
            <a:off x="502920" y="5696712"/>
            <a:ext cx="3566160" cy="438912"/>
          </a:xfrm>
          <a:prstGeom prst="rect">
            <a:avLst/>
          </a:prstGeom>
          <a:noFill/>
          <a:ln/>
        </p:spPr>
        <p:txBody>
          <a:bodyPr wrap="square" rtlCol="0" anchor="ctr"/>
          <a:lstStyle/>
          <a:p>
            <a:pPr indent="0" marL="0">
              <a:buNone/>
            </a:pPr>
            <a:r>
              <a:rPr lang="en-US" sz="850" dirty="0">
                <a:solidFill>
                  <a:srgbClr val="2A2820"/>
                </a:solidFill>
                <a:latin typeface="Calibri" pitchFamily="34" charset="0"/>
                <a:ea typeface="Calibri" pitchFamily="34" charset="-122"/>
                <a:cs typeface="Calibri" pitchFamily="34" charset="-120"/>
              </a:rPr>
              <a:t>Longest relationship. Most money spent. Most credible voice if they speak negatively.</a:t>
            </a:r>
            <a:endParaRPr lang="en-US" sz="850" dirty="0"/>
          </a:p>
        </p:txBody>
      </p:sp>
      <p:sp>
        <p:nvSpPr>
          <p:cNvPr id="26" name="Shape 24"/>
          <p:cNvSpPr/>
          <p:nvPr/>
        </p:nvSpPr>
        <p:spPr>
          <a:xfrm>
            <a:off x="4343400" y="5349240"/>
            <a:ext cx="3749040" cy="822960"/>
          </a:xfrm>
          <a:prstGeom prst="rect">
            <a:avLst/>
          </a:prstGeom>
          <a:solidFill>
            <a:srgbClr val="FEF2F2"/>
          </a:solidFill>
          <a:ln w="12700">
            <a:solidFill>
              <a:srgbClr val="C0392B"/>
            </a:solidFill>
            <a:prstDash val="solid"/>
          </a:ln>
        </p:spPr>
      </p:sp>
      <p:sp>
        <p:nvSpPr>
          <p:cNvPr id="27" name="Text 25"/>
          <p:cNvSpPr/>
          <p:nvPr/>
        </p:nvSpPr>
        <p:spPr>
          <a:xfrm>
            <a:off x="4480560" y="5413248"/>
            <a:ext cx="3566160" cy="256032"/>
          </a:xfrm>
          <a:prstGeom prst="rect">
            <a:avLst/>
          </a:prstGeom>
          <a:noFill/>
          <a:ln/>
        </p:spPr>
        <p:txBody>
          <a:bodyPr wrap="square" rtlCol="0" anchor="ctr"/>
          <a:lstStyle/>
          <a:p>
            <a:pPr indent="0" marL="0">
              <a:buNone/>
            </a:pPr>
            <a:r>
              <a:rPr lang="en-US" sz="1000" b="1" dirty="0">
                <a:solidFill>
                  <a:srgbClr val="C0392B"/>
                </a:solidFill>
                <a:latin typeface="Calibri" pitchFamily="34" charset="0"/>
                <a:ea typeface="Calibri" pitchFamily="34" charset="-122"/>
                <a:cs typeface="Calibri" pitchFamily="34" charset="-120"/>
              </a:rPr>
              <a:t>Unresolved Crisis</a:t>
            </a:r>
            <a:endParaRPr lang="en-US" sz="1000" dirty="0"/>
          </a:p>
        </p:txBody>
      </p:sp>
      <p:sp>
        <p:nvSpPr>
          <p:cNvPr id="28" name="Text 26"/>
          <p:cNvSpPr/>
          <p:nvPr/>
        </p:nvSpPr>
        <p:spPr>
          <a:xfrm>
            <a:off x="4480560" y="5696712"/>
            <a:ext cx="3566160" cy="438912"/>
          </a:xfrm>
          <a:prstGeom prst="rect">
            <a:avLst/>
          </a:prstGeom>
          <a:noFill/>
          <a:ln/>
        </p:spPr>
        <p:txBody>
          <a:bodyPr wrap="square" rtlCol="0" anchor="ctr"/>
          <a:lstStyle/>
          <a:p>
            <a:pPr indent="0" marL="0">
              <a:buNone/>
            </a:pPr>
            <a:r>
              <a:rPr lang="en-US" sz="850" dirty="0">
                <a:solidFill>
                  <a:srgbClr val="2A2820"/>
                </a:solidFill>
                <a:latin typeface="Calibri" pitchFamily="34" charset="0"/>
                <a:ea typeface="Calibri" pitchFamily="34" charset="-122"/>
                <a:cs typeface="Calibri" pitchFamily="34" charset="-120"/>
              </a:rPr>
              <a:t>AfriTech has failed them and has not fixed it. The wound is open. Deepening daily.</a:t>
            </a:r>
            <a:endParaRPr lang="en-US" sz="850" dirty="0"/>
          </a:p>
        </p:txBody>
      </p:sp>
      <p:sp>
        <p:nvSpPr>
          <p:cNvPr id="29" name="Shape 27"/>
          <p:cNvSpPr/>
          <p:nvPr/>
        </p:nvSpPr>
        <p:spPr>
          <a:xfrm>
            <a:off x="8321040" y="5349240"/>
            <a:ext cx="3749040" cy="822960"/>
          </a:xfrm>
          <a:prstGeom prst="rect">
            <a:avLst/>
          </a:prstGeom>
          <a:solidFill>
            <a:srgbClr val="FEF2F2"/>
          </a:solidFill>
          <a:ln w="12700">
            <a:solidFill>
              <a:srgbClr val="C0392B"/>
            </a:solidFill>
            <a:prstDash val="solid"/>
          </a:ln>
        </p:spPr>
      </p:sp>
      <p:sp>
        <p:nvSpPr>
          <p:cNvPr id="30" name="Text 28"/>
          <p:cNvSpPr/>
          <p:nvPr/>
        </p:nvSpPr>
        <p:spPr>
          <a:xfrm>
            <a:off x="8458200" y="5413248"/>
            <a:ext cx="3566160" cy="256032"/>
          </a:xfrm>
          <a:prstGeom prst="rect">
            <a:avLst/>
          </a:prstGeom>
          <a:noFill/>
          <a:ln/>
        </p:spPr>
        <p:txBody>
          <a:bodyPr wrap="square" rtlCol="0" anchor="ctr"/>
          <a:lstStyle/>
          <a:p>
            <a:pPr indent="0" marL="0">
              <a:buNone/>
            </a:pPr>
            <a:r>
              <a:rPr lang="en-US" sz="1000" b="1" dirty="0">
                <a:solidFill>
                  <a:srgbClr val="C0392B"/>
                </a:solidFill>
                <a:latin typeface="Calibri" pitchFamily="34" charset="0"/>
                <a:ea typeface="Calibri" pitchFamily="34" charset="-122"/>
                <a:cs typeface="Calibri" pitchFamily="34" charset="-120"/>
              </a:rPr>
              <a:t>Competitor Present</a:t>
            </a:r>
            <a:endParaRPr lang="en-US" sz="1000" dirty="0"/>
          </a:p>
        </p:txBody>
      </p:sp>
      <p:sp>
        <p:nvSpPr>
          <p:cNvPr id="31" name="Text 29"/>
          <p:cNvSpPr/>
          <p:nvPr/>
        </p:nvSpPr>
        <p:spPr>
          <a:xfrm>
            <a:off x="8458200" y="5696712"/>
            <a:ext cx="3566160" cy="438912"/>
          </a:xfrm>
          <a:prstGeom prst="rect">
            <a:avLst/>
          </a:prstGeom>
          <a:noFill/>
          <a:ln/>
        </p:spPr>
        <p:txBody>
          <a:bodyPr wrap="square" rtlCol="0" anchor="ctr"/>
          <a:lstStyle/>
          <a:p>
            <a:pPr indent="0" marL="0">
              <a:buNone/>
            </a:pPr>
            <a:r>
              <a:rPr lang="en-US" sz="850" dirty="0">
                <a:solidFill>
                  <a:srgbClr val="2A2820"/>
                </a:solidFill>
                <a:latin typeface="Calibri" pitchFamily="34" charset="0"/>
                <a:ea typeface="Calibri" pitchFamily="34" charset="-122"/>
                <a:cs typeface="Calibri" pitchFamily="34" charset="-120"/>
              </a:rPr>
              <a:t>Someone is offering them an alternative right now. Not in future. Right now.</a:t>
            </a:r>
            <a:endParaRPr lang="en-US" sz="850" dirty="0"/>
          </a:p>
        </p:txBody>
      </p:sp>
      <p:sp>
        <p:nvSpPr>
          <p:cNvPr id="32" name="Shape 30"/>
          <p:cNvSpPr/>
          <p:nvPr/>
        </p:nvSpPr>
        <p:spPr>
          <a:xfrm>
            <a:off x="0" y="6537960"/>
            <a:ext cx="12161520" cy="320040"/>
          </a:xfrm>
          <a:prstGeom prst="rect">
            <a:avLst/>
          </a:prstGeom>
          <a:solidFill>
            <a:srgbClr val="0A1628"/>
          </a:solidFill>
          <a:ln w="12700">
            <a:solidFill>
              <a:srgbClr val="0A1628"/>
            </a:solidFill>
            <a:prstDash val="solid"/>
          </a:ln>
        </p:spPr>
      </p:sp>
      <p:sp>
        <p:nvSpPr>
          <p:cNvPr id="33" name="Text 31"/>
          <p:cNvSpPr/>
          <p:nvPr/>
        </p:nvSpPr>
        <p:spPr>
          <a:xfrm>
            <a:off x="365760" y="6565392"/>
            <a:ext cx="9144000" cy="256032"/>
          </a:xfrm>
          <a:prstGeom prst="rect">
            <a:avLst/>
          </a:prstGeom>
          <a:noFill/>
          <a:ln/>
        </p:spPr>
        <p:txBody>
          <a:bodyPr wrap="square" rtlCol="0" anchor="ctr"/>
          <a:lstStyle/>
          <a:p>
            <a:pPr indent="0" marL="0">
              <a:buNone/>
            </a:pPr>
            <a:r>
              <a:rPr lang="en-US" sz="750" dirty="0">
                <a:solidFill>
                  <a:srgbClr val="8899BB"/>
                </a:solidFill>
                <a:latin typeface="Calibri" pitchFamily="34" charset="0"/>
                <a:ea typeface="Calibri" pitchFamily="34" charset="-122"/>
                <a:cs typeface="Calibri" pitchFamily="34" charset="-120"/>
              </a:rPr>
              <a:t>Samuel Ahinakwa  |  Finance &amp; Analytics Professional  |  BSc · MSc · ICAG Finalist  |  Confidential</a:t>
            </a:r>
            <a:endParaRPr lang="en-US" sz="750" dirty="0"/>
          </a:p>
        </p:txBody>
      </p:sp>
      <p:sp>
        <p:nvSpPr>
          <p:cNvPr id="34" name="Text 32"/>
          <p:cNvSpPr/>
          <p:nvPr/>
        </p:nvSpPr>
        <p:spPr>
          <a:xfrm>
            <a:off x="11338560" y="6565392"/>
            <a:ext cx="731520" cy="256032"/>
          </a:xfrm>
          <a:prstGeom prst="rect">
            <a:avLst/>
          </a:prstGeom>
          <a:noFill/>
          <a:ln/>
        </p:spPr>
        <p:txBody>
          <a:bodyPr wrap="square" rtlCol="0" anchor="ctr"/>
          <a:lstStyle/>
          <a:p>
            <a:pPr algn="r" indent="0" marL="0">
              <a:buNone/>
            </a:pPr>
            <a:r>
              <a:rPr lang="en-US" sz="800" dirty="0">
                <a:solidFill>
                  <a:srgbClr val="C8A84B"/>
                </a:solidFill>
                <a:latin typeface="Calibri" pitchFamily="34" charset="0"/>
                <a:ea typeface="Calibri" pitchFamily="34" charset="-122"/>
                <a:cs typeface="Calibri" pitchFamily="34" charset="-120"/>
              </a:rPr>
              <a:t>13 / 20</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1051560"/>
          </a:xfrm>
          <a:prstGeom prst="rect">
            <a:avLst/>
          </a:prstGeom>
          <a:solidFill>
            <a:srgbClr val="0A1628"/>
          </a:solidFill>
          <a:ln w="12700">
            <a:solidFill>
              <a:srgbClr val="0A1628"/>
            </a:solidFill>
            <a:prstDash val="solid"/>
          </a:ln>
        </p:spPr>
      </p:sp>
      <p:sp>
        <p:nvSpPr>
          <p:cNvPr id="3" name="Shape 1"/>
          <p:cNvSpPr/>
          <p:nvPr/>
        </p:nvSpPr>
        <p:spPr>
          <a:xfrm>
            <a:off x="0" y="1051560"/>
            <a:ext cx="12161520" cy="36576"/>
          </a:xfrm>
          <a:prstGeom prst="rect">
            <a:avLst/>
          </a:prstGeom>
          <a:solidFill>
            <a:srgbClr val="C8A84B"/>
          </a:solidFill>
          <a:ln w="12700">
            <a:solidFill>
              <a:srgbClr val="C8A84B"/>
            </a:solidFill>
            <a:prstDash val="solid"/>
          </a:ln>
        </p:spPr>
      </p:sp>
      <p:sp>
        <p:nvSpPr>
          <p:cNvPr id="4" name="Text 2"/>
          <p:cNvSpPr/>
          <p:nvPr/>
        </p:nvSpPr>
        <p:spPr>
          <a:xfrm>
            <a:off x="365760" y="64008"/>
            <a:ext cx="4572000" cy="228600"/>
          </a:xfrm>
          <a:prstGeom prst="rect">
            <a:avLst/>
          </a:prstGeom>
          <a:noFill/>
          <a:ln/>
        </p:spPr>
        <p:txBody>
          <a:bodyPr wrap="square" rtlCol="0" anchor="ctr"/>
          <a:lstStyle/>
          <a:p>
            <a:pPr indent="0" marL="0">
              <a:buNone/>
            </a:pPr>
            <a:r>
              <a:rPr lang="en-US" sz="800" b="1" spc="200" kern="0" dirty="0">
                <a:solidFill>
                  <a:srgbClr val="C8A84B"/>
                </a:solidFill>
                <a:latin typeface="Calibri" pitchFamily="34" charset="0"/>
                <a:ea typeface="Calibri" pitchFamily="34" charset="-122"/>
                <a:cs typeface="Calibri" pitchFamily="34" charset="-120"/>
              </a:rPr>
              <a:t>03 — CRISIS MANAGEMENT</a:t>
            </a:r>
            <a:endParaRPr lang="en-US" sz="800" dirty="0"/>
          </a:p>
        </p:txBody>
      </p:sp>
      <p:sp>
        <p:nvSpPr>
          <p:cNvPr id="5" name="Text 3"/>
          <p:cNvSpPr/>
          <p:nvPr/>
        </p:nvSpPr>
        <p:spPr>
          <a:xfrm>
            <a:off x="365760" y="256032"/>
            <a:ext cx="9601200" cy="566928"/>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Competitors Are Listening to Every Unanswered Call</a:t>
            </a:r>
            <a:endParaRPr lang="en-US" sz="2600" dirty="0"/>
          </a:p>
        </p:txBody>
      </p:sp>
      <p:sp>
        <p:nvSpPr>
          <p:cNvPr id="6" name="Text 4"/>
          <p:cNvSpPr/>
          <p:nvPr/>
        </p:nvSpPr>
        <p:spPr>
          <a:xfrm>
            <a:off x="365760" y="795528"/>
            <a:ext cx="10058400" cy="228600"/>
          </a:xfrm>
          <a:prstGeom prst="rect">
            <a:avLst/>
          </a:prstGeom>
          <a:noFill/>
          <a:ln/>
        </p:spPr>
        <p:txBody>
          <a:bodyPr wrap="square" rtlCol="0" anchor="ctr"/>
          <a:lstStyle/>
          <a:p>
            <a:pPr indent="0" marL="0">
              <a:buNone/>
            </a:pPr>
            <a:r>
              <a:rPr lang="en-US" sz="1050" i="1" dirty="0">
                <a:solidFill>
                  <a:srgbClr val="8899BB"/>
                </a:solidFill>
                <a:latin typeface="Calibri" pitchFamily="34" charset="0"/>
                <a:ea typeface="Calibri" pitchFamily="34" charset="-122"/>
                <a:cs typeface="Calibri" pitchFamily="34" charset="-120"/>
              </a:rPr>
              <a:t>50.6% of all crisis events include a competitor mention</a:t>
            </a:r>
            <a:endParaRPr lang="en-US" sz="1050" dirty="0"/>
          </a:p>
        </p:txBody>
      </p:sp>
      <p:sp>
        <p:nvSpPr>
          <p:cNvPr id="7" name="Text 5"/>
          <p:cNvSpPr/>
          <p:nvPr/>
        </p:nvSpPr>
        <p:spPr>
          <a:xfrm>
            <a:off x="365760" y="1298448"/>
            <a:ext cx="7315200" cy="256032"/>
          </a:xfrm>
          <a:prstGeom prst="rect">
            <a:avLst/>
          </a:prstGeom>
          <a:noFill/>
          <a:ln/>
        </p:spPr>
        <p:txBody>
          <a:bodyPr wrap="square" rtlCol="0" anchor="ctr"/>
          <a:lstStyle/>
          <a:p>
            <a:pPr indent="0" marL="0">
              <a:buNone/>
            </a:pPr>
            <a:r>
              <a:rPr lang="en-US" sz="850" b="1" spc="100" kern="0" dirty="0">
                <a:solidFill>
                  <a:srgbClr val="C8A84B"/>
                </a:solidFill>
                <a:latin typeface="Calibri" pitchFamily="34" charset="0"/>
                <a:ea typeface="Calibri" pitchFamily="34" charset="-122"/>
                <a:cs typeface="Calibri" pitchFamily="34" charset="-120"/>
              </a:rPr>
              <a:t>COMPETITOR PRESENCE IN AFRITECH BRAND CONVERSATIONS</a:t>
            </a:r>
            <a:endParaRPr lang="en-US" sz="850" dirty="0"/>
          </a:p>
        </p:txBody>
      </p:sp>
      <p:sp>
        <p:nvSpPr>
          <p:cNvPr id="8" name="Shape 6"/>
          <p:cNvSpPr/>
          <p:nvPr/>
        </p:nvSpPr>
        <p:spPr>
          <a:xfrm>
            <a:off x="365760" y="1737360"/>
            <a:ext cx="3200400" cy="3200400"/>
          </a:xfrm>
          <a:prstGeom prst="ellipse">
            <a:avLst/>
          </a:prstGeom>
          <a:solidFill>
            <a:srgbClr val="0A1628"/>
          </a:solidFill>
          <a:ln w="12700">
            <a:solidFill>
              <a:srgbClr val="0A1628"/>
            </a:solidFill>
            <a:prstDash val="solid"/>
          </a:ln>
        </p:spPr>
      </p:sp>
      <p:sp>
        <p:nvSpPr>
          <p:cNvPr id="9" name="Text 7"/>
          <p:cNvSpPr/>
          <p:nvPr/>
        </p:nvSpPr>
        <p:spPr>
          <a:xfrm>
            <a:off x="457200" y="2606040"/>
            <a:ext cx="3017520" cy="54864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37,773</a:t>
            </a:r>
            <a:endParaRPr lang="en-US" sz="2800" dirty="0"/>
          </a:p>
        </p:txBody>
      </p:sp>
      <p:sp>
        <p:nvSpPr>
          <p:cNvPr id="10" name="Text 8"/>
          <p:cNvSpPr/>
          <p:nvPr/>
        </p:nvSpPr>
        <p:spPr>
          <a:xfrm>
            <a:off x="457200" y="3246120"/>
            <a:ext cx="3017520" cy="502920"/>
          </a:xfrm>
          <a:prstGeom prst="rect">
            <a:avLst/>
          </a:prstGeom>
          <a:noFill/>
          <a:ln/>
        </p:spPr>
        <p:txBody>
          <a:bodyPr wrap="square" rtlCol="0" anchor="ctr"/>
          <a:lstStyle/>
          <a:p>
            <a:pPr algn="ctr" indent="0" marL="0">
              <a:buNone/>
            </a:pPr>
            <a:r>
              <a:rPr lang="en-US" sz="900" dirty="0">
                <a:solidFill>
                  <a:srgbClr val="C8A84B"/>
                </a:solidFill>
                <a:latin typeface="Calibri" pitchFamily="34" charset="0"/>
                <a:ea typeface="Calibri" pitchFamily="34" charset="-122"/>
                <a:cs typeface="Calibri" pitchFamily="34" charset="-120"/>
              </a:rPr>
              <a:t>AfriTech</a:t>
            </a:r>
            <a:endParaRPr lang="en-US" sz="900" dirty="0"/>
          </a:p>
          <a:p>
            <a:pPr algn="ctr" indent="0" marL="0">
              <a:buNone/>
            </a:pPr>
            <a:r>
              <a:rPr lang="en-US" sz="900" dirty="0">
                <a:solidFill>
                  <a:srgbClr val="C8A84B"/>
                </a:solidFill>
                <a:latin typeface="Calibri" pitchFamily="34" charset="0"/>
                <a:ea typeface="Calibri" pitchFamily="34" charset="-122"/>
                <a:cs typeface="Calibri" pitchFamily="34" charset="-120"/>
              </a:rPr>
              <a:t>Brand Mentions</a:t>
            </a:r>
            <a:endParaRPr lang="en-US" sz="900" dirty="0"/>
          </a:p>
        </p:txBody>
      </p:sp>
      <p:sp>
        <p:nvSpPr>
          <p:cNvPr id="11" name="Text 9"/>
          <p:cNvSpPr/>
          <p:nvPr/>
        </p:nvSpPr>
        <p:spPr>
          <a:xfrm>
            <a:off x="3749040" y="2926080"/>
            <a:ext cx="548640" cy="365760"/>
          </a:xfrm>
          <a:prstGeom prst="rect">
            <a:avLst/>
          </a:prstGeom>
          <a:noFill/>
          <a:ln/>
        </p:spPr>
        <p:txBody>
          <a:bodyPr wrap="square" rtlCol="0" anchor="ctr"/>
          <a:lstStyle/>
          <a:p>
            <a:pPr algn="ctr" indent="0" marL="0">
              <a:buNone/>
            </a:pPr>
            <a:r>
              <a:rPr lang="en-US" sz="1600" b="1" dirty="0">
                <a:solidFill>
                  <a:srgbClr val="5A6A85"/>
                </a:solidFill>
                <a:latin typeface="Calibri" pitchFamily="34" charset="0"/>
                <a:ea typeface="Calibri" pitchFamily="34" charset="-122"/>
                <a:cs typeface="Calibri" pitchFamily="34" charset="-120"/>
              </a:rPr>
              <a:t>vs</a:t>
            </a:r>
            <a:endParaRPr lang="en-US" sz="1600" dirty="0"/>
          </a:p>
        </p:txBody>
      </p:sp>
      <p:sp>
        <p:nvSpPr>
          <p:cNvPr id="12" name="Shape 10"/>
          <p:cNvSpPr/>
          <p:nvPr/>
        </p:nvSpPr>
        <p:spPr>
          <a:xfrm>
            <a:off x="4389120" y="1737360"/>
            <a:ext cx="3200400" cy="3200400"/>
          </a:xfrm>
          <a:prstGeom prst="ellipse">
            <a:avLst/>
          </a:prstGeom>
          <a:solidFill>
            <a:srgbClr val="C0392B"/>
          </a:solidFill>
          <a:ln w="12700">
            <a:solidFill>
              <a:srgbClr val="C0392B"/>
            </a:solidFill>
            <a:prstDash val="solid"/>
          </a:ln>
        </p:spPr>
      </p:sp>
      <p:sp>
        <p:nvSpPr>
          <p:cNvPr id="13" name="Text 11"/>
          <p:cNvSpPr/>
          <p:nvPr/>
        </p:nvSpPr>
        <p:spPr>
          <a:xfrm>
            <a:off x="4480560" y="2606040"/>
            <a:ext cx="3017520" cy="54864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36,870</a:t>
            </a:r>
            <a:endParaRPr lang="en-US" sz="2800" dirty="0"/>
          </a:p>
        </p:txBody>
      </p:sp>
      <p:sp>
        <p:nvSpPr>
          <p:cNvPr id="14" name="Text 12"/>
          <p:cNvSpPr/>
          <p:nvPr/>
        </p:nvSpPr>
        <p:spPr>
          <a:xfrm>
            <a:off x="4480560" y="3246120"/>
            <a:ext cx="3017520" cy="502920"/>
          </a:xfrm>
          <a:prstGeom prst="rect">
            <a:avLst/>
          </a:prstGeom>
          <a:noFill/>
          <a:ln/>
        </p:spPr>
        <p:txBody>
          <a:bodyPr wrap="square" rtlCol="0" anchor="ctr"/>
          <a:lstStyle/>
          <a:p>
            <a:pPr algn="ctr" indent="0" marL="0">
              <a:buNone/>
            </a:pPr>
            <a:r>
              <a:rPr lang="en-US" sz="900" dirty="0">
                <a:solidFill>
                  <a:srgbClr val="FFAAAA"/>
                </a:solidFill>
                <a:latin typeface="Calibri" pitchFamily="34" charset="0"/>
                <a:ea typeface="Calibri" pitchFamily="34" charset="-122"/>
                <a:cs typeface="Calibri" pitchFamily="34" charset="-120"/>
              </a:rPr>
              <a:t>Competitor</a:t>
            </a:r>
            <a:endParaRPr lang="en-US" sz="900" dirty="0"/>
          </a:p>
          <a:p>
            <a:pPr algn="ctr" indent="0" marL="0">
              <a:buNone/>
            </a:pPr>
            <a:r>
              <a:rPr lang="en-US" sz="900" dirty="0">
                <a:solidFill>
                  <a:srgbClr val="FFAAAA"/>
                </a:solidFill>
                <a:latin typeface="Calibri" pitchFamily="34" charset="0"/>
                <a:ea typeface="Calibri" pitchFamily="34" charset="-122"/>
                <a:cs typeface="Calibri" pitchFamily="34" charset="-120"/>
              </a:rPr>
              <a:t>Mentions</a:t>
            </a:r>
            <a:endParaRPr lang="en-US" sz="900" dirty="0"/>
          </a:p>
        </p:txBody>
      </p:sp>
      <p:sp>
        <p:nvSpPr>
          <p:cNvPr id="15" name="Text 13"/>
          <p:cNvSpPr/>
          <p:nvPr/>
        </p:nvSpPr>
        <p:spPr>
          <a:xfrm>
            <a:off x="365760" y="5120640"/>
            <a:ext cx="7315200" cy="548640"/>
          </a:xfrm>
          <a:prstGeom prst="rect">
            <a:avLst/>
          </a:prstGeom>
          <a:noFill/>
          <a:ln/>
        </p:spPr>
        <p:txBody>
          <a:bodyPr wrap="square" rtlCol="0" anchor="ctr"/>
          <a:lstStyle/>
          <a:p>
            <a:pPr algn="ctr" indent="0" marL="0">
              <a:buNone/>
            </a:pPr>
            <a:r>
              <a:rPr lang="en-US" sz="1100" b="1" dirty="0">
                <a:solidFill>
                  <a:srgbClr val="0A1628"/>
                </a:solidFill>
                <a:latin typeface="Calibri" pitchFamily="34" charset="0"/>
                <a:ea typeface="Calibri" pitchFamily="34" charset="-122"/>
                <a:cs typeface="Calibri" pitchFamily="34" charset="-120"/>
              </a:rPr>
              <a:t>1.02 : 1 ratio</a:t>
            </a:r>
            <a:endParaRPr lang="en-US" sz="1100" dirty="0"/>
          </a:p>
          <a:p>
            <a:pPr algn="ctr" indent="0" marL="0">
              <a:buNone/>
            </a:pPr>
            <a:r>
              <a:rPr lang="en-US" sz="1100" b="1" dirty="0">
                <a:solidFill>
                  <a:srgbClr val="0A1628"/>
                </a:solidFill>
                <a:latin typeface="Calibri" pitchFamily="34" charset="0"/>
                <a:ea typeface="Calibri" pitchFamily="34" charset="-122"/>
                <a:cs typeface="Calibri" pitchFamily="34" charset="-120"/>
              </a:rPr>
              <a:t>Neck and neck in AfriTech's own conversations</a:t>
            </a:r>
            <a:endParaRPr lang="en-US" sz="1100" dirty="0"/>
          </a:p>
        </p:txBody>
      </p:sp>
      <p:sp>
        <p:nvSpPr>
          <p:cNvPr id="16" name="Text 14"/>
          <p:cNvSpPr/>
          <p:nvPr/>
        </p:nvSpPr>
        <p:spPr>
          <a:xfrm>
            <a:off x="7955280" y="1298448"/>
            <a:ext cx="4114800" cy="256032"/>
          </a:xfrm>
          <a:prstGeom prst="rect">
            <a:avLst/>
          </a:prstGeom>
          <a:noFill/>
          <a:ln/>
        </p:spPr>
        <p:txBody>
          <a:bodyPr wrap="square" rtlCol="0" anchor="ctr"/>
          <a:lstStyle/>
          <a:p>
            <a:pPr indent="0" marL="0">
              <a:buNone/>
            </a:pPr>
            <a:r>
              <a:rPr lang="en-US" sz="850" b="1" spc="100" kern="0" dirty="0">
                <a:solidFill>
                  <a:srgbClr val="C8A84B"/>
                </a:solidFill>
                <a:latin typeface="Calibri" pitchFamily="34" charset="0"/>
                <a:ea typeface="Calibri" pitchFamily="34" charset="-122"/>
                <a:cs typeface="Calibri" pitchFamily="34" charset="-120"/>
              </a:rPr>
              <a:t>UNRESOLVED CRISES + COMPETITOR BY SEGMENT</a:t>
            </a:r>
            <a:endParaRPr lang="en-US" sz="850" dirty="0"/>
          </a:p>
        </p:txBody>
      </p:sp>
      <p:sp>
        <p:nvSpPr>
          <p:cNvPr id="17" name="Shape 15"/>
          <p:cNvSpPr/>
          <p:nvPr/>
        </p:nvSpPr>
        <p:spPr>
          <a:xfrm>
            <a:off x="7955280" y="1691640"/>
            <a:ext cx="4114800" cy="914400"/>
          </a:xfrm>
          <a:prstGeom prst="rect">
            <a:avLst/>
          </a:prstGeom>
          <a:solidFill>
            <a:srgbClr val="F0F4F8"/>
          </a:solidFill>
          <a:ln w="12700">
            <a:solidFill>
              <a:srgbClr val="D0D8E8"/>
            </a:solidFill>
            <a:prstDash val="solid"/>
          </a:ln>
        </p:spPr>
      </p:sp>
      <p:sp>
        <p:nvSpPr>
          <p:cNvPr id="18" name="Text 16"/>
          <p:cNvSpPr/>
          <p:nvPr/>
        </p:nvSpPr>
        <p:spPr>
          <a:xfrm>
            <a:off x="8092440" y="1764792"/>
            <a:ext cx="1097280" cy="320040"/>
          </a:xfrm>
          <a:prstGeom prst="rect">
            <a:avLst/>
          </a:prstGeom>
          <a:noFill/>
          <a:ln/>
        </p:spPr>
        <p:txBody>
          <a:bodyPr wrap="square" rtlCol="0" anchor="ctr"/>
          <a:lstStyle/>
          <a:p>
            <a:pPr indent="0" marL="0">
              <a:buNone/>
            </a:pPr>
            <a:r>
              <a:rPr lang="en-US" sz="1100" dirty="0">
                <a:solidFill>
                  <a:srgbClr val="0A1628"/>
                </a:solidFill>
                <a:latin typeface="Calibri" pitchFamily="34" charset="0"/>
                <a:ea typeface="Calibri" pitchFamily="34" charset="-122"/>
                <a:cs typeface="Calibri" pitchFamily="34" charset="-120"/>
              </a:rPr>
              <a:t>VIP</a:t>
            </a:r>
            <a:endParaRPr lang="en-US" sz="1100" dirty="0"/>
          </a:p>
        </p:txBody>
      </p:sp>
      <p:sp>
        <p:nvSpPr>
          <p:cNvPr id="19" name="Text 17"/>
          <p:cNvSpPr/>
          <p:nvPr/>
        </p:nvSpPr>
        <p:spPr>
          <a:xfrm>
            <a:off x="9281160" y="1764792"/>
            <a:ext cx="1097280" cy="320040"/>
          </a:xfrm>
          <a:prstGeom prst="rect">
            <a:avLst/>
          </a:prstGeom>
          <a:noFill/>
          <a:ln/>
        </p:spPr>
        <p:txBody>
          <a:bodyPr wrap="square" rtlCol="0" anchor="ctr"/>
          <a:lstStyle/>
          <a:p>
            <a:pPr algn="ctr" indent="0" marL="0">
              <a:buNone/>
            </a:pPr>
            <a:r>
              <a:rPr lang="en-US" sz="1100" b="1" dirty="0">
                <a:solidFill>
                  <a:srgbClr val="C0392B"/>
                </a:solidFill>
                <a:latin typeface="Calibri" pitchFamily="34" charset="0"/>
                <a:ea typeface="Calibri" pitchFamily="34" charset="-122"/>
                <a:cs typeface="Calibri" pitchFamily="34" charset="-120"/>
              </a:rPr>
              <a:t>1,410</a:t>
            </a:r>
            <a:endParaRPr lang="en-US" sz="1100" dirty="0"/>
          </a:p>
        </p:txBody>
      </p:sp>
      <p:sp>
        <p:nvSpPr>
          <p:cNvPr id="20" name="Text 18"/>
          <p:cNvSpPr/>
          <p:nvPr/>
        </p:nvSpPr>
        <p:spPr>
          <a:xfrm>
            <a:off x="10469880" y="1764792"/>
            <a:ext cx="1463040" cy="320040"/>
          </a:xfrm>
          <a:prstGeom prst="rect">
            <a:avLst/>
          </a:prstGeom>
          <a:noFill/>
          <a:ln/>
        </p:spPr>
        <p:txBody>
          <a:bodyPr wrap="square" rtlCol="0" anchor="ctr"/>
          <a:lstStyle/>
          <a:p>
            <a:pPr algn="r" indent="0" marL="0">
              <a:buNone/>
            </a:pPr>
            <a:r>
              <a:rPr lang="en-US" sz="1000" dirty="0">
                <a:solidFill>
                  <a:srgbClr val="2A2820"/>
                </a:solidFill>
                <a:latin typeface="Calibri" pitchFamily="34" charset="0"/>
                <a:ea typeface="Calibri" pitchFamily="34" charset="-122"/>
                <a:cs typeface="Calibri" pitchFamily="34" charset="-120"/>
              </a:rPr>
              <a:t>$1,076,419</a:t>
            </a:r>
            <a:endParaRPr lang="en-US" sz="1000" dirty="0"/>
          </a:p>
        </p:txBody>
      </p:sp>
      <p:sp>
        <p:nvSpPr>
          <p:cNvPr id="21" name="Text 19"/>
          <p:cNvSpPr/>
          <p:nvPr/>
        </p:nvSpPr>
        <p:spPr>
          <a:xfrm>
            <a:off x="8092440" y="2103120"/>
            <a:ext cx="3840480" cy="256032"/>
          </a:xfrm>
          <a:prstGeom prst="rect">
            <a:avLst/>
          </a:prstGeom>
          <a:noFill/>
          <a:ln/>
        </p:spPr>
        <p:txBody>
          <a:bodyPr wrap="square" rtlCol="0" anchor="ctr"/>
          <a:lstStyle/>
          <a:p>
            <a:pPr indent="0" marL="0">
              <a:buNone/>
            </a:pPr>
            <a:r>
              <a:rPr lang="en-US" sz="850" i="1" dirty="0">
                <a:solidFill>
                  <a:srgbClr val="5A6A85"/>
                </a:solidFill>
                <a:latin typeface="Calibri" pitchFamily="34" charset="0"/>
                <a:ea typeface="Calibri" pitchFamily="34" charset="-122"/>
                <a:cs typeface="Calibri" pitchFamily="34" charset="-120"/>
              </a:rPr>
              <a:t>52.4% with competitor</a:t>
            </a:r>
            <a:endParaRPr lang="en-US" sz="850" dirty="0"/>
          </a:p>
        </p:txBody>
      </p:sp>
      <p:sp>
        <p:nvSpPr>
          <p:cNvPr id="22" name="Shape 20"/>
          <p:cNvSpPr/>
          <p:nvPr/>
        </p:nvSpPr>
        <p:spPr>
          <a:xfrm>
            <a:off x="7955280" y="2697480"/>
            <a:ext cx="4114800" cy="914400"/>
          </a:xfrm>
          <a:prstGeom prst="rect">
            <a:avLst/>
          </a:prstGeom>
          <a:solidFill>
            <a:srgbClr val="FFFFFF"/>
          </a:solidFill>
          <a:ln w="12700">
            <a:solidFill>
              <a:srgbClr val="D0D8E8"/>
            </a:solidFill>
            <a:prstDash val="solid"/>
          </a:ln>
        </p:spPr>
      </p:sp>
      <p:sp>
        <p:nvSpPr>
          <p:cNvPr id="23" name="Text 21"/>
          <p:cNvSpPr/>
          <p:nvPr/>
        </p:nvSpPr>
        <p:spPr>
          <a:xfrm>
            <a:off x="8092440" y="2770632"/>
            <a:ext cx="1097280" cy="320040"/>
          </a:xfrm>
          <a:prstGeom prst="rect">
            <a:avLst/>
          </a:prstGeom>
          <a:noFill/>
          <a:ln/>
        </p:spPr>
        <p:txBody>
          <a:bodyPr wrap="square" rtlCol="0" anchor="ctr"/>
          <a:lstStyle/>
          <a:p>
            <a:pPr indent="0" marL="0">
              <a:buNone/>
            </a:pPr>
            <a:r>
              <a:rPr lang="en-US" sz="1100" dirty="0">
                <a:solidFill>
                  <a:srgbClr val="0A1628"/>
                </a:solidFill>
                <a:latin typeface="Calibri" pitchFamily="34" charset="0"/>
                <a:ea typeface="Calibri" pitchFamily="34" charset="-122"/>
                <a:cs typeface="Calibri" pitchFamily="34" charset="-120"/>
              </a:rPr>
              <a:t>Returning</a:t>
            </a:r>
            <a:endParaRPr lang="en-US" sz="1100" dirty="0"/>
          </a:p>
        </p:txBody>
      </p:sp>
      <p:sp>
        <p:nvSpPr>
          <p:cNvPr id="24" name="Text 22"/>
          <p:cNvSpPr/>
          <p:nvPr/>
        </p:nvSpPr>
        <p:spPr>
          <a:xfrm>
            <a:off x="9281160" y="2770632"/>
            <a:ext cx="1097280" cy="320040"/>
          </a:xfrm>
          <a:prstGeom prst="rect">
            <a:avLst/>
          </a:prstGeom>
          <a:noFill/>
          <a:ln/>
        </p:spPr>
        <p:txBody>
          <a:bodyPr wrap="square" rtlCol="0" anchor="ctr"/>
          <a:lstStyle/>
          <a:p>
            <a:pPr algn="ctr" indent="0" marL="0">
              <a:buNone/>
            </a:pPr>
            <a:r>
              <a:rPr lang="en-US" sz="1100" b="1" dirty="0">
                <a:solidFill>
                  <a:srgbClr val="C0392B"/>
                </a:solidFill>
                <a:latin typeface="Calibri" pitchFamily="34" charset="0"/>
                <a:ea typeface="Calibri" pitchFamily="34" charset="-122"/>
                <a:cs typeface="Calibri" pitchFamily="34" charset="-120"/>
              </a:rPr>
              <a:t>1,680</a:t>
            </a:r>
            <a:endParaRPr lang="en-US" sz="1100" dirty="0"/>
          </a:p>
        </p:txBody>
      </p:sp>
      <p:sp>
        <p:nvSpPr>
          <p:cNvPr id="25" name="Text 23"/>
          <p:cNvSpPr/>
          <p:nvPr/>
        </p:nvSpPr>
        <p:spPr>
          <a:xfrm>
            <a:off x="10469880" y="2770632"/>
            <a:ext cx="1463040" cy="320040"/>
          </a:xfrm>
          <a:prstGeom prst="rect">
            <a:avLst/>
          </a:prstGeom>
          <a:noFill/>
          <a:ln/>
        </p:spPr>
        <p:txBody>
          <a:bodyPr wrap="square" rtlCol="0" anchor="ctr"/>
          <a:lstStyle/>
          <a:p>
            <a:pPr algn="r" indent="0" marL="0">
              <a:buNone/>
            </a:pPr>
            <a:r>
              <a:rPr lang="en-US" sz="1000" dirty="0">
                <a:solidFill>
                  <a:srgbClr val="2A2820"/>
                </a:solidFill>
                <a:latin typeface="Calibri" pitchFamily="34" charset="0"/>
                <a:ea typeface="Calibri" pitchFamily="34" charset="-122"/>
                <a:cs typeface="Calibri" pitchFamily="34" charset="-120"/>
              </a:rPr>
              <a:t>$1,308,000</a:t>
            </a:r>
            <a:endParaRPr lang="en-US" sz="1000" dirty="0"/>
          </a:p>
        </p:txBody>
      </p:sp>
      <p:sp>
        <p:nvSpPr>
          <p:cNvPr id="26" name="Text 24"/>
          <p:cNvSpPr/>
          <p:nvPr/>
        </p:nvSpPr>
        <p:spPr>
          <a:xfrm>
            <a:off x="8092440" y="3108960"/>
            <a:ext cx="3840480" cy="256032"/>
          </a:xfrm>
          <a:prstGeom prst="rect">
            <a:avLst/>
          </a:prstGeom>
          <a:noFill/>
          <a:ln/>
        </p:spPr>
        <p:txBody>
          <a:bodyPr wrap="square" rtlCol="0" anchor="ctr"/>
          <a:lstStyle/>
          <a:p>
            <a:pPr indent="0" marL="0">
              <a:buNone/>
            </a:pPr>
            <a:r>
              <a:rPr lang="en-US" sz="850" i="1" dirty="0">
                <a:solidFill>
                  <a:srgbClr val="5A6A85"/>
                </a:solidFill>
                <a:latin typeface="Calibri" pitchFamily="34" charset="0"/>
                <a:ea typeface="Calibri" pitchFamily="34" charset="-122"/>
                <a:cs typeface="Calibri" pitchFamily="34" charset="-120"/>
              </a:rPr>
              <a:t>48.4% with competitor</a:t>
            </a:r>
            <a:endParaRPr lang="en-US" sz="850" dirty="0"/>
          </a:p>
        </p:txBody>
      </p:sp>
      <p:sp>
        <p:nvSpPr>
          <p:cNvPr id="27" name="Shape 25"/>
          <p:cNvSpPr/>
          <p:nvPr/>
        </p:nvSpPr>
        <p:spPr>
          <a:xfrm>
            <a:off x="7955280" y="3703320"/>
            <a:ext cx="4114800" cy="914400"/>
          </a:xfrm>
          <a:prstGeom prst="rect">
            <a:avLst/>
          </a:prstGeom>
          <a:solidFill>
            <a:srgbClr val="F0F4F8"/>
          </a:solidFill>
          <a:ln w="12700">
            <a:solidFill>
              <a:srgbClr val="D0D8E8"/>
            </a:solidFill>
            <a:prstDash val="solid"/>
          </a:ln>
        </p:spPr>
      </p:sp>
      <p:sp>
        <p:nvSpPr>
          <p:cNvPr id="28" name="Text 26"/>
          <p:cNvSpPr/>
          <p:nvPr/>
        </p:nvSpPr>
        <p:spPr>
          <a:xfrm>
            <a:off x="8092440" y="3776472"/>
            <a:ext cx="1097280" cy="320040"/>
          </a:xfrm>
          <a:prstGeom prst="rect">
            <a:avLst/>
          </a:prstGeom>
          <a:noFill/>
          <a:ln/>
        </p:spPr>
        <p:txBody>
          <a:bodyPr wrap="square" rtlCol="0" anchor="ctr"/>
          <a:lstStyle/>
          <a:p>
            <a:pPr indent="0" marL="0">
              <a:buNone/>
            </a:pPr>
            <a:r>
              <a:rPr lang="en-US" sz="1100" dirty="0">
                <a:solidFill>
                  <a:srgbClr val="0A1628"/>
                </a:solidFill>
                <a:latin typeface="Calibri" pitchFamily="34" charset="0"/>
                <a:ea typeface="Calibri" pitchFamily="34" charset="-122"/>
                <a:cs typeface="Calibri" pitchFamily="34" charset="-120"/>
              </a:rPr>
              <a:t>New</a:t>
            </a:r>
            <a:endParaRPr lang="en-US" sz="1100" dirty="0"/>
          </a:p>
        </p:txBody>
      </p:sp>
      <p:sp>
        <p:nvSpPr>
          <p:cNvPr id="29" name="Text 27"/>
          <p:cNvSpPr/>
          <p:nvPr/>
        </p:nvSpPr>
        <p:spPr>
          <a:xfrm>
            <a:off x="9281160" y="3776472"/>
            <a:ext cx="1097280" cy="320040"/>
          </a:xfrm>
          <a:prstGeom prst="rect">
            <a:avLst/>
          </a:prstGeom>
          <a:noFill/>
          <a:ln/>
        </p:spPr>
        <p:txBody>
          <a:bodyPr wrap="square" rtlCol="0" anchor="ctr"/>
          <a:lstStyle/>
          <a:p>
            <a:pPr algn="ctr" indent="0" marL="0">
              <a:buNone/>
            </a:pPr>
            <a:r>
              <a:rPr lang="en-US" sz="1100" b="1" dirty="0">
                <a:solidFill>
                  <a:srgbClr val="C0392B"/>
                </a:solidFill>
                <a:latin typeface="Calibri" pitchFamily="34" charset="0"/>
                <a:ea typeface="Calibri" pitchFamily="34" charset="-122"/>
                <a:cs typeface="Calibri" pitchFamily="34" charset="-120"/>
              </a:rPr>
              <a:t>342</a:t>
            </a:r>
            <a:endParaRPr lang="en-US" sz="1100" dirty="0"/>
          </a:p>
        </p:txBody>
      </p:sp>
      <p:sp>
        <p:nvSpPr>
          <p:cNvPr id="30" name="Text 28"/>
          <p:cNvSpPr/>
          <p:nvPr/>
        </p:nvSpPr>
        <p:spPr>
          <a:xfrm>
            <a:off x="10469880" y="3776472"/>
            <a:ext cx="1463040" cy="320040"/>
          </a:xfrm>
          <a:prstGeom prst="rect">
            <a:avLst/>
          </a:prstGeom>
          <a:noFill/>
          <a:ln/>
        </p:spPr>
        <p:txBody>
          <a:bodyPr wrap="square" rtlCol="0" anchor="ctr"/>
          <a:lstStyle/>
          <a:p>
            <a:pPr algn="r" indent="0" marL="0">
              <a:buNone/>
            </a:pPr>
            <a:r>
              <a:rPr lang="en-US" sz="1000" dirty="0">
                <a:solidFill>
                  <a:srgbClr val="2A2820"/>
                </a:solidFill>
                <a:latin typeface="Calibri" pitchFamily="34" charset="0"/>
                <a:ea typeface="Calibri" pitchFamily="34" charset="-122"/>
                <a:cs typeface="Calibri" pitchFamily="34" charset="-120"/>
              </a:rPr>
              <a:t>$260,000</a:t>
            </a:r>
            <a:endParaRPr lang="en-US" sz="1000" dirty="0"/>
          </a:p>
        </p:txBody>
      </p:sp>
      <p:sp>
        <p:nvSpPr>
          <p:cNvPr id="31" name="Text 29"/>
          <p:cNvSpPr/>
          <p:nvPr/>
        </p:nvSpPr>
        <p:spPr>
          <a:xfrm>
            <a:off x="8092440" y="4114800"/>
            <a:ext cx="3840480" cy="256032"/>
          </a:xfrm>
          <a:prstGeom prst="rect">
            <a:avLst/>
          </a:prstGeom>
          <a:noFill/>
          <a:ln/>
        </p:spPr>
        <p:txBody>
          <a:bodyPr wrap="square" rtlCol="0" anchor="ctr"/>
          <a:lstStyle/>
          <a:p>
            <a:pPr indent="0" marL="0">
              <a:buNone/>
            </a:pPr>
            <a:r>
              <a:rPr lang="en-US" sz="850" i="1" dirty="0">
                <a:solidFill>
                  <a:srgbClr val="5A6A85"/>
                </a:solidFill>
                <a:latin typeface="Calibri" pitchFamily="34" charset="0"/>
                <a:ea typeface="Calibri" pitchFamily="34" charset="-122"/>
                <a:cs typeface="Calibri" pitchFamily="34" charset="-120"/>
              </a:rPr>
              <a:t>53.9% with competitor</a:t>
            </a:r>
            <a:endParaRPr lang="en-US" sz="850" dirty="0"/>
          </a:p>
        </p:txBody>
      </p:sp>
      <p:sp>
        <p:nvSpPr>
          <p:cNvPr id="32" name="Shape 30"/>
          <p:cNvSpPr/>
          <p:nvPr/>
        </p:nvSpPr>
        <p:spPr>
          <a:xfrm>
            <a:off x="7955280" y="4709160"/>
            <a:ext cx="4114800" cy="914400"/>
          </a:xfrm>
          <a:prstGeom prst="rect">
            <a:avLst/>
          </a:prstGeom>
          <a:solidFill>
            <a:srgbClr val="FEF2F2"/>
          </a:solidFill>
          <a:ln w="12700">
            <a:solidFill>
              <a:srgbClr val="C0392B"/>
            </a:solidFill>
            <a:prstDash val="solid"/>
          </a:ln>
        </p:spPr>
      </p:sp>
      <p:sp>
        <p:nvSpPr>
          <p:cNvPr id="33" name="Text 31"/>
          <p:cNvSpPr/>
          <p:nvPr/>
        </p:nvSpPr>
        <p:spPr>
          <a:xfrm>
            <a:off x="8092440" y="4782312"/>
            <a:ext cx="1097280" cy="320040"/>
          </a:xfrm>
          <a:prstGeom prst="rect">
            <a:avLst/>
          </a:prstGeom>
          <a:noFill/>
          <a:ln/>
        </p:spPr>
        <p:txBody>
          <a:bodyPr wrap="square" rtlCol="0" anchor="ctr"/>
          <a:lstStyle/>
          <a:p>
            <a:pPr indent="0" marL="0">
              <a:buNone/>
            </a:pPr>
            <a:r>
              <a:rPr lang="en-US" sz="1100" b="1" dirty="0">
                <a:solidFill>
                  <a:srgbClr val="C0392B"/>
                </a:solidFill>
                <a:latin typeface="Calibri" pitchFamily="34" charset="0"/>
                <a:ea typeface="Calibri" pitchFamily="34" charset="-122"/>
                <a:cs typeface="Calibri" pitchFamily="34" charset="-120"/>
              </a:rPr>
              <a:t>TOTAL</a:t>
            </a:r>
            <a:endParaRPr lang="en-US" sz="1100" dirty="0"/>
          </a:p>
        </p:txBody>
      </p:sp>
      <p:sp>
        <p:nvSpPr>
          <p:cNvPr id="34" name="Text 32"/>
          <p:cNvSpPr/>
          <p:nvPr/>
        </p:nvSpPr>
        <p:spPr>
          <a:xfrm>
            <a:off x="9281160" y="4782312"/>
            <a:ext cx="1097280" cy="320040"/>
          </a:xfrm>
          <a:prstGeom prst="rect">
            <a:avLst/>
          </a:prstGeom>
          <a:noFill/>
          <a:ln/>
        </p:spPr>
        <p:txBody>
          <a:bodyPr wrap="square" rtlCol="0" anchor="ctr"/>
          <a:lstStyle/>
          <a:p>
            <a:pPr algn="ctr" indent="0" marL="0">
              <a:buNone/>
            </a:pPr>
            <a:r>
              <a:rPr lang="en-US" sz="1100" b="1" dirty="0">
                <a:solidFill>
                  <a:srgbClr val="C0392B"/>
                </a:solidFill>
                <a:latin typeface="Calibri" pitchFamily="34" charset="0"/>
                <a:ea typeface="Calibri" pitchFamily="34" charset="-122"/>
                <a:cs typeface="Calibri" pitchFamily="34" charset="-120"/>
              </a:rPr>
              <a:t>3,432</a:t>
            </a:r>
            <a:endParaRPr lang="en-US" sz="1100" dirty="0"/>
          </a:p>
        </p:txBody>
      </p:sp>
      <p:sp>
        <p:nvSpPr>
          <p:cNvPr id="35" name="Text 33"/>
          <p:cNvSpPr/>
          <p:nvPr/>
        </p:nvSpPr>
        <p:spPr>
          <a:xfrm>
            <a:off x="10469880" y="4782312"/>
            <a:ext cx="1463040" cy="320040"/>
          </a:xfrm>
          <a:prstGeom prst="rect">
            <a:avLst/>
          </a:prstGeom>
          <a:noFill/>
          <a:ln/>
        </p:spPr>
        <p:txBody>
          <a:bodyPr wrap="square" rtlCol="0" anchor="ctr"/>
          <a:lstStyle/>
          <a:p>
            <a:pPr algn="r" indent="0" marL="0">
              <a:buNone/>
            </a:pPr>
            <a:r>
              <a:rPr lang="en-US" sz="1000" b="1" dirty="0">
                <a:solidFill>
                  <a:srgbClr val="C0392B"/>
                </a:solidFill>
                <a:latin typeface="Calibri" pitchFamily="34" charset="0"/>
                <a:ea typeface="Calibri" pitchFamily="34" charset="-122"/>
                <a:cs typeface="Calibri" pitchFamily="34" charset="-120"/>
              </a:rPr>
              <a:t>$2,644,419</a:t>
            </a:r>
            <a:endParaRPr lang="en-US" sz="1000" dirty="0"/>
          </a:p>
        </p:txBody>
      </p:sp>
      <p:sp>
        <p:nvSpPr>
          <p:cNvPr id="36" name="Text 34"/>
          <p:cNvSpPr/>
          <p:nvPr/>
        </p:nvSpPr>
        <p:spPr>
          <a:xfrm>
            <a:off x="8092440" y="5120640"/>
            <a:ext cx="3840480" cy="256032"/>
          </a:xfrm>
          <a:prstGeom prst="rect">
            <a:avLst/>
          </a:prstGeom>
          <a:noFill/>
          <a:ln/>
        </p:spPr>
        <p:txBody>
          <a:bodyPr wrap="square" rtlCol="0" anchor="ctr"/>
          <a:lstStyle/>
          <a:p>
            <a:pPr indent="0" marL="0">
              <a:buNone/>
            </a:pPr>
            <a:r>
              <a:rPr lang="en-US" sz="850" i="1" dirty="0">
                <a:solidFill>
                  <a:srgbClr val="5A6A85"/>
                </a:solidFill>
                <a:latin typeface="Calibri" pitchFamily="34" charset="0"/>
                <a:ea typeface="Calibri" pitchFamily="34" charset="-122"/>
                <a:cs typeface="Calibri" pitchFamily="34" charset="-120"/>
              </a:rPr>
              <a:t>50.6% with competitor</a:t>
            </a:r>
            <a:endParaRPr lang="en-US" sz="850" dirty="0"/>
          </a:p>
        </p:txBody>
      </p:sp>
      <p:sp>
        <p:nvSpPr>
          <p:cNvPr id="37" name="Shape 35"/>
          <p:cNvSpPr/>
          <p:nvPr/>
        </p:nvSpPr>
        <p:spPr>
          <a:xfrm>
            <a:off x="365760" y="5577840"/>
            <a:ext cx="11430000" cy="804672"/>
          </a:xfrm>
          <a:prstGeom prst="rect">
            <a:avLst/>
          </a:prstGeom>
          <a:solidFill>
            <a:srgbClr val="FEF2F2"/>
          </a:solidFill>
          <a:ln w="12700">
            <a:solidFill>
              <a:srgbClr val="D0D8E8"/>
            </a:solidFill>
            <a:prstDash val="solid"/>
          </a:ln>
        </p:spPr>
      </p:sp>
      <p:sp>
        <p:nvSpPr>
          <p:cNvPr id="38" name="Shape 36"/>
          <p:cNvSpPr/>
          <p:nvPr/>
        </p:nvSpPr>
        <p:spPr>
          <a:xfrm>
            <a:off x="365760" y="5577840"/>
            <a:ext cx="54864" cy="804672"/>
          </a:xfrm>
          <a:prstGeom prst="rect">
            <a:avLst/>
          </a:prstGeom>
          <a:solidFill>
            <a:srgbClr val="C0392B"/>
          </a:solidFill>
          <a:ln w="12700">
            <a:solidFill>
              <a:srgbClr val="C0392B"/>
            </a:solidFill>
            <a:prstDash val="solid"/>
          </a:ln>
        </p:spPr>
      </p:sp>
      <p:sp>
        <p:nvSpPr>
          <p:cNvPr id="39" name="Text 37"/>
          <p:cNvSpPr/>
          <p:nvPr/>
        </p:nvSpPr>
        <p:spPr>
          <a:xfrm>
            <a:off x="502920" y="5641848"/>
            <a:ext cx="11201400" cy="676656"/>
          </a:xfrm>
          <a:prstGeom prst="rect">
            <a:avLst/>
          </a:prstGeom>
          <a:noFill/>
          <a:ln/>
        </p:spPr>
        <p:txBody>
          <a:bodyPr wrap="square" rtlCol="0" anchor="ctr"/>
          <a:lstStyle/>
          <a:p>
            <a:pPr indent="0" marL="0">
              <a:buNone/>
            </a:pPr>
            <a:r>
              <a:rPr lang="en-US" sz="1000" i="1" dirty="0">
                <a:solidFill>
                  <a:srgbClr val="2A2820"/>
                </a:solidFill>
                <a:latin typeface="Calibri" pitchFamily="34" charset="0"/>
                <a:ea typeface="Calibri" pitchFamily="34" charset="-122"/>
                <a:cs typeface="Calibri" pitchFamily="34" charset="-120"/>
              </a:rPr>
              <a:t>Competitors are not inserting themselves randomly. They cluster around AfriTech's crisis events — at the exact moment customers are most dissatisfied and most open to alternatives. Every unresolved crisis is an open door. 3,432 doors are open right now.</a:t>
            </a:r>
            <a:endParaRPr lang="en-US" sz="1000" dirty="0"/>
          </a:p>
        </p:txBody>
      </p:sp>
      <p:sp>
        <p:nvSpPr>
          <p:cNvPr id="40" name="Shape 38"/>
          <p:cNvSpPr/>
          <p:nvPr/>
        </p:nvSpPr>
        <p:spPr>
          <a:xfrm>
            <a:off x="0" y="6537960"/>
            <a:ext cx="12161520" cy="320040"/>
          </a:xfrm>
          <a:prstGeom prst="rect">
            <a:avLst/>
          </a:prstGeom>
          <a:solidFill>
            <a:srgbClr val="0A1628"/>
          </a:solidFill>
          <a:ln w="12700">
            <a:solidFill>
              <a:srgbClr val="0A1628"/>
            </a:solidFill>
            <a:prstDash val="solid"/>
          </a:ln>
        </p:spPr>
      </p:sp>
      <p:sp>
        <p:nvSpPr>
          <p:cNvPr id="41" name="Text 39"/>
          <p:cNvSpPr/>
          <p:nvPr/>
        </p:nvSpPr>
        <p:spPr>
          <a:xfrm>
            <a:off x="365760" y="6565392"/>
            <a:ext cx="9144000" cy="256032"/>
          </a:xfrm>
          <a:prstGeom prst="rect">
            <a:avLst/>
          </a:prstGeom>
          <a:noFill/>
          <a:ln/>
        </p:spPr>
        <p:txBody>
          <a:bodyPr wrap="square" rtlCol="0" anchor="ctr"/>
          <a:lstStyle/>
          <a:p>
            <a:pPr indent="0" marL="0">
              <a:buNone/>
            </a:pPr>
            <a:r>
              <a:rPr lang="en-US" sz="750" dirty="0">
                <a:solidFill>
                  <a:srgbClr val="8899BB"/>
                </a:solidFill>
                <a:latin typeface="Calibri" pitchFamily="34" charset="0"/>
                <a:ea typeface="Calibri" pitchFamily="34" charset="-122"/>
                <a:cs typeface="Calibri" pitchFamily="34" charset="-120"/>
              </a:rPr>
              <a:t>Samuel Ahinakwa  |  Finance &amp; Analytics Professional  |  BSc · MSc · ICAG Finalist  |  Confidential</a:t>
            </a:r>
            <a:endParaRPr lang="en-US" sz="750" dirty="0"/>
          </a:p>
        </p:txBody>
      </p:sp>
      <p:sp>
        <p:nvSpPr>
          <p:cNvPr id="42" name="Text 40"/>
          <p:cNvSpPr/>
          <p:nvPr/>
        </p:nvSpPr>
        <p:spPr>
          <a:xfrm>
            <a:off x="11338560" y="6565392"/>
            <a:ext cx="731520" cy="256032"/>
          </a:xfrm>
          <a:prstGeom prst="rect">
            <a:avLst/>
          </a:prstGeom>
          <a:noFill/>
          <a:ln/>
        </p:spPr>
        <p:txBody>
          <a:bodyPr wrap="square" rtlCol="0" anchor="ctr"/>
          <a:lstStyle/>
          <a:p>
            <a:pPr algn="r" indent="0" marL="0">
              <a:buNone/>
            </a:pPr>
            <a:r>
              <a:rPr lang="en-US" sz="800" dirty="0">
                <a:solidFill>
                  <a:srgbClr val="C8A84B"/>
                </a:solidFill>
                <a:latin typeface="Calibri" pitchFamily="34" charset="0"/>
                <a:ea typeface="Calibri" pitchFamily="34" charset="-122"/>
                <a:cs typeface="Calibri" pitchFamily="34" charset="-120"/>
              </a:rPr>
              <a:t>14 / 20</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C8A84B"/>
          </a:solidFill>
          <a:ln w="12700">
            <a:solidFill>
              <a:srgbClr val="C8A84B"/>
            </a:solidFill>
            <a:prstDash val="solid"/>
          </a:ln>
        </p:spPr>
      </p:sp>
      <p:sp>
        <p:nvSpPr>
          <p:cNvPr id="3" name="Text 1"/>
          <p:cNvSpPr/>
          <p:nvPr/>
        </p:nvSpPr>
        <p:spPr>
          <a:xfrm>
            <a:off x="365760" y="731520"/>
            <a:ext cx="1828800" cy="365760"/>
          </a:xfrm>
          <a:prstGeom prst="rect">
            <a:avLst/>
          </a:prstGeom>
          <a:noFill/>
          <a:ln/>
        </p:spPr>
        <p:txBody>
          <a:bodyPr wrap="square" rtlCol="0" anchor="ctr"/>
          <a:lstStyle/>
          <a:p>
            <a:pPr indent="0" marL="0">
              <a:buNone/>
            </a:pPr>
            <a:r>
              <a:rPr lang="en-US" sz="1100" b="1" spc="300" kern="0" dirty="0">
                <a:solidFill>
                  <a:srgbClr val="C8A84B"/>
                </a:solidFill>
                <a:latin typeface="Calibri" pitchFamily="34" charset="0"/>
                <a:ea typeface="Calibri" pitchFamily="34" charset="-122"/>
                <a:cs typeface="Calibri" pitchFamily="34" charset="-120"/>
              </a:rPr>
              <a:t>PART FOUR</a:t>
            </a:r>
            <a:endParaRPr lang="en-US" sz="1100" dirty="0"/>
          </a:p>
        </p:txBody>
      </p:sp>
      <p:sp>
        <p:nvSpPr>
          <p:cNvPr id="4" name="Text 2"/>
          <p:cNvSpPr/>
          <p:nvPr/>
        </p:nvSpPr>
        <p:spPr>
          <a:xfrm>
            <a:off x="365760" y="1188720"/>
            <a:ext cx="8229600" cy="2011680"/>
          </a:xfrm>
          <a:prstGeom prst="rect">
            <a:avLst/>
          </a:prstGeom>
          <a:noFill/>
          <a:ln/>
        </p:spPr>
        <p:txBody>
          <a:bodyPr wrap="square" rtlCol="0" anchor="ctr"/>
          <a:lstStyle/>
          <a:p>
            <a:pPr indent="0" marL="0">
              <a:lnSpc>
                <a:spcPct val="110000"/>
              </a:lnSpc>
              <a:buNone/>
            </a:pPr>
            <a:r>
              <a:rPr lang="en-US" sz="4800" b="1" dirty="0">
                <a:solidFill>
                  <a:srgbClr val="FFFFFF"/>
                </a:solidFill>
                <a:latin typeface="Calibri" pitchFamily="34" charset="0"/>
                <a:ea typeface="Calibri" pitchFamily="34" charset="-122"/>
                <a:cs typeface="Calibri" pitchFamily="34" charset="-120"/>
              </a:rPr>
              <a:t>The Action</a:t>
            </a:r>
            <a:endParaRPr lang="en-US" sz="4800" dirty="0"/>
          </a:p>
          <a:p>
            <a:pPr indent="0" marL="0">
              <a:lnSpc>
                <a:spcPct val="110000"/>
              </a:lnSpc>
              <a:buNone/>
            </a:pPr>
            <a:r>
              <a:rPr lang="en-US" sz="4800" b="1" dirty="0">
                <a:solidFill>
                  <a:srgbClr val="FFFFFF"/>
                </a:solidFill>
                <a:latin typeface="Calibri" pitchFamily="34" charset="0"/>
                <a:ea typeface="Calibri" pitchFamily="34" charset="-122"/>
                <a:cs typeface="Calibri" pitchFamily="34" charset="-120"/>
              </a:rPr>
              <a:t>Plan.</a:t>
            </a:r>
            <a:endParaRPr lang="en-US" sz="4800" dirty="0"/>
          </a:p>
        </p:txBody>
      </p:sp>
      <p:sp>
        <p:nvSpPr>
          <p:cNvPr id="5" name="Text 3"/>
          <p:cNvSpPr/>
          <p:nvPr/>
        </p:nvSpPr>
        <p:spPr>
          <a:xfrm>
            <a:off x="365760" y="3337560"/>
            <a:ext cx="8229600" cy="457200"/>
          </a:xfrm>
          <a:prstGeom prst="rect">
            <a:avLst/>
          </a:prstGeom>
          <a:noFill/>
          <a:ln/>
        </p:spPr>
        <p:txBody>
          <a:bodyPr wrap="square" rtlCol="0" anchor="ctr"/>
          <a:lstStyle/>
          <a:p>
            <a:pPr indent="0" marL="0">
              <a:buNone/>
            </a:pPr>
            <a:r>
              <a:rPr lang="en-US" sz="1600" i="1" dirty="0">
                <a:solidFill>
                  <a:srgbClr val="8899BB"/>
                </a:solidFill>
                <a:latin typeface="Calibri" pitchFamily="34" charset="0"/>
                <a:ea typeface="Calibri" pitchFamily="34" charset="-122"/>
                <a:cs typeface="Calibri" pitchFamily="34" charset="-120"/>
              </a:rPr>
              <a:t>Diagnose. Quantify. Execute.</a:t>
            </a:r>
            <a:endParaRPr lang="en-US" sz="1600" dirty="0"/>
          </a:p>
        </p:txBody>
      </p:sp>
      <p:sp>
        <p:nvSpPr>
          <p:cNvPr id="6" name="Shape 4"/>
          <p:cNvSpPr/>
          <p:nvPr/>
        </p:nvSpPr>
        <p:spPr>
          <a:xfrm>
            <a:off x="365760" y="5577840"/>
            <a:ext cx="5486400" cy="27432"/>
          </a:xfrm>
          <a:prstGeom prst="rect">
            <a:avLst/>
          </a:prstGeom>
          <a:solidFill>
            <a:srgbClr val="C8A84B"/>
          </a:solidFill>
          <a:ln w="12700">
            <a:solidFill>
              <a:srgbClr val="C8A84B"/>
            </a:solidFill>
            <a:prstDash val="solid"/>
          </a:ln>
        </p:spPr>
      </p:sp>
      <p:sp>
        <p:nvSpPr>
          <p:cNvPr id="7" name="Text 5"/>
          <p:cNvSpPr/>
          <p:nvPr/>
        </p:nvSpPr>
        <p:spPr>
          <a:xfrm>
            <a:off x="365760" y="5715000"/>
            <a:ext cx="7315200" cy="274320"/>
          </a:xfrm>
          <a:prstGeom prst="rect">
            <a:avLst/>
          </a:prstGeom>
          <a:noFill/>
          <a:ln/>
        </p:spPr>
        <p:txBody>
          <a:bodyPr wrap="square" rtlCol="0" anchor="ctr"/>
          <a:lstStyle/>
          <a:p>
            <a:pPr indent="0" marL="0">
              <a:buNone/>
            </a:pPr>
            <a:r>
              <a:rPr lang="en-US" sz="1000" dirty="0">
                <a:solidFill>
                  <a:srgbClr val="8899BB"/>
                </a:solidFill>
                <a:latin typeface="Calibri" pitchFamily="34" charset="0"/>
                <a:ea typeface="Calibri" pitchFamily="34" charset="-122"/>
                <a:cs typeface="Calibri" pitchFamily="34" charset="-120"/>
              </a:rPr>
              <a:t>Emergency → Immediate → Short-Term → Medium-Term</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1051560"/>
          </a:xfrm>
          <a:prstGeom prst="rect">
            <a:avLst/>
          </a:prstGeom>
          <a:solidFill>
            <a:srgbClr val="0A1628"/>
          </a:solidFill>
          <a:ln w="12700">
            <a:solidFill>
              <a:srgbClr val="0A1628"/>
            </a:solidFill>
            <a:prstDash val="solid"/>
          </a:ln>
        </p:spPr>
      </p:sp>
      <p:sp>
        <p:nvSpPr>
          <p:cNvPr id="3" name="Shape 1"/>
          <p:cNvSpPr/>
          <p:nvPr/>
        </p:nvSpPr>
        <p:spPr>
          <a:xfrm>
            <a:off x="0" y="1051560"/>
            <a:ext cx="12161520" cy="36576"/>
          </a:xfrm>
          <a:prstGeom prst="rect">
            <a:avLst/>
          </a:prstGeom>
          <a:solidFill>
            <a:srgbClr val="C8A84B"/>
          </a:solidFill>
          <a:ln w="12700">
            <a:solidFill>
              <a:srgbClr val="C8A84B"/>
            </a:solidFill>
            <a:prstDash val="solid"/>
          </a:ln>
        </p:spPr>
      </p:sp>
      <p:sp>
        <p:nvSpPr>
          <p:cNvPr id="4" name="Text 2"/>
          <p:cNvSpPr/>
          <p:nvPr/>
        </p:nvSpPr>
        <p:spPr>
          <a:xfrm>
            <a:off x="365760" y="64008"/>
            <a:ext cx="4572000" cy="228600"/>
          </a:xfrm>
          <a:prstGeom prst="rect">
            <a:avLst/>
          </a:prstGeom>
          <a:noFill/>
          <a:ln/>
        </p:spPr>
        <p:txBody>
          <a:bodyPr wrap="square" rtlCol="0" anchor="ctr"/>
          <a:lstStyle/>
          <a:p>
            <a:pPr indent="0" marL="0">
              <a:buNone/>
            </a:pPr>
            <a:r>
              <a:rPr lang="en-US" sz="800" b="1" spc="200" kern="0" dirty="0">
                <a:solidFill>
                  <a:srgbClr val="C8A84B"/>
                </a:solidFill>
                <a:latin typeface="Calibri" pitchFamily="34" charset="0"/>
                <a:ea typeface="Calibri" pitchFamily="34" charset="-122"/>
                <a:cs typeface="Calibri" pitchFamily="34" charset="-120"/>
              </a:rPr>
              <a:t>04 — ACTION PLAN</a:t>
            </a:r>
            <a:endParaRPr lang="en-US" sz="800" dirty="0"/>
          </a:p>
        </p:txBody>
      </p:sp>
      <p:sp>
        <p:nvSpPr>
          <p:cNvPr id="5" name="Text 3"/>
          <p:cNvSpPr/>
          <p:nvPr/>
        </p:nvSpPr>
        <p:spPr>
          <a:xfrm>
            <a:off x="365760" y="256032"/>
            <a:ext cx="9601200" cy="566928"/>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Start Here — Emergency and Immediate Actions</a:t>
            </a:r>
            <a:endParaRPr lang="en-US" sz="2600" dirty="0"/>
          </a:p>
        </p:txBody>
      </p:sp>
      <p:sp>
        <p:nvSpPr>
          <p:cNvPr id="6" name="Text 4"/>
          <p:cNvSpPr/>
          <p:nvPr/>
        </p:nvSpPr>
        <p:spPr>
          <a:xfrm>
            <a:off x="365760" y="795528"/>
            <a:ext cx="10058400" cy="228600"/>
          </a:xfrm>
          <a:prstGeom prst="rect">
            <a:avLst/>
          </a:prstGeom>
          <a:noFill/>
          <a:ln/>
        </p:spPr>
        <p:txBody>
          <a:bodyPr wrap="square" rtlCol="0" anchor="ctr"/>
          <a:lstStyle/>
          <a:p>
            <a:pPr indent="0" marL="0">
              <a:buNone/>
            </a:pPr>
            <a:r>
              <a:rPr lang="en-US" sz="1050" i="1" dirty="0">
                <a:solidFill>
                  <a:srgbClr val="8899BB"/>
                </a:solidFill>
                <a:latin typeface="Calibri" pitchFamily="34" charset="0"/>
                <a:ea typeface="Calibri" pitchFamily="34" charset="-122"/>
                <a:cs typeface="Calibri" pitchFamily="34" charset="-120"/>
              </a:rPr>
              <a:t>Three things that happen this week. Not next month. This week.</a:t>
            </a:r>
            <a:endParaRPr lang="en-US" sz="1050" dirty="0"/>
          </a:p>
        </p:txBody>
      </p:sp>
      <p:sp>
        <p:nvSpPr>
          <p:cNvPr id="7" name="Shape 5"/>
          <p:cNvSpPr/>
          <p:nvPr/>
        </p:nvSpPr>
        <p:spPr>
          <a:xfrm>
            <a:off x="365760" y="1280160"/>
            <a:ext cx="11430000" cy="566928"/>
          </a:xfrm>
          <a:prstGeom prst="rect">
            <a:avLst/>
          </a:prstGeom>
          <a:solidFill>
            <a:srgbClr val="C0392B"/>
          </a:solidFill>
          <a:ln w="12700">
            <a:solidFill>
              <a:srgbClr val="C0392B"/>
            </a:solidFill>
            <a:prstDash val="solid"/>
          </a:ln>
        </p:spPr>
      </p:sp>
      <p:sp>
        <p:nvSpPr>
          <p:cNvPr id="8" name="Text 6"/>
          <p:cNvSpPr/>
          <p:nvPr/>
        </p:nvSpPr>
        <p:spPr>
          <a:xfrm>
            <a:off x="548640" y="1371600"/>
            <a:ext cx="3657600" cy="274320"/>
          </a:xfrm>
          <a:prstGeom prst="rect">
            <a:avLst/>
          </a:prstGeom>
          <a:noFill/>
          <a:ln/>
        </p:spPr>
        <p:txBody>
          <a:bodyPr wrap="square" rtlCol="0" anchor="ctr"/>
          <a:lstStyle/>
          <a:p>
            <a:pPr indent="0" marL="0">
              <a:buNone/>
            </a:pPr>
            <a:r>
              <a:rPr lang="en-US" sz="950" b="1" spc="100" kern="0" dirty="0">
                <a:solidFill>
                  <a:srgbClr val="FFFFFF"/>
                </a:solidFill>
                <a:latin typeface="Calibri" pitchFamily="34" charset="0"/>
                <a:ea typeface="Calibri" pitchFamily="34" charset="-122"/>
                <a:cs typeface="Calibri" pitchFamily="34" charset="-120"/>
              </a:rPr>
              <a:t>EMERGENCY — TOMORROW MORNING:</a:t>
            </a:r>
            <a:endParaRPr lang="en-US" sz="950" dirty="0"/>
          </a:p>
        </p:txBody>
      </p:sp>
      <p:sp>
        <p:nvSpPr>
          <p:cNvPr id="9" name="Text 7"/>
          <p:cNvSpPr/>
          <p:nvPr/>
        </p:nvSpPr>
        <p:spPr>
          <a:xfrm>
            <a:off x="4572000" y="1389888"/>
            <a:ext cx="6949440" cy="274320"/>
          </a:xfrm>
          <a:prstGeom prst="rect">
            <a:avLst/>
          </a:prstGeom>
          <a:noFill/>
          <a:ln/>
        </p:spPr>
        <p:txBody>
          <a:bodyPr wrap="square" rtlCol="0" anchor="ctr"/>
          <a:lstStyle/>
          <a:p>
            <a:pPr indent="0" marL="0">
              <a:buNone/>
            </a:pPr>
            <a:r>
              <a:rPr lang="en-US" sz="1000" b="1" dirty="0">
                <a:solidFill>
                  <a:srgbClr val="FFAAAA"/>
                </a:solidFill>
                <a:latin typeface="Calibri" pitchFamily="34" charset="0"/>
                <a:ea typeface="Calibri" pitchFamily="34" charset="-122"/>
                <a:cs typeface="Calibri" pitchFamily="34" charset="-120"/>
              </a:rPr>
              <a:t>1,410 VIP customers · Open complaint · Competitor present · $1,076,419 · Zero open crises in 14 days</a:t>
            </a:r>
            <a:endParaRPr lang="en-US" sz="1000" dirty="0"/>
          </a:p>
        </p:txBody>
      </p:sp>
      <p:sp>
        <p:nvSpPr>
          <p:cNvPr id="10" name="Shape 8"/>
          <p:cNvSpPr/>
          <p:nvPr/>
        </p:nvSpPr>
        <p:spPr>
          <a:xfrm>
            <a:off x="365760" y="2029968"/>
            <a:ext cx="5486400" cy="1143000"/>
          </a:xfrm>
          <a:prstGeom prst="rect">
            <a:avLst/>
          </a:prstGeom>
          <a:solidFill>
            <a:srgbClr val="F0F4F8"/>
          </a:solidFill>
          <a:ln w="12700">
            <a:solidFill>
              <a:srgbClr val="D0D8E8"/>
            </a:solidFill>
            <a:prstDash val="solid"/>
          </a:ln>
          <a:effectLst>
            <a:outerShdw sx="100000" sy="100000" kx="0" ky="0" algn="bl" rotWithShape="0" blurRad="101600" dist="38100" dir="8100000">
              <a:srgbClr val="000000">
                <a:alpha val="12000"/>
              </a:srgbClr>
            </a:outerShdw>
          </a:effectLst>
        </p:spPr>
      </p:sp>
      <p:sp>
        <p:nvSpPr>
          <p:cNvPr id="11" name="Shape 9"/>
          <p:cNvSpPr/>
          <p:nvPr/>
        </p:nvSpPr>
        <p:spPr>
          <a:xfrm>
            <a:off x="365760" y="2029968"/>
            <a:ext cx="54864" cy="1143000"/>
          </a:xfrm>
          <a:prstGeom prst="rect">
            <a:avLst/>
          </a:prstGeom>
          <a:solidFill>
            <a:srgbClr val="C0392B"/>
          </a:solidFill>
          <a:ln w="12700">
            <a:solidFill>
              <a:srgbClr val="C0392B"/>
            </a:solidFill>
            <a:prstDash val="solid"/>
          </a:ln>
        </p:spPr>
      </p:sp>
      <p:sp>
        <p:nvSpPr>
          <p:cNvPr id="12" name="Text 10"/>
          <p:cNvSpPr/>
          <p:nvPr/>
        </p:nvSpPr>
        <p:spPr>
          <a:xfrm>
            <a:off x="502920" y="2103120"/>
            <a:ext cx="365760" cy="256032"/>
          </a:xfrm>
          <a:prstGeom prst="rect">
            <a:avLst/>
          </a:prstGeom>
          <a:noFill/>
          <a:ln/>
        </p:spPr>
        <p:txBody>
          <a:bodyPr wrap="square" rtlCol="0" anchor="ctr"/>
          <a:lstStyle/>
          <a:p>
            <a:pPr indent="0" marL="0">
              <a:buNone/>
            </a:pPr>
            <a:r>
              <a:rPr lang="en-US" sz="1100" b="1" dirty="0">
                <a:solidFill>
                  <a:srgbClr val="C0392B"/>
                </a:solidFill>
                <a:latin typeface="Calibri" pitchFamily="34" charset="0"/>
                <a:ea typeface="Calibri" pitchFamily="34" charset="-122"/>
                <a:cs typeface="Calibri" pitchFamily="34" charset="-120"/>
              </a:rPr>
              <a:t>01</a:t>
            </a:r>
            <a:endParaRPr lang="en-US" sz="1100" dirty="0"/>
          </a:p>
        </p:txBody>
      </p:sp>
      <p:sp>
        <p:nvSpPr>
          <p:cNvPr id="13" name="Text 11"/>
          <p:cNvSpPr/>
          <p:nvPr/>
        </p:nvSpPr>
        <p:spPr>
          <a:xfrm>
            <a:off x="914400" y="2084832"/>
            <a:ext cx="4389120" cy="274320"/>
          </a:xfrm>
          <a:prstGeom prst="rect">
            <a:avLst/>
          </a:prstGeom>
          <a:noFill/>
          <a:ln/>
        </p:spPr>
        <p:txBody>
          <a:bodyPr wrap="square" rtlCol="0" anchor="ctr"/>
          <a:lstStyle/>
          <a:p>
            <a:pPr indent="0" marL="0">
              <a:buNone/>
            </a:pPr>
            <a:r>
              <a:rPr lang="en-US" sz="1100" b="1" dirty="0">
                <a:solidFill>
                  <a:srgbClr val="0A1628"/>
                </a:solidFill>
                <a:latin typeface="Calibri" pitchFamily="34" charset="0"/>
                <a:ea typeface="Calibri" pitchFamily="34" charset="-122"/>
                <a:cs typeface="Calibri" pitchFamily="34" charset="-120"/>
              </a:rPr>
              <a:t>Crisis Resolution War Room</a:t>
            </a:r>
            <a:endParaRPr lang="en-US" sz="1100" dirty="0"/>
          </a:p>
        </p:txBody>
      </p:sp>
      <p:sp>
        <p:nvSpPr>
          <p:cNvPr id="14" name="Text 12"/>
          <p:cNvSpPr/>
          <p:nvPr/>
        </p:nvSpPr>
        <p:spPr>
          <a:xfrm>
            <a:off x="914400" y="2414016"/>
            <a:ext cx="4389120" cy="594360"/>
          </a:xfrm>
          <a:prstGeom prst="rect">
            <a:avLst/>
          </a:prstGeom>
          <a:noFill/>
          <a:ln/>
        </p:spPr>
        <p:txBody>
          <a:bodyPr wrap="square" rtlCol="0" anchor="ctr"/>
          <a:lstStyle/>
          <a:p>
            <a:pPr indent="0" marL="0">
              <a:buNone/>
            </a:pPr>
            <a:r>
              <a:rPr lang="en-US" sz="850" i="1" dirty="0">
                <a:solidFill>
                  <a:srgbClr val="2A2820"/>
                </a:solidFill>
                <a:latin typeface="Calibri" pitchFamily="34" charset="0"/>
                <a:ea typeface="Calibri" pitchFamily="34" charset="-122"/>
                <a:cs typeface="Calibri" pitchFamily="34" charset="-120"/>
              </a:rPr>
              <a:t>187 resolutions/day. 2.1x demonstrated capability. 80% backlog cleared in 30 days. Management decision — not a budget decision.</a:t>
            </a:r>
            <a:endParaRPr lang="en-US" sz="850" dirty="0"/>
          </a:p>
        </p:txBody>
      </p:sp>
      <p:sp>
        <p:nvSpPr>
          <p:cNvPr id="15" name="Text 13"/>
          <p:cNvSpPr/>
          <p:nvPr/>
        </p:nvSpPr>
        <p:spPr>
          <a:xfrm>
            <a:off x="914400" y="2926080"/>
            <a:ext cx="1828800" cy="182880"/>
          </a:xfrm>
          <a:prstGeom prst="rect">
            <a:avLst/>
          </a:prstGeom>
          <a:noFill/>
          <a:ln/>
        </p:spPr>
        <p:txBody>
          <a:bodyPr wrap="square" rtlCol="0" anchor="ctr"/>
          <a:lstStyle/>
          <a:p>
            <a:pPr indent="0" marL="0">
              <a:buNone/>
            </a:pPr>
            <a:r>
              <a:rPr lang="en-US" sz="750" i="1" dirty="0">
                <a:solidFill>
                  <a:srgbClr val="5A6A85"/>
                </a:solidFill>
                <a:latin typeface="Calibri" pitchFamily="34" charset="0"/>
                <a:ea typeface="Calibri" pitchFamily="34" charset="-122"/>
                <a:cs typeface="Calibri" pitchFamily="34" charset="-120"/>
              </a:rPr>
              <a:t>Operations</a:t>
            </a:r>
            <a:endParaRPr lang="en-US" sz="750" dirty="0"/>
          </a:p>
        </p:txBody>
      </p:sp>
      <p:sp>
        <p:nvSpPr>
          <p:cNvPr id="16" name="Shape 14"/>
          <p:cNvSpPr/>
          <p:nvPr/>
        </p:nvSpPr>
        <p:spPr>
          <a:xfrm>
            <a:off x="6172200" y="2029968"/>
            <a:ext cx="5486400" cy="1143000"/>
          </a:xfrm>
          <a:prstGeom prst="rect">
            <a:avLst/>
          </a:prstGeom>
          <a:solidFill>
            <a:srgbClr val="F0F4F8"/>
          </a:solidFill>
          <a:ln w="12700">
            <a:solidFill>
              <a:srgbClr val="D0D8E8"/>
            </a:solidFill>
            <a:prstDash val="solid"/>
          </a:ln>
          <a:effectLst>
            <a:outerShdw sx="100000" sy="100000" kx="0" ky="0" algn="bl" rotWithShape="0" blurRad="101600" dist="38100" dir="8100000">
              <a:srgbClr val="000000">
                <a:alpha val="12000"/>
              </a:srgbClr>
            </a:outerShdw>
          </a:effectLst>
        </p:spPr>
      </p:sp>
      <p:sp>
        <p:nvSpPr>
          <p:cNvPr id="17" name="Shape 15"/>
          <p:cNvSpPr/>
          <p:nvPr/>
        </p:nvSpPr>
        <p:spPr>
          <a:xfrm>
            <a:off x="6172200" y="2029968"/>
            <a:ext cx="54864" cy="1143000"/>
          </a:xfrm>
          <a:prstGeom prst="rect">
            <a:avLst/>
          </a:prstGeom>
          <a:solidFill>
            <a:srgbClr val="1A6B3A"/>
          </a:solidFill>
          <a:ln w="12700">
            <a:solidFill>
              <a:srgbClr val="1A6B3A"/>
            </a:solidFill>
            <a:prstDash val="solid"/>
          </a:ln>
        </p:spPr>
      </p:sp>
      <p:sp>
        <p:nvSpPr>
          <p:cNvPr id="18" name="Text 16"/>
          <p:cNvSpPr/>
          <p:nvPr/>
        </p:nvSpPr>
        <p:spPr>
          <a:xfrm>
            <a:off x="6309360" y="2103120"/>
            <a:ext cx="365760" cy="256032"/>
          </a:xfrm>
          <a:prstGeom prst="rect">
            <a:avLst/>
          </a:prstGeom>
          <a:noFill/>
          <a:ln/>
        </p:spPr>
        <p:txBody>
          <a:bodyPr wrap="square" rtlCol="0" anchor="ctr"/>
          <a:lstStyle/>
          <a:p>
            <a:pPr indent="0" marL="0">
              <a:buNone/>
            </a:pPr>
            <a:r>
              <a:rPr lang="en-US" sz="1100" b="1" dirty="0">
                <a:solidFill>
                  <a:srgbClr val="1A6B3A"/>
                </a:solidFill>
                <a:latin typeface="Calibri" pitchFamily="34" charset="0"/>
                <a:ea typeface="Calibri" pitchFamily="34" charset="-122"/>
                <a:cs typeface="Calibri" pitchFamily="34" charset="-120"/>
              </a:rPr>
              <a:t>02</a:t>
            </a:r>
            <a:endParaRPr lang="en-US" sz="1100" dirty="0"/>
          </a:p>
        </p:txBody>
      </p:sp>
      <p:sp>
        <p:nvSpPr>
          <p:cNvPr id="19" name="Text 17"/>
          <p:cNvSpPr/>
          <p:nvPr/>
        </p:nvSpPr>
        <p:spPr>
          <a:xfrm>
            <a:off x="6720840" y="2084832"/>
            <a:ext cx="4389120" cy="274320"/>
          </a:xfrm>
          <a:prstGeom prst="rect">
            <a:avLst/>
          </a:prstGeom>
          <a:noFill/>
          <a:ln/>
        </p:spPr>
        <p:txBody>
          <a:bodyPr wrap="square" rtlCol="0" anchor="ctr"/>
          <a:lstStyle/>
          <a:p>
            <a:pPr indent="0" marL="0">
              <a:buNone/>
            </a:pPr>
            <a:r>
              <a:rPr lang="en-US" sz="1100" b="1" dirty="0">
                <a:solidFill>
                  <a:srgbClr val="0A1628"/>
                </a:solidFill>
                <a:latin typeface="Calibri" pitchFamily="34" charset="0"/>
                <a:ea typeface="Calibri" pitchFamily="34" charset="-122"/>
                <a:cs typeface="Calibri" pitchFamily="34" charset="-120"/>
              </a:rPr>
              <a:t>Launch Tier 1 VIP Re-engagement</a:t>
            </a:r>
            <a:endParaRPr lang="en-US" sz="1100" dirty="0"/>
          </a:p>
        </p:txBody>
      </p:sp>
      <p:sp>
        <p:nvSpPr>
          <p:cNvPr id="20" name="Text 18"/>
          <p:cNvSpPr/>
          <p:nvPr/>
        </p:nvSpPr>
        <p:spPr>
          <a:xfrm>
            <a:off x="6720840" y="2414016"/>
            <a:ext cx="4389120" cy="594360"/>
          </a:xfrm>
          <a:prstGeom prst="rect">
            <a:avLst/>
          </a:prstGeom>
          <a:noFill/>
          <a:ln/>
        </p:spPr>
        <p:txBody>
          <a:bodyPr wrap="square" rtlCol="0" anchor="ctr"/>
          <a:lstStyle/>
          <a:p>
            <a:pPr indent="0" marL="0">
              <a:buNone/>
            </a:pPr>
            <a:r>
              <a:rPr lang="en-US" sz="850" i="1" dirty="0">
                <a:solidFill>
                  <a:srgbClr val="2A2820"/>
                </a:solidFill>
                <a:latin typeface="Calibri" pitchFamily="34" charset="0"/>
                <a:ea typeface="Calibri" pitchFamily="34" charset="-122"/>
                <a:cs typeface="Calibri" pitchFamily="34" charset="-120"/>
              </a:rPr>
              <a:t>1,045 customers. Phone call this week — not email. Loyalty offer. They drifted. One call recovers them. Target: $843,315.</a:t>
            </a:r>
            <a:endParaRPr lang="en-US" sz="850" dirty="0"/>
          </a:p>
        </p:txBody>
      </p:sp>
      <p:sp>
        <p:nvSpPr>
          <p:cNvPr id="21" name="Text 19"/>
          <p:cNvSpPr/>
          <p:nvPr/>
        </p:nvSpPr>
        <p:spPr>
          <a:xfrm>
            <a:off x="6720840" y="2926080"/>
            <a:ext cx="1828800" cy="182880"/>
          </a:xfrm>
          <a:prstGeom prst="rect">
            <a:avLst/>
          </a:prstGeom>
          <a:noFill/>
          <a:ln/>
        </p:spPr>
        <p:txBody>
          <a:bodyPr wrap="square" rtlCol="0" anchor="ctr"/>
          <a:lstStyle/>
          <a:p>
            <a:pPr indent="0" marL="0">
              <a:buNone/>
            </a:pPr>
            <a:r>
              <a:rPr lang="en-US" sz="750" i="1" dirty="0">
                <a:solidFill>
                  <a:srgbClr val="5A6A85"/>
                </a:solidFill>
                <a:latin typeface="Calibri" pitchFamily="34" charset="0"/>
                <a:ea typeface="Calibri" pitchFamily="34" charset="-122"/>
                <a:cs typeface="Calibri" pitchFamily="34" charset="-120"/>
              </a:rPr>
              <a:t>Customer Mgr</a:t>
            </a:r>
            <a:endParaRPr lang="en-US" sz="750" dirty="0"/>
          </a:p>
        </p:txBody>
      </p:sp>
      <p:sp>
        <p:nvSpPr>
          <p:cNvPr id="22" name="Shape 20"/>
          <p:cNvSpPr/>
          <p:nvPr/>
        </p:nvSpPr>
        <p:spPr>
          <a:xfrm>
            <a:off x="365760" y="3328416"/>
            <a:ext cx="5486400" cy="1143000"/>
          </a:xfrm>
          <a:prstGeom prst="rect">
            <a:avLst/>
          </a:prstGeom>
          <a:solidFill>
            <a:srgbClr val="F0F4F8"/>
          </a:solidFill>
          <a:ln w="12700">
            <a:solidFill>
              <a:srgbClr val="D0D8E8"/>
            </a:solidFill>
            <a:prstDash val="solid"/>
          </a:ln>
          <a:effectLst>
            <a:outerShdw sx="100000" sy="100000" kx="0" ky="0" algn="bl" rotWithShape="0" blurRad="101600" dist="38100" dir="8100000">
              <a:srgbClr val="000000">
                <a:alpha val="12000"/>
              </a:srgbClr>
            </a:outerShdw>
          </a:effectLst>
        </p:spPr>
      </p:sp>
      <p:sp>
        <p:nvSpPr>
          <p:cNvPr id="23" name="Shape 21"/>
          <p:cNvSpPr/>
          <p:nvPr/>
        </p:nvSpPr>
        <p:spPr>
          <a:xfrm>
            <a:off x="365760" y="3328416"/>
            <a:ext cx="54864" cy="1143000"/>
          </a:xfrm>
          <a:prstGeom prst="rect">
            <a:avLst/>
          </a:prstGeom>
          <a:solidFill>
            <a:srgbClr val="D4820A"/>
          </a:solidFill>
          <a:ln w="12700">
            <a:solidFill>
              <a:srgbClr val="D4820A"/>
            </a:solidFill>
            <a:prstDash val="solid"/>
          </a:ln>
        </p:spPr>
      </p:sp>
      <p:sp>
        <p:nvSpPr>
          <p:cNvPr id="24" name="Text 22"/>
          <p:cNvSpPr/>
          <p:nvPr/>
        </p:nvSpPr>
        <p:spPr>
          <a:xfrm>
            <a:off x="502920" y="3401568"/>
            <a:ext cx="365760" cy="256032"/>
          </a:xfrm>
          <a:prstGeom prst="rect">
            <a:avLst/>
          </a:prstGeom>
          <a:noFill/>
          <a:ln/>
        </p:spPr>
        <p:txBody>
          <a:bodyPr wrap="square" rtlCol="0" anchor="ctr"/>
          <a:lstStyle/>
          <a:p>
            <a:pPr indent="0" marL="0">
              <a:buNone/>
            </a:pPr>
            <a:r>
              <a:rPr lang="en-US" sz="1100" b="1" dirty="0">
                <a:solidFill>
                  <a:srgbClr val="D4820A"/>
                </a:solidFill>
                <a:latin typeface="Calibri" pitchFamily="34" charset="0"/>
                <a:ea typeface="Calibri" pitchFamily="34" charset="-122"/>
                <a:cs typeface="Calibri" pitchFamily="34" charset="-120"/>
              </a:rPr>
              <a:t>03</a:t>
            </a:r>
            <a:endParaRPr lang="en-US" sz="1100" dirty="0"/>
          </a:p>
        </p:txBody>
      </p:sp>
      <p:sp>
        <p:nvSpPr>
          <p:cNvPr id="25" name="Text 23"/>
          <p:cNvSpPr/>
          <p:nvPr/>
        </p:nvSpPr>
        <p:spPr>
          <a:xfrm>
            <a:off x="914400" y="3383280"/>
            <a:ext cx="4389120" cy="274320"/>
          </a:xfrm>
          <a:prstGeom prst="rect">
            <a:avLst/>
          </a:prstGeom>
          <a:noFill/>
          <a:ln/>
        </p:spPr>
        <p:txBody>
          <a:bodyPr wrap="square" rtlCol="0" anchor="ctr"/>
          <a:lstStyle/>
          <a:p>
            <a:pPr indent="0" marL="0">
              <a:buNone/>
            </a:pPr>
            <a:r>
              <a:rPr lang="en-US" sz="1100" b="1" dirty="0">
                <a:solidFill>
                  <a:srgbClr val="0A1628"/>
                </a:solidFill>
                <a:latin typeface="Calibri" pitchFamily="34" charset="0"/>
                <a:ea typeface="Calibri" pitchFamily="34" charset="-122"/>
                <a:cs typeface="Calibri" pitchFamily="34" charset="-120"/>
              </a:rPr>
              <a:t>Launch Tier 2 Competitor-Risk Campaign</a:t>
            </a:r>
            <a:endParaRPr lang="en-US" sz="1100" dirty="0"/>
          </a:p>
        </p:txBody>
      </p:sp>
      <p:sp>
        <p:nvSpPr>
          <p:cNvPr id="26" name="Text 24"/>
          <p:cNvSpPr/>
          <p:nvPr/>
        </p:nvSpPr>
        <p:spPr>
          <a:xfrm>
            <a:off x="914400" y="3712464"/>
            <a:ext cx="4389120" cy="594360"/>
          </a:xfrm>
          <a:prstGeom prst="rect">
            <a:avLst/>
          </a:prstGeom>
          <a:noFill/>
          <a:ln/>
        </p:spPr>
        <p:txBody>
          <a:bodyPr wrap="square" rtlCol="0" anchor="ctr"/>
          <a:lstStyle/>
          <a:p>
            <a:pPr indent="0" marL="0">
              <a:buNone/>
            </a:pPr>
            <a:r>
              <a:rPr lang="en-US" sz="850" i="1" dirty="0">
                <a:solidFill>
                  <a:srgbClr val="2A2820"/>
                </a:solidFill>
                <a:latin typeface="Calibri" pitchFamily="34" charset="0"/>
                <a:ea typeface="Calibri" pitchFamily="34" charset="-122"/>
                <a:cs typeface="Calibri" pitchFamily="34" charset="-120"/>
              </a:rPr>
              <a:t>2,150 customers. 30-day window. Competitor clock running. Target: $1,692,331 revenue protected.</a:t>
            </a:r>
            <a:endParaRPr lang="en-US" sz="850" dirty="0"/>
          </a:p>
        </p:txBody>
      </p:sp>
      <p:sp>
        <p:nvSpPr>
          <p:cNvPr id="27" name="Text 25"/>
          <p:cNvSpPr/>
          <p:nvPr/>
        </p:nvSpPr>
        <p:spPr>
          <a:xfrm>
            <a:off x="914400" y="4224528"/>
            <a:ext cx="1828800" cy="182880"/>
          </a:xfrm>
          <a:prstGeom prst="rect">
            <a:avLst/>
          </a:prstGeom>
          <a:noFill/>
          <a:ln/>
        </p:spPr>
        <p:txBody>
          <a:bodyPr wrap="square" rtlCol="0" anchor="ctr"/>
          <a:lstStyle/>
          <a:p>
            <a:pPr indent="0" marL="0">
              <a:buNone/>
            </a:pPr>
            <a:r>
              <a:rPr lang="en-US" sz="750" i="1" dirty="0">
                <a:solidFill>
                  <a:srgbClr val="5A6A85"/>
                </a:solidFill>
                <a:latin typeface="Calibri" pitchFamily="34" charset="0"/>
                <a:ea typeface="Calibri" pitchFamily="34" charset="-122"/>
                <a:cs typeface="Calibri" pitchFamily="34" charset="-120"/>
              </a:rPr>
              <a:t>Customer Mgr</a:t>
            </a:r>
            <a:endParaRPr lang="en-US" sz="750" dirty="0"/>
          </a:p>
        </p:txBody>
      </p:sp>
      <p:sp>
        <p:nvSpPr>
          <p:cNvPr id="28" name="Shape 26"/>
          <p:cNvSpPr/>
          <p:nvPr/>
        </p:nvSpPr>
        <p:spPr>
          <a:xfrm>
            <a:off x="6172200" y="3328416"/>
            <a:ext cx="5486400" cy="1143000"/>
          </a:xfrm>
          <a:prstGeom prst="rect">
            <a:avLst/>
          </a:prstGeom>
          <a:solidFill>
            <a:srgbClr val="F0F4F8"/>
          </a:solidFill>
          <a:ln w="12700">
            <a:solidFill>
              <a:srgbClr val="D0D8E8"/>
            </a:solidFill>
            <a:prstDash val="solid"/>
          </a:ln>
          <a:effectLst>
            <a:outerShdw sx="100000" sy="100000" kx="0" ky="0" algn="bl" rotWithShape="0" blurRad="101600" dist="38100" dir="8100000">
              <a:srgbClr val="000000">
                <a:alpha val="12000"/>
              </a:srgbClr>
            </a:outerShdw>
          </a:effectLst>
        </p:spPr>
      </p:sp>
      <p:sp>
        <p:nvSpPr>
          <p:cNvPr id="29" name="Shape 27"/>
          <p:cNvSpPr/>
          <p:nvPr/>
        </p:nvSpPr>
        <p:spPr>
          <a:xfrm>
            <a:off x="6172200" y="3328416"/>
            <a:ext cx="54864" cy="1143000"/>
          </a:xfrm>
          <a:prstGeom prst="rect">
            <a:avLst/>
          </a:prstGeom>
          <a:solidFill>
            <a:srgbClr val="C0392B"/>
          </a:solidFill>
          <a:ln w="12700">
            <a:solidFill>
              <a:srgbClr val="C0392B"/>
            </a:solidFill>
            <a:prstDash val="solid"/>
          </a:ln>
        </p:spPr>
      </p:sp>
      <p:sp>
        <p:nvSpPr>
          <p:cNvPr id="30" name="Text 28"/>
          <p:cNvSpPr/>
          <p:nvPr/>
        </p:nvSpPr>
        <p:spPr>
          <a:xfrm>
            <a:off x="6309360" y="3401568"/>
            <a:ext cx="365760" cy="256032"/>
          </a:xfrm>
          <a:prstGeom prst="rect">
            <a:avLst/>
          </a:prstGeom>
          <a:noFill/>
          <a:ln/>
        </p:spPr>
        <p:txBody>
          <a:bodyPr wrap="square" rtlCol="0" anchor="ctr"/>
          <a:lstStyle/>
          <a:p>
            <a:pPr indent="0" marL="0">
              <a:buNone/>
            </a:pPr>
            <a:r>
              <a:rPr lang="en-US" sz="1100" b="1" dirty="0">
                <a:solidFill>
                  <a:srgbClr val="C0392B"/>
                </a:solidFill>
                <a:latin typeface="Calibri" pitchFamily="34" charset="0"/>
                <a:ea typeface="Calibri" pitchFamily="34" charset="-122"/>
                <a:cs typeface="Calibri" pitchFamily="34" charset="-120"/>
              </a:rPr>
              <a:t>04</a:t>
            </a:r>
            <a:endParaRPr lang="en-US" sz="1100" dirty="0"/>
          </a:p>
        </p:txBody>
      </p:sp>
      <p:sp>
        <p:nvSpPr>
          <p:cNvPr id="31" name="Text 29"/>
          <p:cNvSpPr/>
          <p:nvPr/>
        </p:nvSpPr>
        <p:spPr>
          <a:xfrm>
            <a:off x="6720840" y="3383280"/>
            <a:ext cx="4389120" cy="274320"/>
          </a:xfrm>
          <a:prstGeom prst="rect">
            <a:avLst/>
          </a:prstGeom>
          <a:noFill/>
          <a:ln/>
        </p:spPr>
        <p:txBody>
          <a:bodyPr wrap="square" rtlCol="0" anchor="ctr"/>
          <a:lstStyle/>
          <a:p>
            <a:pPr indent="0" marL="0">
              <a:buNone/>
            </a:pPr>
            <a:r>
              <a:rPr lang="en-US" sz="1100" b="1" dirty="0">
                <a:solidFill>
                  <a:srgbClr val="0A1628"/>
                </a:solidFill>
                <a:latin typeface="Calibri" pitchFamily="34" charset="0"/>
                <a:ea typeface="Calibri" pitchFamily="34" charset="-122"/>
                <a:cs typeface="Calibri" pitchFamily="34" charset="-120"/>
              </a:rPr>
              <a:t>Suspend Acquisition Marketing</a:t>
            </a:r>
            <a:endParaRPr lang="en-US" sz="1100" dirty="0"/>
          </a:p>
        </p:txBody>
      </p:sp>
      <p:sp>
        <p:nvSpPr>
          <p:cNvPr id="32" name="Text 30"/>
          <p:cNvSpPr/>
          <p:nvPr/>
        </p:nvSpPr>
        <p:spPr>
          <a:xfrm>
            <a:off x="6720840" y="3712464"/>
            <a:ext cx="4389120" cy="594360"/>
          </a:xfrm>
          <a:prstGeom prst="rect">
            <a:avLst/>
          </a:prstGeom>
          <a:noFill/>
          <a:ln/>
        </p:spPr>
        <p:txBody>
          <a:bodyPr wrap="square" rtlCol="0" anchor="ctr"/>
          <a:lstStyle/>
          <a:p>
            <a:pPr indent="0" marL="0">
              <a:buNone/>
            </a:pPr>
            <a:r>
              <a:rPr lang="en-US" sz="850" i="1" dirty="0">
                <a:solidFill>
                  <a:srgbClr val="2A2820"/>
                </a:solidFill>
                <a:latin typeface="Calibri" pitchFamily="34" charset="0"/>
                <a:ea typeface="Calibri" pitchFamily="34" charset="-122"/>
                <a:cs typeface="Calibri" pitchFamily="34" charset="-120"/>
              </a:rPr>
              <a:t>Every new customer acquired before the entry experience is repaired becomes another detractor. Stop funding the problem.</a:t>
            </a:r>
            <a:endParaRPr lang="en-US" sz="850" dirty="0"/>
          </a:p>
        </p:txBody>
      </p:sp>
      <p:sp>
        <p:nvSpPr>
          <p:cNvPr id="33" name="Text 31"/>
          <p:cNvSpPr/>
          <p:nvPr/>
        </p:nvSpPr>
        <p:spPr>
          <a:xfrm>
            <a:off x="6720840" y="4224528"/>
            <a:ext cx="1828800" cy="182880"/>
          </a:xfrm>
          <a:prstGeom prst="rect">
            <a:avLst/>
          </a:prstGeom>
          <a:noFill/>
          <a:ln/>
        </p:spPr>
        <p:txBody>
          <a:bodyPr wrap="square" rtlCol="0" anchor="ctr"/>
          <a:lstStyle/>
          <a:p>
            <a:pPr indent="0" marL="0">
              <a:buNone/>
            </a:pPr>
            <a:r>
              <a:rPr lang="en-US" sz="750" i="1" dirty="0">
                <a:solidFill>
                  <a:srgbClr val="5A6A85"/>
                </a:solidFill>
                <a:latin typeface="Calibri" pitchFamily="34" charset="0"/>
                <a:ea typeface="Calibri" pitchFamily="34" charset="-122"/>
                <a:cs typeface="Calibri" pitchFamily="34" charset="-120"/>
              </a:rPr>
              <a:t>Marketing</a:t>
            </a:r>
            <a:endParaRPr lang="en-US" sz="750" dirty="0"/>
          </a:p>
        </p:txBody>
      </p:sp>
      <p:sp>
        <p:nvSpPr>
          <p:cNvPr id="34" name="Shape 32"/>
          <p:cNvSpPr/>
          <p:nvPr/>
        </p:nvSpPr>
        <p:spPr>
          <a:xfrm>
            <a:off x="365760" y="4626864"/>
            <a:ext cx="5486400" cy="1143000"/>
          </a:xfrm>
          <a:prstGeom prst="rect">
            <a:avLst/>
          </a:prstGeom>
          <a:solidFill>
            <a:srgbClr val="F0F4F8"/>
          </a:solidFill>
          <a:ln w="12700">
            <a:solidFill>
              <a:srgbClr val="D0D8E8"/>
            </a:solidFill>
            <a:prstDash val="solid"/>
          </a:ln>
          <a:effectLst>
            <a:outerShdw sx="100000" sy="100000" kx="0" ky="0" algn="bl" rotWithShape="0" blurRad="101600" dist="38100" dir="8100000">
              <a:srgbClr val="000000">
                <a:alpha val="12000"/>
              </a:srgbClr>
            </a:outerShdw>
          </a:effectLst>
        </p:spPr>
      </p:sp>
      <p:sp>
        <p:nvSpPr>
          <p:cNvPr id="35" name="Shape 33"/>
          <p:cNvSpPr/>
          <p:nvPr/>
        </p:nvSpPr>
        <p:spPr>
          <a:xfrm>
            <a:off x="365760" y="4626864"/>
            <a:ext cx="54864" cy="1143000"/>
          </a:xfrm>
          <a:prstGeom prst="rect">
            <a:avLst/>
          </a:prstGeom>
          <a:solidFill>
            <a:srgbClr val="C0392B"/>
          </a:solidFill>
          <a:ln w="12700">
            <a:solidFill>
              <a:srgbClr val="C0392B"/>
            </a:solidFill>
            <a:prstDash val="solid"/>
          </a:ln>
        </p:spPr>
      </p:sp>
      <p:sp>
        <p:nvSpPr>
          <p:cNvPr id="36" name="Text 34"/>
          <p:cNvSpPr/>
          <p:nvPr/>
        </p:nvSpPr>
        <p:spPr>
          <a:xfrm>
            <a:off x="502920" y="4700016"/>
            <a:ext cx="365760" cy="256032"/>
          </a:xfrm>
          <a:prstGeom prst="rect">
            <a:avLst/>
          </a:prstGeom>
          <a:noFill/>
          <a:ln/>
        </p:spPr>
        <p:txBody>
          <a:bodyPr wrap="square" rtlCol="0" anchor="ctr"/>
          <a:lstStyle/>
          <a:p>
            <a:pPr indent="0" marL="0">
              <a:buNone/>
            </a:pPr>
            <a:r>
              <a:rPr lang="en-US" sz="1100" b="1" dirty="0">
                <a:solidFill>
                  <a:srgbClr val="C0392B"/>
                </a:solidFill>
                <a:latin typeface="Calibri" pitchFamily="34" charset="0"/>
                <a:ea typeface="Calibri" pitchFamily="34" charset="-122"/>
                <a:cs typeface="Calibri" pitchFamily="34" charset="-120"/>
              </a:rPr>
              <a:t>05</a:t>
            </a:r>
            <a:endParaRPr lang="en-US" sz="1100" dirty="0"/>
          </a:p>
        </p:txBody>
      </p:sp>
      <p:sp>
        <p:nvSpPr>
          <p:cNvPr id="37" name="Text 35"/>
          <p:cNvSpPr/>
          <p:nvPr/>
        </p:nvSpPr>
        <p:spPr>
          <a:xfrm>
            <a:off x="914400" y="4681728"/>
            <a:ext cx="4389120" cy="274320"/>
          </a:xfrm>
          <a:prstGeom prst="rect">
            <a:avLst/>
          </a:prstGeom>
          <a:noFill/>
          <a:ln/>
        </p:spPr>
        <p:txBody>
          <a:bodyPr wrap="square" rtlCol="0" anchor="ctr"/>
          <a:lstStyle/>
          <a:p>
            <a:pPr indent="0" marL="0">
              <a:buNone/>
            </a:pPr>
            <a:r>
              <a:rPr lang="en-US" sz="1100" b="1" dirty="0">
                <a:solidFill>
                  <a:srgbClr val="0A1628"/>
                </a:solidFill>
                <a:latin typeface="Calibri" pitchFamily="34" charset="0"/>
                <a:ea typeface="Calibri" pitchFamily="34" charset="-122"/>
                <a:cs typeface="Calibri" pitchFamily="34" charset="-120"/>
              </a:rPr>
              <a:t>Introduce Crisis SLA</a:t>
            </a:r>
            <a:endParaRPr lang="en-US" sz="1100" dirty="0"/>
          </a:p>
        </p:txBody>
      </p:sp>
      <p:sp>
        <p:nvSpPr>
          <p:cNvPr id="38" name="Text 36"/>
          <p:cNvSpPr/>
          <p:nvPr/>
        </p:nvSpPr>
        <p:spPr>
          <a:xfrm>
            <a:off x="914400" y="5010912"/>
            <a:ext cx="4389120" cy="594360"/>
          </a:xfrm>
          <a:prstGeom prst="rect">
            <a:avLst/>
          </a:prstGeom>
          <a:noFill/>
          <a:ln/>
        </p:spPr>
        <p:txBody>
          <a:bodyPr wrap="square" rtlCol="0" anchor="ctr"/>
          <a:lstStyle/>
          <a:p>
            <a:pPr indent="0" marL="0">
              <a:buNone/>
            </a:pPr>
            <a:r>
              <a:rPr lang="en-US" sz="850" i="1" dirty="0">
                <a:solidFill>
                  <a:srgbClr val="2A2820"/>
                </a:solidFill>
                <a:latin typeface="Calibri" pitchFamily="34" charset="0"/>
                <a:ea typeface="Calibri" pitchFamily="34" charset="-122"/>
                <a:cs typeface="Calibri" pitchFamily="34" charset="-120"/>
              </a:rPr>
              <a:t>4-hour acknowledgement. 24-hour first response. 7-day resolution commitment. Sign off by end of week.</a:t>
            </a:r>
            <a:endParaRPr lang="en-US" sz="850" dirty="0"/>
          </a:p>
        </p:txBody>
      </p:sp>
      <p:sp>
        <p:nvSpPr>
          <p:cNvPr id="39" name="Text 37"/>
          <p:cNvSpPr/>
          <p:nvPr/>
        </p:nvSpPr>
        <p:spPr>
          <a:xfrm>
            <a:off x="914400" y="5522976"/>
            <a:ext cx="1828800" cy="182880"/>
          </a:xfrm>
          <a:prstGeom prst="rect">
            <a:avLst/>
          </a:prstGeom>
          <a:noFill/>
          <a:ln/>
        </p:spPr>
        <p:txBody>
          <a:bodyPr wrap="square" rtlCol="0" anchor="ctr"/>
          <a:lstStyle/>
          <a:p>
            <a:pPr indent="0" marL="0">
              <a:buNone/>
            </a:pPr>
            <a:r>
              <a:rPr lang="en-US" sz="750" i="1" dirty="0">
                <a:solidFill>
                  <a:srgbClr val="5A6A85"/>
                </a:solidFill>
                <a:latin typeface="Calibri" pitchFamily="34" charset="0"/>
                <a:ea typeface="Calibri" pitchFamily="34" charset="-122"/>
                <a:cs typeface="Calibri" pitchFamily="34" charset="-120"/>
              </a:rPr>
              <a:t>Operations</a:t>
            </a:r>
            <a:endParaRPr lang="en-US" sz="750" dirty="0"/>
          </a:p>
        </p:txBody>
      </p:sp>
      <p:sp>
        <p:nvSpPr>
          <p:cNvPr id="40" name="Shape 38"/>
          <p:cNvSpPr/>
          <p:nvPr/>
        </p:nvSpPr>
        <p:spPr>
          <a:xfrm>
            <a:off x="6172200" y="4626864"/>
            <a:ext cx="5486400" cy="1143000"/>
          </a:xfrm>
          <a:prstGeom prst="rect">
            <a:avLst/>
          </a:prstGeom>
          <a:solidFill>
            <a:srgbClr val="F0F4F8"/>
          </a:solidFill>
          <a:ln w="12700">
            <a:solidFill>
              <a:srgbClr val="D0D8E8"/>
            </a:solidFill>
            <a:prstDash val="solid"/>
          </a:ln>
          <a:effectLst>
            <a:outerShdw sx="100000" sy="100000" kx="0" ky="0" algn="bl" rotWithShape="0" blurRad="101600" dist="38100" dir="8100000">
              <a:srgbClr val="000000">
                <a:alpha val="12000"/>
              </a:srgbClr>
            </a:outerShdw>
          </a:effectLst>
        </p:spPr>
      </p:sp>
      <p:sp>
        <p:nvSpPr>
          <p:cNvPr id="41" name="Shape 39"/>
          <p:cNvSpPr/>
          <p:nvPr/>
        </p:nvSpPr>
        <p:spPr>
          <a:xfrm>
            <a:off x="6172200" y="4626864"/>
            <a:ext cx="54864" cy="1143000"/>
          </a:xfrm>
          <a:prstGeom prst="rect">
            <a:avLst/>
          </a:prstGeom>
          <a:solidFill>
            <a:srgbClr val="D4820A"/>
          </a:solidFill>
          <a:ln w="12700">
            <a:solidFill>
              <a:srgbClr val="D4820A"/>
            </a:solidFill>
            <a:prstDash val="solid"/>
          </a:ln>
        </p:spPr>
      </p:sp>
      <p:sp>
        <p:nvSpPr>
          <p:cNvPr id="42" name="Text 40"/>
          <p:cNvSpPr/>
          <p:nvPr/>
        </p:nvSpPr>
        <p:spPr>
          <a:xfrm>
            <a:off x="6309360" y="4700016"/>
            <a:ext cx="365760" cy="256032"/>
          </a:xfrm>
          <a:prstGeom prst="rect">
            <a:avLst/>
          </a:prstGeom>
          <a:noFill/>
          <a:ln/>
        </p:spPr>
        <p:txBody>
          <a:bodyPr wrap="square" rtlCol="0" anchor="ctr"/>
          <a:lstStyle/>
          <a:p>
            <a:pPr indent="0" marL="0">
              <a:buNone/>
            </a:pPr>
            <a:r>
              <a:rPr lang="en-US" sz="1100" b="1" dirty="0">
                <a:solidFill>
                  <a:srgbClr val="D4820A"/>
                </a:solidFill>
                <a:latin typeface="Calibri" pitchFamily="34" charset="0"/>
                <a:ea typeface="Calibri" pitchFamily="34" charset="-122"/>
                <a:cs typeface="Calibri" pitchFamily="34" charset="-120"/>
              </a:rPr>
              <a:t>06</a:t>
            </a:r>
            <a:endParaRPr lang="en-US" sz="1100" dirty="0"/>
          </a:p>
        </p:txBody>
      </p:sp>
      <p:sp>
        <p:nvSpPr>
          <p:cNvPr id="43" name="Text 41"/>
          <p:cNvSpPr/>
          <p:nvPr/>
        </p:nvSpPr>
        <p:spPr>
          <a:xfrm>
            <a:off x="6720840" y="4681728"/>
            <a:ext cx="4389120" cy="274320"/>
          </a:xfrm>
          <a:prstGeom prst="rect">
            <a:avLst/>
          </a:prstGeom>
          <a:noFill/>
          <a:ln/>
        </p:spPr>
        <p:txBody>
          <a:bodyPr wrap="square" rtlCol="0" anchor="ctr"/>
          <a:lstStyle/>
          <a:p>
            <a:pPr indent="0" marL="0">
              <a:buNone/>
            </a:pPr>
            <a:r>
              <a:rPr lang="en-US" sz="1100" b="1" dirty="0">
                <a:solidFill>
                  <a:srgbClr val="0A1628"/>
                </a:solidFill>
                <a:latin typeface="Calibri" pitchFamily="34" charset="0"/>
                <a:ea typeface="Calibri" pitchFamily="34" charset="-122"/>
                <a:cs typeface="Calibri" pitchFamily="34" charset="-120"/>
              </a:rPr>
              <a:t>Fix the Entry Experience</a:t>
            </a:r>
            <a:endParaRPr lang="en-US" sz="1100" dirty="0"/>
          </a:p>
        </p:txBody>
      </p:sp>
      <p:sp>
        <p:nvSpPr>
          <p:cNvPr id="44" name="Text 42"/>
          <p:cNvSpPr/>
          <p:nvPr/>
        </p:nvSpPr>
        <p:spPr>
          <a:xfrm>
            <a:off x="6720840" y="5010912"/>
            <a:ext cx="4389120" cy="594360"/>
          </a:xfrm>
          <a:prstGeom prst="rect">
            <a:avLst/>
          </a:prstGeom>
          <a:noFill/>
          <a:ln/>
        </p:spPr>
        <p:txBody>
          <a:bodyPr wrap="square" rtlCol="0" anchor="ctr"/>
          <a:lstStyle/>
          <a:p>
            <a:pPr indent="0" marL="0">
              <a:buNone/>
            </a:pPr>
            <a:r>
              <a:rPr lang="en-US" sz="850" i="1" dirty="0">
                <a:solidFill>
                  <a:srgbClr val="2A2820"/>
                </a:solidFill>
                <a:latin typeface="Calibri" pitchFamily="34" charset="0"/>
                <a:ea typeface="Calibri" pitchFamily="34" charset="-122"/>
                <a:cs typeface="Calibri" pitchFamily="34" charset="-120"/>
              </a:rPr>
              <a:t>Post-purchase NPS survey at day 7 and day 30. Identify the 3 touchpoints converting 61.4% of new customers into detractors.</a:t>
            </a:r>
            <a:endParaRPr lang="en-US" sz="850" dirty="0"/>
          </a:p>
        </p:txBody>
      </p:sp>
      <p:sp>
        <p:nvSpPr>
          <p:cNvPr id="45" name="Text 43"/>
          <p:cNvSpPr/>
          <p:nvPr/>
        </p:nvSpPr>
        <p:spPr>
          <a:xfrm>
            <a:off x="6720840" y="5522976"/>
            <a:ext cx="1828800" cy="182880"/>
          </a:xfrm>
          <a:prstGeom prst="rect">
            <a:avLst/>
          </a:prstGeom>
          <a:noFill/>
          <a:ln/>
        </p:spPr>
        <p:txBody>
          <a:bodyPr wrap="square" rtlCol="0" anchor="ctr"/>
          <a:lstStyle/>
          <a:p>
            <a:pPr indent="0" marL="0">
              <a:buNone/>
            </a:pPr>
            <a:r>
              <a:rPr lang="en-US" sz="750" i="1" dirty="0">
                <a:solidFill>
                  <a:srgbClr val="5A6A85"/>
                </a:solidFill>
                <a:latin typeface="Calibri" pitchFamily="34" charset="0"/>
                <a:ea typeface="Calibri" pitchFamily="34" charset="-122"/>
                <a:cs typeface="Calibri" pitchFamily="34" charset="-120"/>
              </a:rPr>
              <a:t>Product/CX</a:t>
            </a:r>
            <a:endParaRPr lang="en-US" sz="750" dirty="0"/>
          </a:p>
        </p:txBody>
      </p:sp>
      <p:sp>
        <p:nvSpPr>
          <p:cNvPr id="46" name="Shape 44"/>
          <p:cNvSpPr/>
          <p:nvPr/>
        </p:nvSpPr>
        <p:spPr>
          <a:xfrm>
            <a:off x="0" y="6537960"/>
            <a:ext cx="12161520" cy="320040"/>
          </a:xfrm>
          <a:prstGeom prst="rect">
            <a:avLst/>
          </a:prstGeom>
          <a:solidFill>
            <a:srgbClr val="0A1628"/>
          </a:solidFill>
          <a:ln w="12700">
            <a:solidFill>
              <a:srgbClr val="0A1628"/>
            </a:solidFill>
            <a:prstDash val="solid"/>
          </a:ln>
        </p:spPr>
      </p:sp>
      <p:sp>
        <p:nvSpPr>
          <p:cNvPr id="47" name="Text 45"/>
          <p:cNvSpPr/>
          <p:nvPr/>
        </p:nvSpPr>
        <p:spPr>
          <a:xfrm>
            <a:off x="365760" y="6565392"/>
            <a:ext cx="9144000" cy="256032"/>
          </a:xfrm>
          <a:prstGeom prst="rect">
            <a:avLst/>
          </a:prstGeom>
          <a:noFill/>
          <a:ln/>
        </p:spPr>
        <p:txBody>
          <a:bodyPr wrap="square" rtlCol="0" anchor="ctr"/>
          <a:lstStyle/>
          <a:p>
            <a:pPr indent="0" marL="0">
              <a:buNone/>
            </a:pPr>
            <a:r>
              <a:rPr lang="en-US" sz="750" dirty="0">
                <a:solidFill>
                  <a:srgbClr val="8899BB"/>
                </a:solidFill>
                <a:latin typeface="Calibri" pitchFamily="34" charset="0"/>
                <a:ea typeface="Calibri" pitchFamily="34" charset="-122"/>
                <a:cs typeface="Calibri" pitchFamily="34" charset="-120"/>
              </a:rPr>
              <a:t>Samuel Ahinakwa  |  Finance &amp; Analytics Professional  |  BSc · MSc · ICAG Finalist  |  Confidential</a:t>
            </a:r>
            <a:endParaRPr lang="en-US" sz="750" dirty="0"/>
          </a:p>
        </p:txBody>
      </p:sp>
      <p:sp>
        <p:nvSpPr>
          <p:cNvPr id="48" name="Text 46"/>
          <p:cNvSpPr/>
          <p:nvPr/>
        </p:nvSpPr>
        <p:spPr>
          <a:xfrm>
            <a:off x="11338560" y="6565392"/>
            <a:ext cx="731520" cy="256032"/>
          </a:xfrm>
          <a:prstGeom prst="rect">
            <a:avLst/>
          </a:prstGeom>
          <a:noFill/>
          <a:ln/>
        </p:spPr>
        <p:txBody>
          <a:bodyPr wrap="square" rtlCol="0" anchor="ctr"/>
          <a:lstStyle/>
          <a:p>
            <a:pPr algn="r" indent="0" marL="0">
              <a:buNone/>
            </a:pPr>
            <a:r>
              <a:rPr lang="en-US" sz="800" dirty="0">
                <a:solidFill>
                  <a:srgbClr val="C8A84B"/>
                </a:solidFill>
                <a:latin typeface="Calibri" pitchFamily="34" charset="0"/>
                <a:ea typeface="Calibri" pitchFamily="34" charset="-122"/>
                <a:cs typeface="Calibri" pitchFamily="34" charset="-120"/>
              </a:rPr>
              <a:t>16 / 20</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1051560"/>
          </a:xfrm>
          <a:prstGeom prst="rect">
            <a:avLst/>
          </a:prstGeom>
          <a:solidFill>
            <a:srgbClr val="0A1628"/>
          </a:solidFill>
          <a:ln w="12700">
            <a:solidFill>
              <a:srgbClr val="0A1628"/>
            </a:solidFill>
            <a:prstDash val="solid"/>
          </a:ln>
        </p:spPr>
      </p:sp>
      <p:sp>
        <p:nvSpPr>
          <p:cNvPr id="3" name="Shape 1"/>
          <p:cNvSpPr/>
          <p:nvPr/>
        </p:nvSpPr>
        <p:spPr>
          <a:xfrm>
            <a:off x="0" y="1051560"/>
            <a:ext cx="12161520" cy="36576"/>
          </a:xfrm>
          <a:prstGeom prst="rect">
            <a:avLst/>
          </a:prstGeom>
          <a:solidFill>
            <a:srgbClr val="C8A84B"/>
          </a:solidFill>
          <a:ln w="12700">
            <a:solidFill>
              <a:srgbClr val="C8A84B"/>
            </a:solidFill>
            <a:prstDash val="solid"/>
          </a:ln>
        </p:spPr>
      </p:sp>
      <p:sp>
        <p:nvSpPr>
          <p:cNvPr id="4" name="Text 2"/>
          <p:cNvSpPr/>
          <p:nvPr/>
        </p:nvSpPr>
        <p:spPr>
          <a:xfrm>
            <a:off x="365760" y="64008"/>
            <a:ext cx="4572000" cy="228600"/>
          </a:xfrm>
          <a:prstGeom prst="rect">
            <a:avLst/>
          </a:prstGeom>
          <a:noFill/>
          <a:ln/>
        </p:spPr>
        <p:txBody>
          <a:bodyPr wrap="square" rtlCol="0" anchor="ctr"/>
          <a:lstStyle/>
          <a:p>
            <a:pPr indent="0" marL="0">
              <a:buNone/>
            </a:pPr>
            <a:r>
              <a:rPr lang="en-US" sz="800" b="1" spc="200" kern="0" dirty="0">
                <a:solidFill>
                  <a:srgbClr val="C8A84B"/>
                </a:solidFill>
                <a:latin typeface="Calibri" pitchFamily="34" charset="0"/>
                <a:ea typeface="Calibri" pitchFamily="34" charset="-122"/>
                <a:cs typeface="Calibri" pitchFamily="34" charset="-120"/>
              </a:rPr>
              <a:t>04 — ACTION PLAN</a:t>
            </a:r>
            <a:endParaRPr lang="en-US" sz="800" dirty="0"/>
          </a:p>
        </p:txBody>
      </p:sp>
      <p:sp>
        <p:nvSpPr>
          <p:cNvPr id="5" name="Text 3"/>
          <p:cNvSpPr/>
          <p:nvPr/>
        </p:nvSpPr>
        <p:spPr>
          <a:xfrm>
            <a:off x="365760" y="256032"/>
            <a:ext cx="9601200" cy="566928"/>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Short-Term and Medium-Term Initiatives</a:t>
            </a:r>
            <a:endParaRPr lang="en-US" sz="2600" dirty="0"/>
          </a:p>
        </p:txBody>
      </p:sp>
      <p:sp>
        <p:nvSpPr>
          <p:cNvPr id="6" name="Text 4"/>
          <p:cNvSpPr/>
          <p:nvPr/>
        </p:nvSpPr>
        <p:spPr>
          <a:xfrm>
            <a:off x="365760" y="795528"/>
            <a:ext cx="10058400" cy="228600"/>
          </a:xfrm>
          <a:prstGeom prst="rect">
            <a:avLst/>
          </a:prstGeom>
          <a:noFill/>
          <a:ln/>
        </p:spPr>
        <p:txBody>
          <a:bodyPr wrap="square" rtlCol="0" anchor="ctr"/>
          <a:lstStyle/>
          <a:p>
            <a:pPr indent="0" marL="0">
              <a:buNone/>
            </a:pPr>
            <a:r>
              <a:rPr lang="en-US" sz="1050" i="1" dirty="0">
                <a:solidFill>
                  <a:srgbClr val="8899BB"/>
                </a:solidFill>
                <a:latin typeface="Calibri" pitchFamily="34" charset="0"/>
                <a:ea typeface="Calibri" pitchFamily="34" charset="-122"/>
                <a:cs typeface="Calibri" pitchFamily="34" charset="-120"/>
              </a:rPr>
              <a:t>30 to 90 days · 90 to 180 days · Measurement targets</a:t>
            </a:r>
            <a:endParaRPr lang="en-US" sz="1050" dirty="0"/>
          </a:p>
        </p:txBody>
      </p:sp>
      <p:sp>
        <p:nvSpPr>
          <p:cNvPr id="7" name="Shape 5"/>
          <p:cNvSpPr/>
          <p:nvPr/>
        </p:nvSpPr>
        <p:spPr>
          <a:xfrm>
            <a:off x="365760" y="1280160"/>
            <a:ext cx="5394960" cy="347472"/>
          </a:xfrm>
          <a:prstGeom prst="rect">
            <a:avLst/>
          </a:prstGeom>
          <a:solidFill>
            <a:srgbClr val="D4820A"/>
          </a:solidFill>
          <a:ln w="12700">
            <a:solidFill>
              <a:srgbClr val="D4820A"/>
            </a:solidFill>
            <a:prstDash val="solid"/>
          </a:ln>
        </p:spPr>
      </p:sp>
      <p:sp>
        <p:nvSpPr>
          <p:cNvPr id="8" name="Text 6"/>
          <p:cNvSpPr/>
          <p:nvPr/>
        </p:nvSpPr>
        <p:spPr>
          <a:xfrm>
            <a:off x="502920" y="1344168"/>
            <a:ext cx="5120640" cy="256032"/>
          </a:xfrm>
          <a:prstGeom prst="rect">
            <a:avLst/>
          </a:prstGeom>
          <a:noFill/>
          <a:ln/>
        </p:spPr>
        <p:txBody>
          <a:bodyPr wrap="square" rtlCol="0" anchor="ctr"/>
          <a:lstStyle/>
          <a:p>
            <a:pPr indent="0" marL="0">
              <a:buNone/>
            </a:pPr>
            <a:r>
              <a:rPr lang="en-US" sz="900" b="1" spc="200" kern="0" dirty="0">
                <a:solidFill>
                  <a:srgbClr val="FFFFFF"/>
                </a:solidFill>
                <a:latin typeface="Calibri" pitchFamily="34" charset="0"/>
                <a:ea typeface="Calibri" pitchFamily="34" charset="-122"/>
                <a:cs typeface="Calibri" pitchFamily="34" charset="-120"/>
              </a:rPr>
              <a:t>SHORT-TERM — 30 TO 90 DAYS</a:t>
            </a:r>
            <a:endParaRPr lang="en-US" sz="900" dirty="0"/>
          </a:p>
        </p:txBody>
      </p:sp>
      <p:sp>
        <p:nvSpPr>
          <p:cNvPr id="9" name="Shape 7"/>
          <p:cNvSpPr/>
          <p:nvPr/>
        </p:nvSpPr>
        <p:spPr>
          <a:xfrm>
            <a:off x="365760" y="1737360"/>
            <a:ext cx="5394960" cy="914400"/>
          </a:xfrm>
          <a:prstGeom prst="rect">
            <a:avLst/>
          </a:prstGeom>
          <a:solidFill>
            <a:srgbClr val="F0F4F8"/>
          </a:solidFill>
          <a:ln w="12700">
            <a:solidFill>
              <a:srgbClr val="D0D8E8"/>
            </a:solidFill>
            <a:prstDash val="solid"/>
          </a:ln>
        </p:spPr>
      </p:sp>
      <p:sp>
        <p:nvSpPr>
          <p:cNvPr id="10" name="Text 8"/>
          <p:cNvSpPr/>
          <p:nvPr/>
        </p:nvSpPr>
        <p:spPr>
          <a:xfrm>
            <a:off x="502920" y="1801368"/>
            <a:ext cx="5120640" cy="274320"/>
          </a:xfrm>
          <a:prstGeom prst="rect">
            <a:avLst/>
          </a:prstGeom>
          <a:noFill/>
          <a:ln/>
        </p:spPr>
        <p:txBody>
          <a:bodyPr wrap="square" rtlCol="0" anchor="ctr"/>
          <a:lstStyle/>
          <a:p>
            <a:pPr indent="0" marL="0">
              <a:buNone/>
            </a:pPr>
            <a:r>
              <a:rPr lang="en-US" sz="1050" b="1" dirty="0">
                <a:solidFill>
                  <a:srgbClr val="0A1628"/>
                </a:solidFill>
                <a:latin typeface="Calibri" pitchFamily="34" charset="0"/>
                <a:ea typeface="Calibri" pitchFamily="34" charset="-122"/>
                <a:cs typeface="Calibri" pitchFamily="34" charset="-120"/>
              </a:rPr>
              <a:t>Deploy Passive Re-engagement</a:t>
            </a:r>
            <a:endParaRPr lang="en-US" sz="1050" dirty="0"/>
          </a:p>
        </p:txBody>
      </p:sp>
      <p:sp>
        <p:nvSpPr>
          <p:cNvPr id="11" name="Text 9"/>
          <p:cNvSpPr/>
          <p:nvPr/>
        </p:nvSpPr>
        <p:spPr>
          <a:xfrm>
            <a:off x="502920" y="2121408"/>
            <a:ext cx="5120640" cy="457200"/>
          </a:xfrm>
          <a:prstGeom prst="rect">
            <a:avLst/>
          </a:prstGeom>
          <a:noFill/>
          <a:ln/>
        </p:spPr>
        <p:txBody>
          <a:bodyPr wrap="square" rtlCol="0" anchor="ctr"/>
          <a:lstStyle/>
          <a:p>
            <a:pPr indent="0" marL="0">
              <a:buNone/>
            </a:pPr>
            <a:r>
              <a:rPr lang="en-US" sz="900" i="1" dirty="0">
                <a:solidFill>
                  <a:srgbClr val="5A6A85"/>
                </a:solidFill>
                <a:latin typeface="Calibri" pitchFamily="34" charset="0"/>
                <a:ea typeface="Calibri" pitchFamily="34" charset="-122"/>
                <a:cs typeface="Calibri" pitchFamily="34" charset="-120"/>
              </a:rPr>
              <a:t>30,024 neutral customers. Convert 10% to Promoters: +4 NPS points.</a:t>
            </a:r>
            <a:endParaRPr lang="en-US" sz="900" dirty="0"/>
          </a:p>
        </p:txBody>
      </p:sp>
      <p:sp>
        <p:nvSpPr>
          <p:cNvPr id="12" name="Shape 10"/>
          <p:cNvSpPr/>
          <p:nvPr/>
        </p:nvSpPr>
        <p:spPr>
          <a:xfrm>
            <a:off x="365760" y="2743200"/>
            <a:ext cx="5394960" cy="914400"/>
          </a:xfrm>
          <a:prstGeom prst="rect">
            <a:avLst/>
          </a:prstGeom>
          <a:solidFill>
            <a:srgbClr val="FFFFFF"/>
          </a:solidFill>
          <a:ln w="12700">
            <a:solidFill>
              <a:srgbClr val="D0D8E8"/>
            </a:solidFill>
            <a:prstDash val="solid"/>
          </a:ln>
        </p:spPr>
      </p:sp>
      <p:sp>
        <p:nvSpPr>
          <p:cNvPr id="13" name="Text 11"/>
          <p:cNvSpPr/>
          <p:nvPr/>
        </p:nvSpPr>
        <p:spPr>
          <a:xfrm>
            <a:off x="502920" y="2807208"/>
            <a:ext cx="5120640" cy="274320"/>
          </a:xfrm>
          <a:prstGeom prst="rect">
            <a:avLst/>
          </a:prstGeom>
          <a:noFill/>
          <a:ln/>
        </p:spPr>
        <p:txBody>
          <a:bodyPr wrap="square" rtlCol="0" anchor="ctr"/>
          <a:lstStyle/>
          <a:p>
            <a:pPr indent="0" marL="0">
              <a:buNone/>
            </a:pPr>
            <a:r>
              <a:rPr lang="en-US" sz="1050" b="1" dirty="0">
                <a:solidFill>
                  <a:srgbClr val="0A1628"/>
                </a:solidFill>
                <a:latin typeface="Calibri" pitchFamily="34" charset="0"/>
                <a:ea typeface="Calibri" pitchFamily="34" charset="-122"/>
                <a:cs typeface="Calibri" pitchFamily="34" charset="-120"/>
              </a:rPr>
              <a:t>VIP Loyalty Governance</a:t>
            </a:r>
            <a:endParaRPr lang="en-US" sz="1050" dirty="0"/>
          </a:p>
        </p:txBody>
      </p:sp>
      <p:sp>
        <p:nvSpPr>
          <p:cNvPr id="14" name="Text 12"/>
          <p:cNvSpPr/>
          <p:nvPr/>
        </p:nvSpPr>
        <p:spPr>
          <a:xfrm>
            <a:off x="502920" y="3127248"/>
            <a:ext cx="5120640" cy="457200"/>
          </a:xfrm>
          <a:prstGeom prst="rect">
            <a:avLst/>
          </a:prstGeom>
          <a:noFill/>
          <a:ln/>
        </p:spPr>
        <p:txBody>
          <a:bodyPr wrap="square" rtlCol="0" anchor="ctr"/>
          <a:lstStyle/>
          <a:p>
            <a:pPr indent="0" marL="0">
              <a:buNone/>
            </a:pPr>
            <a:r>
              <a:rPr lang="en-US" sz="900" i="1" dirty="0">
                <a:solidFill>
                  <a:srgbClr val="5A6A85"/>
                </a:solidFill>
                <a:latin typeface="Calibri" pitchFamily="34" charset="0"/>
                <a:ea typeface="Calibri" pitchFamily="34" charset="-122"/>
                <a:cs typeface="Calibri" pitchFamily="34" charset="-120"/>
              </a:rPr>
              <a:t>Monthly NPS movement review. Relationship managers for top 100 Hostile VIP accounts.</a:t>
            </a:r>
            <a:endParaRPr lang="en-US" sz="900" dirty="0"/>
          </a:p>
        </p:txBody>
      </p:sp>
      <p:sp>
        <p:nvSpPr>
          <p:cNvPr id="15" name="Shape 13"/>
          <p:cNvSpPr/>
          <p:nvPr/>
        </p:nvSpPr>
        <p:spPr>
          <a:xfrm>
            <a:off x="365760" y="3749040"/>
            <a:ext cx="5394960" cy="914400"/>
          </a:xfrm>
          <a:prstGeom prst="rect">
            <a:avLst/>
          </a:prstGeom>
          <a:solidFill>
            <a:srgbClr val="F0F4F8"/>
          </a:solidFill>
          <a:ln w="12700">
            <a:solidFill>
              <a:srgbClr val="D0D8E8"/>
            </a:solidFill>
            <a:prstDash val="solid"/>
          </a:ln>
        </p:spPr>
      </p:sp>
      <p:sp>
        <p:nvSpPr>
          <p:cNvPr id="16" name="Text 14"/>
          <p:cNvSpPr/>
          <p:nvPr/>
        </p:nvSpPr>
        <p:spPr>
          <a:xfrm>
            <a:off x="502920" y="3813048"/>
            <a:ext cx="5120640" cy="274320"/>
          </a:xfrm>
          <a:prstGeom prst="rect">
            <a:avLst/>
          </a:prstGeom>
          <a:noFill/>
          <a:ln/>
        </p:spPr>
        <p:txBody>
          <a:bodyPr wrap="square" rtlCol="0" anchor="ctr"/>
          <a:lstStyle/>
          <a:p>
            <a:pPr indent="0" marL="0">
              <a:buNone/>
            </a:pPr>
            <a:r>
              <a:rPr lang="en-US" sz="1050" b="1" dirty="0">
                <a:solidFill>
                  <a:srgbClr val="0A1628"/>
                </a:solidFill>
                <a:latin typeface="Calibri" pitchFamily="34" charset="0"/>
                <a:ea typeface="Calibri" pitchFamily="34" charset="-122"/>
                <a:cs typeface="Calibri" pitchFamily="34" charset="-120"/>
              </a:rPr>
              <a:t>Tier 3 Follow-Up Programme</a:t>
            </a:r>
            <a:endParaRPr lang="en-US" sz="1050" dirty="0"/>
          </a:p>
        </p:txBody>
      </p:sp>
      <p:sp>
        <p:nvSpPr>
          <p:cNvPr id="17" name="Text 15"/>
          <p:cNvSpPr/>
          <p:nvPr/>
        </p:nvSpPr>
        <p:spPr>
          <a:xfrm>
            <a:off x="502920" y="4133088"/>
            <a:ext cx="5120640" cy="457200"/>
          </a:xfrm>
          <a:prstGeom prst="rect">
            <a:avLst/>
          </a:prstGeom>
          <a:noFill/>
          <a:ln/>
        </p:spPr>
        <p:txBody>
          <a:bodyPr wrap="square" rtlCol="0" anchor="ctr"/>
          <a:lstStyle/>
          <a:p>
            <a:pPr indent="0" marL="0">
              <a:buNone/>
            </a:pPr>
            <a:r>
              <a:rPr lang="en-US" sz="900" i="1" dirty="0">
                <a:solidFill>
                  <a:srgbClr val="5A6A85"/>
                </a:solidFill>
                <a:latin typeface="Calibri" pitchFamily="34" charset="0"/>
                <a:ea typeface="Calibri" pitchFamily="34" charset="-122"/>
                <a:cs typeface="Calibri" pitchFamily="34" charset="-120"/>
              </a:rPr>
              <a:t>569 customers — crisis resolved but trust not restored. Follow-up call. Ask for a second chance.</a:t>
            </a:r>
            <a:endParaRPr lang="en-US" sz="900" dirty="0"/>
          </a:p>
        </p:txBody>
      </p:sp>
      <p:sp>
        <p:nvSpPr>
          <p:cNvPr id="18" name="Shape 16"/>
          <p:cNvSpPr/>
          <p:nvPr/>
        </p:nvSpPr>
        <p:spPr>
          <a:xfrm>
            <a:off x="365760" y="4754880"/>
            <a:ext cx="5394960" cy="914400"/>
          </a:xfrm>
          <a:prstGeom prst="rect">
            <a:avLst/>
          </a:prstGeom>
          <a:solidFill>
            <a:srgbClr val="FFFFFF"/>
          </a:solidFill>
          <a:ln w="12700">
            <a:solidFill>
              <a:srgbClr val="D0D8E8"/>
            </a:solidFill>
            <a:prstDash val="solid"/>
          </a:ln>
        </p:spPr>
      </p:sp>
      <p:sp>
        <p:nvSpPr>
          <p:cNvPr id="19" name="Text 17"/>
          <p:cNvSpPr/>
          <p:nvPr/>
        </p:nvSpPr>
        <p:spPr>
          <a:xfrm>
            <a:off x="502920" y="4818888"/>
            <a:ext cx="5120640" cy="274320"/>
          </a:xfrm>
          <a:prstGeom prst="rect">
            <a:avLst/>
          </a:prstGeom>
          <a:noFill/>
          <a:ln/>
        </p:spPr>
        <p:txBody>
          <a:bodyPr wrap="square" rtlCol="0" anchor="ctr"/>
          <a:lstStyle/>
          <a:p>
            <a:pPr indent="0" marL="0">
              <a:buNone/>
            </a:pPr>
            <a:r>
              <a:rPr lang="en-US" sz="1050" b="1" dirty="0">
                <a:solidFill>
                  <a:srgbClr val="0A1628"/>
                </a:solidFill>
                <a:latin typeface="Calibri" pitchFamily="34" charset="0"/>
                <a:ea typeface="Calibri" pitchFamily="34" charset="-122"/>
                <a:cs typeface="Calibri" pitchFamily="34" charset="-120"/>
              </a:rPr>
              <a:t>Crisis Dashboard — Daily</a:t>
            </a:r>
            <a:endParaRPr lang="en-US" sz="1050" dirty="0"/>
          </a:p>
        </p:txBody>
      </p:sp>
      <p:sp>
        <p:nvSpPr>
          <p:cNvPr id="20" name="Text 18"/>
          <p:cNvSpPr/>
          <p:nvPr/>
        </p:nvSpPr>
        <p:spPr>
          <a:xfrm>
            <a:off x="502920" y="5138928"/>
            <a:ext cx="5120640" cy="457200"/>
          </a:xfrm>
          <a:prstGeom prst="rect">
            <a:avLst/>
          </a:prstGeom>
          <a:noFill/>
          <a:ln/>
        </p:spPr>
        <p:txBody>
          <a:bodyPr wrap="square" rtlCol="0" anchor="ctr"/>
          <a:lstStyle/>
          <a:p>
            <a:pPr indent="0" marL="0">
              <a:buNone/>
            </a:pPr>
            <a:r>
              <a:rPr lang="en-US" sz="900" i="1" dirty="0">
                <a:solidFill>
                  <a:srgbClr val="5A6A85"/>
                </a:solidFill>
                <a:latin typeface="Calibri" pitchFamily="34" charset="0"/>
                <a:ea typeface="Calibri" pitchFamily="34" charset="-122"/>
                <a:cs typeface="Calibri" pitchFamily="34" charset="-120"/>
              </a:rPr>
              <a:t>Operations team sees backlog count, resolution rate, revenue attached. Daily not weekly.</a:t>
            </a:r>
            <a:endParaRPr lang="en-US" sz="900" dirty="0"/>
          </a:p>
        </p:txBody>
      </p:sp>
      <p:sp>
        <p:nvSpPr>
          <p:cNvPr id="21" name="Shape 19"/>
          <p:cNvSpPr/>
          <p:nvPr/>
        </p:nvSpPr>
        <p:spPr>
          <a:xfrm>
            <a:off x="6126480" y="1280160"/>
            <a:ext cx="5669280" cy="347472"/>
          </a:xfrm>
          <a:prstGeom prst="rect">
            <a:avLst/>
          </a:prstGeom>
          <a:solidFill>
            <a:srgbClr val="0A1628"/>
          </a:solidFill>
          <a:ln w="12700">
            <a:solidFill>
              <a:srgbClr val="0A1628"/>
            </a:solidFill>
            <a:prstDash val="solid"/>
          </a:ln>
        </p:spPr>
      </p:sp>
      <p:sp>
        <p:nvSpPr>
          <p:cNvPr id="22" name="Text 20"/>
          <p:cNvSpPr/>
          <p:nvPr/>
        </p:nvSpPr>
        <p:spPr>
          <a:xfrm>
            <a:off x="6263640" y="1344168"/>
            <a:ext cx="5394960" cy="256032"/>
          </a:xfrm>
          <a:prstGeom prst="rect">
            <a:avLst/>
          </a:prstGeom>
          <a:noFill/>
          <a:ln/>
        </p:spPr>
        <p:txBody>
          <a:bodyPr wrap="square" rtlCol="0" anchor="ctr"/>
          <a:lstStyle/>
          <a:p>
            <a:pPr indent="0" marL="0">
              <a:buNone/>
            </a:pPr>
            <a:r>
              <a:rPr lang="en-US" sz="900" b="1" spc="200" kern="0" dirty="0">
                <a:solidFill>
                  <a:srgbClr val="FFFFFF"/>
                </a:solidFill>
                <a:latin typeface="Calibri" pitchFamily="34" charset="0"/>
                <a:ea typeface="Calibri" pitchFamily="34" charset="-122"/>
                <a:cs typeface="Calibri" pitchFamily="34" charset="-120"/>
              </a:rPr>
              <a:t>MEDIUM-TERM — 90 TO 180 DAYS</a:t>
            </a:r>
            <a:endParaRPr lang="en-US" sz="900" dirty="0"/>
          </a:p>
        </p:txBody>
      </p:sp>
      <p:sp>
        <p:nvSpPr>
          <p:cNvPr id="23" name="Shape 21"/>
          <p:cNvSpPr/>
          <p:nvPr/>
        </p:nvSpPr>
        <p:spPr>
          <a:xfrm>
            <a:off x="6126480" y="1737360"/>
            <a:ext cx="5669280" cy="914400"/>
          </a:xfrm>
          <a:prstGeom prst="rect">
            <a:avLst/>
          </a:prstGeom>
          <a:solidFill>
            <a:srgbClr val="F0F4F8"/>
          </a:solidFill>
          <a:ln w="12700">
            <a:solidFill>
              <a:srgbClr val="D0D8E8"/>
            </a:solidFill>
            <a:prstDash val="solid"/>
          </a:ln>
        </p:spPr>
      </p:sp>
      <p:sp>
        <p:nvSpPr>
          <p:cNvPr id="24" name="Text 22"/>
          <p:cNvSpPr/>
          <p:nvPr/>
        </p:nvSpPr>
        <p:spPr>
          <a:xfrm>
            <a:off x="6263640" y="1801368"/>
            <a:ext cx="5394960" cy="274320"/>
          </a:xfrm>
          <a:prstGeom prst="rect">
            <a:avLst/>
          </a:prstGeom>
          <a:noFill/>
          <a:ln/>
        </p:spPr>
        <p:txBody>
          <a:bodyPr wrap="square" rtlCol="0" anchor="ctr"/>
          <a:lstStyle/>
          <a:p>
            <a:pPr indent="0" marL="0">
              <a:buNone/>
            </a:pPr>
            <a:r>
              <a:rPr lang="en-US" sz="1050" b="1" dirty="0">
                <a:solidFill>
                  <a:srgbClr val="0A1628"/>
                </a:solidFill>
                <a:latin typeface="Calibri" pitchFamily="34" charset="0"/>
                <a:ea typeface="Calibri" pitchFamily="34" charset="-122"/>
                <a:cs typeface="Calibri" pitchFamily="34" charset="-120"/>
              </a:rPr>
              <a:t>12-Month NPS Target: +20 Points</a:t>
            </a:r>
            <a:endParaRPr lang="en-US" sz="1050" dirty="0"/>
          </a:p>
        </p:txBody>
      </p:sp>
      <p:sp>
        <p:nvSpPr>
          <p:cNvPr id="25" name="Text 23"/>
          <p:cNvSpPr/>
          <p:nvPr/>
        </p:nvSpPr>
        <p:spPr>
          <a:xfrm>
            <a:off x="6263640" y="2121408"/>
            <a:ext cx="5394960" cy="457200"/>
          </a:xfrm>
          <a:prstGeom prst="rect">
            <a:avLst/>
          </a:prstGeom>
          <a:noFill/>
          <a:ln/>
        </p:spPr>
        <p:txBody>
          <a:bodyPr wrap="square" rtlCol="0" anchor="ctr"/>
          <a:lstStyle/>
          <a:p>
            <a:pPr indent="0" marL="0">
              <a:buNone/>
            </a:pPr>
            <a:r>
              <a:rPr lang="en-US" sz="900" i="1" dirty="0">
                <a:solidFill>
                  <a:srgbClr val="5A6A85"/>
                </a:solidFill>
                <a:latin typeface="Calibri" pitchFamily="34" charset="0"/>
                <a:ea typeface="Calibri" pitchFamily="34" charset="-122"/>
                <a:cs typeface="Calibri" pitchFamily="34" charset="-120"/>
              </a:rPr>
              <a:t>From −46.2 toward −26.0. Crisis resolution: +6–8pts. Passive re-engagement: +3–5pts.</a:t>
            </a:r>
            <a:endParaRPr lang="en-US" sz="900" dirty="0"/>
          </a:p>
        </p:txBody>
      </p:sp>
      <p:sp>
        <p:nvSpPr>
          <p:cNvPr id="26" name="Shape 24"/>
          <p:cNvSpPr/>
          <p:nvPr/>
        </p:nvSpPr>
        <p:spPr>
          <a:xfrm>
            <a:off x="6126480" y="2743200"/>
            <a:ext cx="5669280" cy="914400"/>
          </a:xfrm>
          <a:prstGeom prst="rect">
            <a:avLst/>
          </a:prstGeom>
          <a:solidFill>
            <a:srgbClr val="FFFFFF"/>
          </a:solidFill>
          <a:ln w="12700">
            <a:solidFill>
              <a:srgbClr val="D0D8E8"/>
            </a:solidFill>
            <a:prstDash val="solid"/>
          </a:ln>
        </p:spPr>
      </p:sp>
      <p:sp>
        <p:nvSpPr>
          <p:cNvPr id="27" name="Text 25"/>
          <p:cNvSpPr/>
          <p:nvPr/>
        </p:nvSpPr>
        <p:spPr>
          <a:xfrm>
            <a:off x="6263640" y="2807208"/>
            <a:ext cx="5394960" cy="274320"/>
          </a:xfrm>
          <a:prstGeom prst="rect">
            <a:avLst/>
          </a:prstGeom>
          <a:noFill/>
          <a:ln/>
        </p:spPr>
        <p:txBody>
          <a:bodyPr wrap="square" rtlCol="0" anchor="ctr"/>
          <a:lstStyle/>
          <a:p>
            <a:pPr indent="0" marL="0">
              <a:buNone/>
            </a:pPr>
            <a:r>
              <a:rPr lang="en-US" sz="1050" b="1" dirty="0">
                <a:solidFill>
                  <a:srgbClr val="0A1628"/>
                </a:solidFill>
                <a:latin typeface="Calibri" pitchFamily="34" charset="0"/>
                <a:ea typeface="Calibri" pitchFamily="34" charset="-122"/>
                <a:cs typeface="Calibri" pitchFamily="34" charset="-120"/>
              </a:rPr>
              <a:t>Crisis Resolution Target: 80%</a:t>
            </a:r>
            <a:endParaRPr lang="en-US" sz="1050" dirty="0"/>
          </a:p>
        </p:txBody>
      </p:sp>
      <p:sp>
        <p:nvSpPr>
          <p:cNvPr id="28" name="Text 26"/>
          <p:cNvSpPr/>
          <p:nvPr/>
        </p:nvSpPr>
        <p:spPr>
          <a:xfrm>
            <a:off x="6263640" y="3127248"/>
            <a:ext cx="5394960" cy="457200"/>
          </a:xfrm>
          <a:prstGeom prst="rect">
            <a:avLst/>
          </a:prstGeom>
          <a:noFill/>
          <a:ln/>
        </p:spPr>
        <p:txBody>
          <a:bodyPr wrap="square" rtlCol="0" anchor="ctr"/>
          <a:lstStyle/>
          <a:p>
            <a:pPr indent="0" marL="0">
              <a:buNone/>
            </a:pPr>
            <a:r>
              <a:rPr lang="en-US" sz="900" i="1" dirty="0">
                <a:solidFill>
                  <a:srgbClr val="5A6A85"/>
                </a:solidFill>
                <a:latin typeface="Calibri" pitchFamily="34" charset="0"/>
                <a:ea typeface="Calibri" pitchFamily="34" charset="-122"/>
                <a:cs typeface="Calibri" pitchFamily="34" charset="-120"/>
              </a:rPr>
              <a:t>From 47.59%. Every 10pt improvement = 3–4 NPS points. Review at 30-day intervals.</a:t>
            </a:r>
            <a:endParaRPr lang="en-US" sz="900" dirty="0"/>
          </a:p>
        </p:txBody>
      </p:sp>
      <p:sp>
        <p:nvSpPr>
          <p:cNvPr id="29" name="Shape 27"/>
          <p:cNvSpPr/>
          <p:nvPr/>
        </p:nvSpPr>
        <p:spPr>
          <a:xfrm>
            <a:off x="6126480" y="3749040"/>
            <a:ext cx="5669280" cy="914400"/>
          </a:xfrm>
          <a:prstGeom prst="rect">
            <a:avLst/>
          </a:prstGeom>
          <a:solidFill>
            <a:srgbClr val="F0F4F8"/>
          </a:solidFill>
          <a:ln w="12700">
            <a:solidFill>
              <a:srgbClr val="D0D8E8"/>
            </a:solidFill>
            <a:prstDash val="solid"/>
          </a:ln>
        </p:spPr>
      </p:sp>
      <p:sp>
        <p:nvSpPr>
          <p:cNvPr id="30" name="Text 28"/>
          <p:cNvSpPr/>
          <p:nvPr/>
        </p:nvSpPr>
        <p:spPr>
          <a:xfrm>
            <a:off x="6263640" y="3813048"/>
            <a:ext cx="5394960" cy="274320"/>
          </a:xfrm>
          <a:prstGeom prst="rect">
            <a:avLst/>
          </a:prstGeom>
          <a:noFill/>
          <a:ln/>
        </p:spPr>
        <p:txBody>
          <a:bodyPr wrap="square" rtlCol="0" anchor="ctr"/>
          <a:lstStyle/>
          <a:p>
            <a:pPr indent="0" marL="0">
              <a:buNone/>
            </a:pPr>
            <a:r>
              <a:rPr lang="en-US" sz="1050" b="1" dirty="0">
                <a:solidFill>
                  <a:srgbClr val="0A1628"/>
                </a:solidFill>
                <a:latin typeface="Calibri" pitchFamily="34" charset="0"/>
                <a:ea typeface="Calibri" pitchFamily="34" charset="-122"/>
                <a:cs typeface="Calibri" pitchFamily="34" charset="-120"/>
              </a:rPr>
              <a:t>Predictive Churn Model</a:t>
            </a:r>
            <a:endParaRPr lang="en-US" sz="1050" dirty="0"/>
          </a:p>
        </p:txBody>
      </p:sp>
      <p:sp>
        <p:nvSpPr>
          <p:cNvPr id="31" name="Text 29"/>
          <p:cNvSpPr/>
          <p:nvPr/>
        </p:nvSpPr>
        <p:spPr>
          <a:xfrm>
            <a:off x="6263640" y="4133088"/>
            <a:ext cx="5394960" cy="457200"/>
          </a:xfrm>
          <a:prstGeom prst="rect">
            <a:avLst/>
          </a:prstGeom>
          <a:noFill/>
          <a:ln/>
        </p:spPr>
        <p:txBody>
          <a:bodyPr wrap="square" rtlCol="0" anchor="ctr"/>
          <a:lstStyle/>
          <a:p>
            <a:pPr indent="0" marL="0">
              <a:buNone/>
            </a:pPr>
            <a:r>
              <a:rPr lang="en-US" sz="900" i="1" dirty="0">
                <a:solidFill>
                  <a:srgbClr val="5A6A85"/>
                </a:solidFill>
                <a:latin typeface="Calibri" pitchFamily="34" charset="0"/>
                <a:ea typeface="Calibri" pitchFamily="34" charset="-122"/>
                <a:cs typeface="Calibri" pitchFamily="34" charset="-120"/>
              </a:rPr>
              <a:t>Identify at-risk customers at score 6. Intervene before they reach score 2.</a:t>
            </a:r>
            <a:endParaRPr lang="en-US" sz="900" dirty="0"/>
          </a:p>
        </p:txBody>
      </p:sp>
      <p:sp>
        <p:nvSpPr>
          <p:cNvPr id="32" name="Shape 30"/>
          <p:cNvSpPr/>
          <p:nvPr/>
        </p:nvSpPr>
        <p:spPr>
          <a:xfrm>
            <a:off x="6126480" y="4754880"/>
            <a:ext cx="5669280" cy="914400"/>
          </a:xfrm>
          <a:prstGeom prst="rect">
            <a:avLst/>
          </a:prstGeom>
          <a:solidFill>
            <a:srgbClr val="FFFFFF"/>
          </a:solidFill>
          <a:ln w="12700">
            <a:solidFill>
              <a:srgbClr val="D0D8E8"/>
            </a:solidFill>
            <a:prstDash val="solid"/>
          </a:ln>
        </p:spPr>
      </p:sp>
      <p:sp>
        <p:nvSpPr>
          <p:cNvPr id="33" name="Text 31"/>
          <p:cNvSpPr/>
          <p:nvPr/>
        </p:nvSpPr>
        <p:spPr>
          <a:xfrm>
            <a:off x="6263640" y="4818888"/>
            <a:ext cx="5394960" cy="274320"/>
          </a:xfrm>
          <a:prstGeom prst="rect">
            <a:avLst/>
          </a:prstGeom>
          <a:noFill/>
          <a:ln/>
        </p:spPr>
        <p:txBody>
          <a:bodyPr wrap="square" rtlCol="0" anchor="ctr"/>
          <a:lstStyle/>
          <a:p>
            <a:pPr indent="0" marL="0">
              <a:buNone/>
            </a:pPr>
            <a:r>
              <a:rPr lang="en-US" sz="1050" b="1" dirty="0">
                <a:solidFill>
                  <a:srgbClr val="0A1628"/>
                </a:solidFill>
                <a:latin typeface="Calibri" pitchFamily="34" charset="0"/>
                <a:ea typeface="Calibri" pitchFamily="34" charset="-122"/>
                <a:cs typeface="Calibri" pitchFamily="34" charset="-120"/>
              </a:rPr>
              <a:t>Quarterly Brand Health Review</a:t>
            </a:r>
            <a:endParaRPr lang="en-US" sz="1050" dirty="0"/>
          </a:p>
        </p:txBody>
      </p:sp>
      <p:sp>
        <p:nvSpPr>
          <p:cNvPr id="34" name="Text 32"/>
          <p:cNvSpPr/>
          <p:nvPr/>
        </p:nvSpPr>
        <p:spPr>
          <a:xfrm>
            <a:off x="6263640" y="5138928"/>
            <a:ext cx="5394960" cy="457200"/>
          </a:xfrm>
          <a:prstGeom prst="rect">
            <a:avLst/>
          </a:prstGeom>
          <a:noFill/>
          <a:ln/>
        </p:spPr>
        <p:txBody>
          <a:bodyPr wrap="square" rtlCol="0" anchor="ctr"/>
          <a:lstStyle/>
          <a:p>
            <a:pPr indent="0" marL="0">
              <a:buNone/>
            </a:pPr>
            <a:r>
              <a:rPr lang="en-US" sz="900" i="1" dirty="0">
                <a:solidFill>
                  <a:srgbClr val="5A6A85"/>
                </a:solidFill>
                <a:latin typeface="Calibri" pitchFamily="34" charset="0"/>
                <a:ea typeface="Calibri" pitchFamily="34" charset="-122"/>
                <a:cs typeface="Calibri" pitchFamily="34" charset="-120"/>
              </a:rPr>
              <a:t>NPS, Detractor Rate, Crisis Resolution Rate, Revenue at Risk — board standing agenda.</a:t>
            </a:r>
            <a:endParaRPr lang="en-US" sz="900" dirty="0"/>
          </a:p>
        </p:txBody>
      </p:sp>
      <p:sp>
        <p:nvSpPr>
          <p:cNvPr id="35" name="Shape 33"/>
          <p:cNvSpPr/>
          <p:nvPr/>
        </p:nvSpPr>
        <p:spPr>
          <a:xfrm>
            <a:off x="365760" y="5596128"/>
            <a:ext cx="11430000" cy="777240"/>
          </a:xfrm>
          <a:prstGeom prst="rect">
            <a:avLst/>
          </a:prstGeom>
          <a:solidFill>
            <a:srgbClr val="F0FDF4"/>
          </a:solidFill>
          <a:ln w="12700">
            <a:solidFill>
              <a:srgbClr val="D0D8E8"/>
            </a:solidFill>
            <a:prstDash val="solid"/>
          </a:ln>
        </p:spPr>
      </p:sp>
      <p:sp>
        <p:nvSpPr>
          <p:cNvPr id="36" name="Shape 34"/>
          <p:cNvSpPr/>
          <p:nvPr/>
        </p:nvSpPr>
        <p:spPr>
          <a:xfrm>
            <a:off x="365760" y="5596128"/>
            <a:ext cx="54864" cy="777240"/>
          </a:xfrm>
          <a:prstGeom prst="rect">
            <a:avLst/>
          </a:prstGeom>
          <a:solidFill>
            <a:srgbClr val="1A6B3A"/>
          </a:solidFill>
          <a:ln w="12700">
            <a:solidFill>
              <a:srgbClr val="1A6B3A"/>
            </a:solidFill>
            <a:prstDash val="solid"/>
          </a:ln>
        </p:spPr>
      </p:sp>
      <p:sp>
        <p:nvSpPr>
          <p:cNvPr id="37" name="Text 35"/>
          <p:cNvSpPr/>
          <p:nvPr/>
        </p:nvSpPr>
        <p:spPr>
          <a:xfrm>
            <a:off x="502920" y="5660136"/>
            <a:ext cx="11201400" cy="649224"/>
          </a:xfrm>
          <a:prstGeom prst="rect">
            <a:avLst/>
          </a:prstGeom>
          <a:noFill/>
          <a:ln/>
        </p:spPr>
        <p:txBody>
          <a:bodyPr wrap="square" rtlCol="0" anchor="ctr"/>
          <a:lstStyle/>
          <a:p>
            <a:pPr indent="0" marL="0">
              <a:buNone/>
            </a:pPr>
            <a:r>
              <a:rPr lang="en-US" sz="1000" i="1" dirty="0">
                <a:solidFill>
                  <a:srgbClr val="2A2820"/>
                </a:solidFill>
                <a:latin typeface="Calibri" pitchFamily="34" charset="0"/>
                <a:ea typeface="Calibri" pitchFamily="34" charset="-122"/>
                <a:cs typeface="Calibri" pitchFamily="34" charset="-120"/>
              </a:rPr>
              <a:t>Finish what you start. Pick up the phone. Stay on it until the problem is solved. That one behaviour change — applied consistently — is worth more than any customer experience initiative AfriTech could commission.</a:t>
            </a:r>
            <a:endParaRPr lang="en-US" sz="1000" dirty="0"/>
          </a:p>
        </p:txBody>
      </p:sp>
      <p:sp>
        <p:nvSpPr>
          <p:cNvPr id="38" name="Shape 36"/>
          <p:cNvSpPr/>
          <p:nvPr/>
        </p:nvSpPr>
        <p:spPr>
          <a:xfrm>
            <a:off x="0" y="6537960"/>
            <a:ext cx="12161520" cy="320040"/>
          </a:xfrm>
          <a:prstGeom prst="rect">
            <a:avLst/>
          </a:prstGeom>
          <a:solidFill>
            <a:srgbClr val="0A1628"/>
          </a:solidFill>
          <a:ln w="12700">
            <a:solidFill>
              <a:srgbClr val="0A1628"/>
            </a:solidFill>
            <a:prstDash val="solid"/>
          </a:ln>
        </p:spPr>
      </p:sp>
      <p:sp>
        <p:nvSpPr>
          <p:cNvPr id="39" name="Text 37"/>
          <p:cNvSpPr/>
          <p:nvPr/>
        </p:nvSpPr>
        <p:spPr>
          <a:xfrm>
            <a:off x="365760" y="6565392"/>
            <a:ext cx="9144000" cy="256032"/>
          </a:xfrm>
          <a:prstGeom prst="rect">
            <a:avLst/>
          </a:prstGeom>
          <a:noFill/>
          <a:ln/>
        </p:spPr>
        <p:txBody>
          <a:bodyPr wrap="square" rtlCol="0" anchor="ctr"/>
          <a:lstStyle/>
          <a:p>
            <a:pPr indent="0" marL="0">
              <a:buNone/>
            </a:pPr>
            <a:r>
              <a:rPr lang="en-US" sz="750" dirty="0">
                <a:solidFill>
                  <a:srgbClr val="8899BB"/>
                </a:solidFill>
                <a:latin typeface="Calibri" pitchFamily="34" charset="0"/>
                <a:ea typeface="Calibri" pitchFamily="34" charset="-122"/>
                <a:cs typeface="Calibri" pitchFamily="34" charset="-120"/>
              </a:rPr>
              <a:t>Samuel Ahinakwa  |  Finance &amp; Analytics Professional  |  BSc · MSc · ICAG Finalist  |  Confidential</a:t>
            </a:r>
            <a:endParaRPr lang="en-US" sz="750" dirty="0"/>
          </a:p>
        </p:txBody>
      </p:sp>
      <p:sp>
        <p:nvSpPr>
          <p:cNvPr id="40" name="Text 38"/>
          <p:cNvSpPr/>
          <p:nvPr/>
        </p:nvSpPr>
        <p:spPr>
          <a:xfrm>
            <a:off x="11338560" y="6565392"/>
            <a:ext cx="731520" cy="256032"/>
          </a:xfrm>
          <a:prstGeom prst="rect">
            <a:avLst/>
          </a:prstGeom>
          <a:noFill/>
          <a:ln/>
        </p:spPr>
        <p:txBody>
          <a:bodyPr wrap="square" rtlCol="0" anchor="ctr"/>
          <a:lstStyle/>
          <a:p>
            <a:pPr algn="r" indent="0" marL="0">
              <a:buNone/>
            </a:pPr>
            <a:r>
              <a:rPr lang="en-US" sz="800" dirty="0">
                <a:solidFill>
                  <a:srgbClr val="C8A84B"/>
                </a:solidFill>
                <a:latin typeface="Calibri" pitchFamily="34" charset="0"/>
                <a:ea typeface="Calibri" pitchFamily="34" charset="-122"/>
                <a:cs typeface="Calibri" pitchFamily="34" charset="-120"/>
              </a:rPr>
              <a:t>17 / 20</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1051560"/>
          </a:xfrm>
          <a:prstGeom prst="rect">
            <a:avLst/>
          </a:prstGeom>
          <a:solidFill>
            <a:srgbClr val="0A1628"/>
          </a:solidFill>
          <a:ln w="12700">
            <a:solidFill>
              <a:srgbClr val="0A1628"/>
            </a:solidFill>
            <a:prstDash val="solid"/>
          </a:ln>
        </p:spPr>
      </p:sp>
      <p:sp>
        <p:nvSpPr>
          <p:cNvPr id="3" name="Shape 1"/>
          <p:cNvSpPr/>
          <p:nvPr/>
        </p:nvSpPr>
        <p:spPr>
          <a:xfrm>
            <a:off x="0" y="1051560"/>
            <a:ext cx="12161520" cy="36576"/>
          </a:xfrm>
          <a:prstGeom prst="rect">
            <a:avLst/>
          </a:prstGeom>
          <a:solidFill>
            <a:srgbClr val="C8A84B"/>
          </a:solidFill>
          <a:ln w="12700">
            <a:solidFill>
              <a:srgbClr val="C8A84B"/>
            </a:solidFill>
            <a:prstDash val="solid"/>
          </a:ln>
        </p:spPr>
      </p:sp>
      <p:sp>
        <p:nvSpPr>
          <p:cNvPr id="4" name="Text 2"/>
          <p:cNvSpPr/>
          <p:nvPr/>
        </p:nvSpPr>
        <p:spPr>
          <a:xfrm>
            <a:off x="365760" y="64008"/>
            <a:ext cx="4572000" cy="228600"/>
          </a:xfrm>
          <a:prstGeom prst="rect">
            <a:avLst/>
          </a:prstGeom>
          <a:noFill/>
          <a:ln/>
        </p:spPr>
        <p:txBody>
          <a:bodyPr wrap="square" rtlCol="0" anchor="ctr"/>
          <a:lstStyle/>
          <a:p>
            <a:pPr indent="0" marL="0">
              <a:buNone/>
            </a:pPr>
            <a:r>
              <a:rPr lang="en-US" sz="800" b="1" spc="200" kern="0" dirty="0">
                <a:solidFill>
                  <a:srgbClr val="C8A84B"/>
                </a:solidFill>
                <a:latin typeface="Calibri" pitchFamily="34" charset="0"/>
                <a:ea typeface="Calibri" pitchFamily="34" charset="-122"/>
                <a:cs typeface="Calibri" pitchFamily="34" charset="-120"/>
              </a:rPr>
              <a:t>04 — ACTION PLAN</a:t>
            </a:r>
            <a:endParaRPr lang="en-US" sz="800" dirty="0"/>
          </a:p>
        </p:txBody>
      </p:sp>
      <p:sp>
        <p:nvSpPr>
          <p:cNvPr id="5" name="Text 3"/>
          <p:cNvSpPr/>
          <p:nvPr/>
        </p:nvSpPr>
        <p:spPr>
          <a:xfrm>
            <a:off x="365760" y="256032"/>
            <a:ext cx="9601200" cy="566928"/>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How We Know It Is Working</a:t>
            </a:r>
            <a:endParaRPr lang="en-US" sz="2600" dirty="0"/>
          </a:p>
        </p:txBody>
      </p:sp>
      <p:sp>
        <p:nvSpPr>
          <p:cNvPr id="6" name="Text 4"/>
          <p:cNvSpPr/>
          <p:nvPr/>
        </p:nvSpPr>
        <p:spPr>
          <a:xfrm>
            <a:off x="365760" y="795528"/>
            <a:ext cx="10058400" cy="228600"/>
          </a:xfrm>
          <a:prstGeom prst="rect">
            <a:avLst/>
          </a:prstGeom>
          <a:noFill/>
          <a:ln/>
        </p:spPr>
        <p:txBody>
          <a:bodyPr wrap="square" rtlCol="0" anchor="ctr"/>
          <a:lstStyle/>
          <a:p>
            <a:pPr indent="0" marL="0">
              <a:buNone/>
            </a:pPr>
            <a:r>
              <a:rPr lang="en-US" sz="1050" i="1" dirty="0">
                <a:solidFill>
                  <a:srgbClr val="8899BB"/>
                </a:solidFill>
                <a:latin typeface="Calibri" pitchFamily="34" charset="0"/>
                <a:ea typeface="Calibri" pitchFamily="34" charset="-122"/>
                <a:cs typeface="Calibri" pitchFamily="34" charset="-120"/>
              </a:rPr>
              <a:t>Three layers · Leading moves first · Lagging confirms success</a:t>
            </a:r>
            <a:endParaRPr lang="en-US" sz="1050" dirty="0"/>
          </a:p>
        </p:txBody>
      </p:sp>
      <p:sp>
        <p:nvSpPr>
          <p:cNvPr id="7" name="Shape 5"/>
          <p:cNvSpPr/>
          <p:nvPr/>
        </p:nvSpPr>
        <p:spPr>
          <a:xfrm>
            <a:off x="365760" y="1280160"/>
            <a:ext cx="11430000" cy="1481328"/>
          </a:xfrm>
          <a:prstGeom prst="rect">
            <a:avLst/>
          </a:prstGeom>
          <a:solidFill>
            <a:srgbClr val="FFFBEB"/>
          </a:solidFill>
          <a:ln w="12700">
            <a:solidFill>
              <a:srgbClr val="C8A84B"/>
            </a:solidFill>
            <a:prstDash val="solid"/>
          </a:ln>
        </p:spPr>
      </p:sp>
      <p:sp>
        <p:nvSpPr>
          <p:cNvPr id="8" name="Text 6"/>
          <p:cNvSpPr/>
          <p:nvPr/>
        </p:nvSpPr>
        <p:spPr>
          <a:xfrm>
            <a:off x="502920" y="1371600"/>
            <a:ext cx="1371600" cy="256032"/>
          </a:xfrm>
          <a:prstGeom prst="rect">
            <a:avLst/>
          </a:prstGeom>
          <a:noFill/>
          <a:ln/>
        </p:spPr>
        <p:txBody>
          <a:bodyPr wrap="square" rtlCol="0" anchor="ctr"/>
          <a:lstStyle/>
          <a:p>
            <a:pPr indent="0" marL="0">
              <a:buNone/>
            </a:pPr>
            <a:r>
              <a:rPr lang="en-US" sz="900" b="1" spc="200" kern="0" dirty="0">
                <a:solidFill>
                  <a:srgbClr val="C8A84B"/>
                </a:solidFill>
                <a:latin typeface="Calibri" pitchFamily="34" charset="0"/>
                <a:ea typeface="Calibri" pitchFamily="34" charset="-122"/>
                <a:cs typeface="Calibri" pitchFamily="34" charset="-120"/>
              </a:rPr>
              <a:t>LEADING</a:t>
            </a:r>
            <a:endParaRPr lang="en-US" sz="900" dirty="0"/>
          </a:p>
        </p:txBody>
      </p:sp>
      <p:sp>
        <p:nvSpPr>
          <p:cNvPr id="9" name="Text 7"/>
          <p:cNvSpPr/>
          <p:nvPr/>
        </p:nvSpPr>
        <p:spPr>
          <a:xfrm>
            <a:off x="502920" y="1719072"/>
            <a:ext cx="3657600" cy="256032"/>
          </a:xfrm>
          <a:prstGeom prst="rect">
            <a:avLst/>
          </a:prstGeom>
          <a:noFill/>
          <a:ln/>
        </p:spPr>
        <p:txBody>
          <a:bodyPr wrap="square" rtlCol="0" anchor="ctr"/>
          <a:lstStyle/>
          <a:p>
            <a:pPr indent="0" marL="0">
              <a:buNone/>
            </a:pPr>
            <a:r>
              <a:rPr lang="en-US" sz="950" b="1" dirty="0">
                <a:solidFill>
                  <a:srgbClr val="0A1628"/>
                </a:solidFill>
                <a:latin typeface="Calibri" pitchFamily="34" charset="0"/>
                <a:ea typeface="Calibri" pitchFamily="34" charset="-122"/>
                <a:cs typeface="Calibri" pitchFamily="34" charset="-120"/>
              </a:rPr>
              <a:t>Crisis resolution rate</a:t>
            </a:r>
            <a:endParaRPr lang="en-US" sz="950" dirty="0"/>
          </a:p>
        </p:txBody>
      </p:sp>
      <p:sp>
        <p:nvSpPr>
          <p:cNvPr id="10" name="Text 8"/>
          <p:cNvSpPr/>
          <p:nvPr/>
        </p:nvSpPr>
        <p:spPr>
          <a:xfrm>
            <a:off x="502920" y="2011680"/>
            <a:ext cx="3657600" cy="228600"/>
          </a:xfrm>
          <a:prstGeom prst="rect">
            <a:avLst/>
          </a:prstGeom>
          <a:noFill/>
          <a:ln/>
        </p:spPr>
        <p:txBody>
          <a:bodyPr wrap="square" rtlCol="0" anchor="ctr"/>
          <a:lstStyle/>
          <a:p>
            <a:pPr indent="0" marL="0">
              <a:buNone/>
            </a:pPr>
            <a:r>
              <a:rPr lang="en-US" sz="850" dirty="0">
                <a:solidFill>
                  <a:srgbClr val="C0392B"/>
                </a:solidFill>
                <a:latin typeface="Calibri" pitchFamily="34" charset="0"/>
                <a:ea typeface="Calibri" pitchFamily="34" charset="-122"/>
                <a:cs typeface="Calibri" pitchFamily="34" charset="-120"/>
              </a:rPr>
              <a:t>Baseline: 47.59%</a:t>
            </a:r>
            <a:endParaRPr lang="en-US" sz="850" dirty="0"/>
          </a:p>
        </p:txBody>
      </p:sp>
      <p:sp>
        <p:nvSpPr>
          <p:cNvPr id="11" name="Text 9"/>
          <p:cNvSpPr/>
          <p:nvPr/>
        </p:nvSpPr>
        <p:spPr>
          <a:xfrm>
            <a:off x="502920" y="2267712"/>
            <a:ext cx="3657600" cy="228600"/>
          </a:xfrm>
          <a:prstGeom prst="rect">
            <a:avLst/>
          </a:prstGeom>
          <a:noFill/>
          <a:ln/>
        </p:spPr>
        <p:txBody>
          <a:bodyPr wrap="square" rtlCol="0" anchor="ctr"/>
          <a:lstStyle/>
          <a:p>
            <a:pPr indent="0" marL="0">
              <a:buNone/>
            </a:pPr>
            <a:r>
              <a:rPr lang="en-US" sz="850" b="1" dirty="0">
                <a:solidFill>
                  <a:srgbClr val="1A6B3A"/>
                </a:solidFill>
                <a:latin typeface="Calibri" pitchFamily="34" charset="0"/>
                <a:ea typeface="Calibri" pitchFamily="34" charset="-122"/>
                <a:cs typeface="Calibri" pitchFamily="34" charset="-120"/>
              </a:rPr>
              <a:t>Target: 60%+ in 30 days</a:t>
            </a:r>
            <a:endParaRPr lang="en-US" sz="850" dirty="0"/>
          </a:p>
        </p:txBody>
      </p:sp>
      <p:sp>
        <p:nvSpPr>
          <p:cNvPr id="12" name="Text 10"/>
          <p:cNvSpPr/>
          <p:nvPr/>
        </p:nvSpPr>
        <p:spPr>
          <a:xfrm>
            <a:off x="4343400" y="1719072"/>
            <a:ext cx="3657600" cy="256032"/>
          </a:xfrm>
          <a:prstGeom prst="rect">
            <a:avLst/>
          </a:prstGeom>
          <a:noFill/>
          <a:ln/>
        </p:spPr>
        <p:txBody>
          <a:bodyPr wrap="square" rtlCol="0" anchor="ctr"/>
          <a:lstStyle/>
          <a:p>
            <a:pPr indent="0" marL="0">
              <a:buNone/>
            </a:pPr>
            <a:r>
              <a:rPr lang="en-US" sz="950" b="1" dirty="0">
                <a:solidFill>
                  <a:srgbClr val="0A1628"/>
                </a:solidFill>
                <a:latin typeface="Calibri" pitchFamily="34" charset="0"/>
                <a:ea typeface="Calibri" pitchFamily="34" charset="-122"/>
                <a:cs typeface="Calibri" pitchFamily="34" charset="-120"/>
              </a:rPr>
              <a:t>Competitor in brand conversations</a:t>
            </a:r>
            <a:endParaRPr lang="en-US" sz="950" dirty="0"/>
          </a:p>
        </p:txBody>
      </p:sp>
      <p:sp>
        <p:nvSpPr>
          <p:cNvPr id="13" name="Text 11"/>
          <p:cNvSpPr/>
          <p:nvPr/>
        </p:nvSpPr>
        <p:spPr>
          <a:xfrm>
            <a:off x="4343400" y="2011680"/>
            <a:ext cx="3657600" cy="228600"/>
          </a:xfrm>
          <a:prstGeom prst="rect">
            <a:avLst/>
          </a:prstGeom>
          <a:noFill/>
          <a:ln/>
        </p:spPr>
        <p:txBody>
          <a:bodyPr wrap="square" rtlCol="0" anchor="ctr"/>
          <a:lstStyle/>
          <a:p>
            <a:pPr indent="0" marL="0">
              <a:buNone/>
            </a:pPr>
            <a:r>
              <a:rPr lang="en-US" sz="850" dirty="0">
                <a:solidFill>
                  <a:srgbClr val="C0392B"/>
                </a:solidFill>
                <a:latin typeface="Calibri" pitchFamily="34" charset="0"/>
                <a:ea typeface="Calibri" pitchFamily="34" charset="-122"/>
                <a:cs typeface="Calibri" pitchFamily="34" charset="-120"/>
              </a:rPr>
              <a:t>Baseline: 50.1%</a:t>
            </a:r>
            <a:endParaRPr lang="en-US" sz="850" dirty="0"/>
          </a:p>
        </p:txBody>
      </p:sp>
      <p:sp>
        <p:nvSpPr>
          <p:cNvPr id="14" name="Text 12"/>
          <p:cNvSpPr/>
          <p:nvPr/>
        </p:nvSpPr>
        <p:spPr>
          <a:xfrm>
            <a:off x="4343400" y="2267712"/>
            <a:ext cx="3657600" cy="228600"/>
          </a:xfrm>
          <a:prstGeom prst="rect">
            <a:avLst/>
          </a:prstGeom>
          <a:noFill/>
          <a:ln/>
        </p:spPr>
        <p:txBody>
          <a:bodyPr wrap="square" rtlCol="0" anchor="ctr"/>
          <a:lstStyle/>
          <a:p>
            <a:pPr indent="0" marL="0">
              <a:buNone/>
            </a:pPr>
            <a:r>
              <a:rPr lang="en-US" sz="850" b="1" dirty="0">
                <a:solidFill>
                  <a:srgbClr val="1A6B3A"/>
                </a:solidFill>
                <a:latin typeface="Calibri" pitchFamily="34" charset="0"/>
                <a:ea typeface="Calibri" pitchFamily="34" charset="-122"/>
                <a:cs typeface="Calibri" pitchFamily="34" charset="-120"/>
              </a:rPr>
              <a:t>Target: Below 40% in 90 days</a:t>
            </a:r>
            <a:endParaRPr lang="en-US" sz="850" dirty="0"/>
          </a:p>
        </p:txBody>
      </p:sp>
      <p:sp>
        <p:nvSpPr>
          <p:cNvPr id="15" name="Text 13"/>
          <p:cNvSpPr/>
          <p:nvPr/>
        </p:nvSpPr>
        <p:spPr>
          <a:xfrm>
            <a:off x="8183880" y="1719072"/>
            <a:ext cx="3657600" cy="256032"/>
          </a:xfrm>
          <a:prstGeom prst="rect">
            <a:avLst/>
          </a:prstGeom>
          <a:noFill/>
          <a:ln/>
        </p:spPr>
        <p:txBody>
          <a:bodyPr wrap="square" rtlCol="0" anchor="ctr"/>
          <a:lstStyle/>
          <a:p>
            <a:pPr indent="0" marL="0">
              <a:buNone/>
            </a:pPr>
            <a:r>
              <a:rPr lang="en-US" sz="950" b="1" dirty="0">
                <a:solidFill>
                  <a:srgbClr val="0A1628"/>
                </a:solidFill>
                <a:latin typeface="Calibri" pitchFamily="34" charset="0"/>
                <a:ea typeface="Calibri" pitchFamily="34" charset="-122"/>
                <a:cs typeface="Calibri" pitchFamily="34" charset="-120"/>
              </a:rPr>
              <a:t>Avg crisis response days</a:t>
            </a:r>
            <a:endParaRPr lang="en-US" sz="950" dirty="0"/>
          </a:p>
        </p:txBody>
      </p:sp>
      <p:sp>
        <p:nvSpPr>
          <p:cNvPr id="16" name="Text 14"/>
          <p:cNvSpPr/>
          <p:nvPr/>
        </p:nvSpPr>
        <p:spPr>
          <a:xfrm>
            <a:off x="8183880" y="2011680"/>
            <a:ext cx="3657600" cy="228600"/>
          </a:xfrm>
          <a:prstGeom prst="rect">
            <a:avLst/>
          </a:prstGeom>
          <a:noFill/>
          <a:ln/>
        </p:spPr>
        <p:txBody>
          <a:bodyPr wrap="square" rtlCol="0" anchor="ctr"/>
          <a:lstStyle/>
          <a:p>
            <a:pPr indent="0" marL="0">
              <a:buNone/>
            </a:pPr>
            <a:r>
              <a:rPr lang="en-US" sz="850" dirty="0">
                <a:solidFill>
                  <a:srgbClr val="C0392B"/>
                </a:solidFill>
                <a:latin typeface="Calibri" pitchFamily="34" charset="0"/>
                <a:ea typeface="Calibri" pitchFamily="34" charset="-122"/>
                <a:cs typeface="Calibri" pitchFamily="34" charset="-120"/>
              </a:rPr>
              <a:t>Baseline: 190 days</a:t>
            </a:r>
            <a:endParaRPr lang="en-US" sz="850" dirty="0"/>
          </a:p>
        </p:txBody>
      </p:sp>
      <p:sp>
        <p:nvSpPr>
          <p:cNvPr id="17" name="Text 15"/>
          <p:cNvSpPr/>
          <p:nvPr/>
        </p:nvSpPr>
        <p:spPr>
          <a:xfrm>
            <a:off x="8183880" y="2267712"/>
            <a:ext cx="3657600" cy="228600"/>
          </a:xfrm>
          <a:prstGeom prst="rect">
            <a:avLst/>
          </a:prstGeom>
          <a:noFill/>
          <a:ln/>
        </p:spPr>
        <p:txBody>
          <a:bodyPr wrap="square" rtlCol="0" anchor="ctr"/>
          <a:lstStyle/>
          <a:p>
            <a:pPr indent="0" marL="0">
              <a:buNone/>
            </a:pPr>
            <a:r>
              <a:rPr lang="en-US" sz="850" b="1" dirty="0">
                <a:solidFill>
                  <a:srgbClr val="1A6B3A"/>
                </a:solidFill>
                <a:latin typeface="Calibri" pitchFamily="34" charset="0"/>
                <a:ea typeface="Calibri" pitchFamily="34" charset="-122"/>
                <a:cs typeface="Calibri" pitchFamily="34" charset="-120"/>
              </a:rPr>
              <a:t>Target: Below 30 days in 60 days</a:t>
            </a:r>
            <a:endParaRPr lang="en-US" sz="850" dirty="0"/>
          </a:p>
        </p:txBody>
      </p:sp>
      <p:sp>
        <p:nvSpPr>
          <p:cNvPr id="18" name="Shape 16"/>
          <p:cNvSpPr/>
          <p:nvPr/>
        </p:nvSpPr>
        <p:spPr>
          <a:xfrm>
            <a:off x="365760" y="2926080"/>
            <a:ext cx="11430000" cy="1481328"/>
          </a:xfrm>
          <a:prstGeom prst="rect">
            <a:avLst/>
          </a:prstGeom>
          <a:solidFill>
            <a:srgbClr val="F0F4F8"/>
          </a:solidFill>
          <a:ln w="12700">
            <a:solidFill>
              <a:srgbClr val="D4820A"/>
            </a:solidFill>
            <a:prstDash val="solid"/>
          </a:ln>
        </p:spPr>
      </p:sp>
      <p:sp>
        <p:nvSpPr>
          <p:cNvPr id="19" name="Text 17"/>
          <p:cNvSpPr/>
          <p:nvPr/>
        </p:nvSpPr>
        <p:spPr>
          <a:xfrm>
            <a:off x="502920" y="3017520"/>
            <a:ext cx="1371600" cy="256032"/>
          </a:xfrm>
          <a:prstGeom prst="rect">
            <a:avLst/>
          </a:prstGeom>
          <a:noFill/>
          <a:ln/>
        </p:spPr>
        <p:txBody>
          <a:bodyPr wrap="square" rtlCol="0" anchor="ctr"/>
          <a:lstStyle/>
          <a:p>
            <a:pPr indent="0" marL="0">
              <a:buNone/>
            </a:pPr>
            <a:r>
              <a:rPr lang="en-US" sz="900" b="1" spc="200" kern="0" dirty="0">
                <a:solidFill>
                  <a:srgbClr val="D4820A"/>
                </a:solidFill>
                <a:latin typeface="Calibri" pitchFamily="34" charset="0"/>
                <a:ea typeface="Calibri" pitchFamily="34" charset="-122"/>
                <a:cs typeface="Calibri" pitchFamily="34" charset="-120"/>
              </a:rPr>
              <a:t>OPERATIONAL</a:t>
            </a:r>
            <a:endParaRPr lang="en-US" sz="900" dirty="0"/>
          </a:p>
        </p:txBody>
      </p:sp>
      <p:sp>
        <p:nvSpPr>
          <p:cNvPr id="20" name="Text 18"/>
          <p:cNvSpPr/>
          <p:nvPr/>
        </p:nvSpPr>
        <p:spPr>
          <a:xfrm>
            <a:off x="502920" y="3364992"/>
            <a:ext cx="3657600" cy="256032"/>
          </a:xfrm>
          <a:prstGeom prst="rect">
            <a:avLst/>
          </a:prstGeom>
          <a:noFill/>
          <a:ln/>
        </p:spPr>
        <p:txBody>
          <a:bodyPr wrap="square" rtlCol="0" anchor="ctr"/>
          <a:lstStyle/>
          <a:p>
            <a:pPr indent="0" marL="0">
              <a:buNone/>
            </a:pPr>
            <a:r>
              <a:rPr lang="en-US" sz="950" b="1" dirty="0">
                <a:solidFill>
                  <a:srgbClr val="0A1628"/>
                </a:solidFill>
                <a:latin typeface="Calibri" pitchFamily="34" charset="0"/>
                <a:ea typeface="Calibri" pitchFamily="34" charset="-122"/>
                <a:cs typeface="Calibri" pitchFamily="34" charset="-120"/>
              </a:rPr>
              <a:t>Tier 1+2 outreach completion</a:t>
            </a:r>
            <a:endParaRPr lang="en-US" sz="950" dirty="0"/>
          </a:p>
        </p:txBody>
      </p:sp>
      <p:sp>
        <p:nvSpPr>
          <p:cNvPr id="21" name="Text 19"/>
          <p:cNvSpPr/>
          <p:nvPr/>
        </p:nvSpPr>
        <p:spPr>
          <a:xfrm>
            <a:off x="502920" y="3657600"/>
            <a:ext cx="3657600" cy="228600"/>
          </a:xfrm>
          <a:prstGeom prst="rect">
            <a:avLst/>
          </a:prstGeom>
          <a:noFill/>
          <a:ln/>
        </p:spPr>
        <p:txBody>
          <a:bodyPr wrap="square" rtlCol="0" anchor="ctr"/>
          <a:lstStyle/>
          <a:p>
            <a:pPr indent="0" marL="0">
              <a:buNone/>
            </a:pPr>
            <a:r>
              <a:rPr lang="en-US" sz="850" dirty="0">
                <a:solidFill>
                  <a:srgbClr val="C0392B"/>
                </a:solidFill>
                <a:latin typeface="Calibri" pitchFamily="34" charset="0"/>
                <a:ea typeface="Calibri" pitchFamily="34" charset="-122"/>
                <a:cs typeface="Calibri" pitchFamily="34" charset="-120"/>
              </a:rPr>
              <a:t>Baseline: 0%</a:t>
            </a:r>
            <a:endParaRPr lang="en-US" sz="850" dirty="0"/>
          </a:p>
        </p:txBody>
      </p:sp>
      <p:sp>
        <p:nvSpPr>
          <p:cNvPr id="22" name="Text 20"/>
          <p:cNvSpPr/>
          <p:nvPr/>
        </p:nvSpPr>
        <p:spPr>
          <a:xfrm>
            <a:off x="502920" y="3913632"/>
            <a:ext cx="3657600" cy="228600"/>
          </a:xfrm>
          <a:prstGeom prst="rect">
            <a:avLst/>
          </a:prstGeom>
          <a:noFill/>
          <a:ln/>
        </p:spPr>
        <p:txBody>
          <a:bodyPr wrap="square" rtlCol="0" anchor="ctr"/>
          <a:lstStyle/>
          <a:p>
            <a:pPr indent="0" marL="0">
              <a:buNone/>
            </a:pPr>
            <a:r>
              <a:rPr lang="en-US" sz="850" b="1" dirty="0">
                <a:solidFill>
                  <a:srgbClr val="1A6B3A"/>
                </a:solidFill>
                <a:latin typeface="Calibri" pitchFamily="34" charset="0"/>
                <a:ea typeface="Calibri" pitchFamily="34" charset="-122"/>
                <a:cs typeface="Calibri" pitchFamily="34" charset="-120"/>
              </a:rPr>
              <a:t>Target: 100% in 30 days</a:t>
            </a:r>
            <a:endParaRPr lang="en-US" sz="850" dirty="0"/>
          </a:p>
        </p:txBody>
      </p:sp>
      <p:sp>
        <p:nvSpPr>
          <p:cNvPr id="23" name="Text 21"/>
          <p:cNvSpPr/>
          <p:nvPr/>
        </p:nvSpPr>
        <p:spPr>
          <a:xfrm>
            <a:off x="4343400" y="3364992"/>
            <a:ext cx="3657600" cy="256032"/>
          </a:xfrm>
          <a:prstGeom prst="rect">
            <a:avLst/>
          </a:prstGeom>
          <a:noFill/>
          <a:ln/>
        </p:spPr>
        <p:txBody>
          <a:bodyPr wrap="square" rtlCol="0" anchor="ctr"/>
          <a:lstStyle/>
          <a:p>
            <a:pPr indent="0" marL="0">
              <a:buNone/>
            </a:pPr>
            <a:r>
              <a:rPr lang="en-US" sz="950" b="1" dirty="0">
                <a:solidFill>
                  <a:srgbClr val="0A1628"/>
                </a:solidFill>
                <a:latin typeface="Calibri" pitchFamily="34" charset="0"/>
                <a:ea typeface="Calibri" pitchFamily="34" charset="-122"/>
                <a:cs typeface="Calibri" pitchFamily="34" charset="-120"/>
              </a:rPr>
              <a:t>Point of No Return resolved</a:t>
            </a:r>
            <a:endParaRPr lang="en-US" sz="950" dirty="0"/>
          </a:p>
        </p:txBody>
      </p:sp>
      <p:sp>
        <p:nvSpPr>
          <p:cNvPr id="24" name="Text 22"/>
          <p:cNvSpPr/>
          <p:nvPr/>
        </p:nvSpPr>
        <p:spPr>
          <a:xfrm>
            <a:off x="4343400" y="3657600"/>
            <a:ext cx="3657600" cy="228600"/>
          </a:xfrm>
          <a:prstGeom prst="rect">
            <a:avLst/>
          </a:prstGeom>
          <a:noFill/>
          <a:ln/>
        </p:spPr>
        <p:txBody>
          <a:bodyPr wrap="square" rtlCol="0" anchor="ctr"/>
          <a:lstStyle/>
          <a:p>
            <a:pPr indent="0" marL="0">
              <a:buNone/>
            </a:pPr>
            <a:r>
              <a:rPr lang="en-US" sz="850" dirty="0">
                <a:solidFill>
                  <a:srgbClr val="C0392B"/>
                </a:solidFill>
                <a:latin typeface="Calibri" pitchFamily="34" charset="0"/>
                <a:ea typeface="Calibri" pitchFamily="34" charset="-122"/>
                <a:cs typeface="Calibri" pitchFamily="34" charset="-120"/>
              </a:rPr>
              <a:t>Baseline: 0 of 1,410</a:t>
            </a:r>
            <a:endParaRPr lang="en-US" sz="850" dirty="0"/>
          </a:p>
        </p:txBody>
      </p:sp>
      <p:sp>
        <p:nvSpPr>
          <p:cNvPr id="25" name="Text 23"/>
          <p:cNvSpPr/>
          <p:nvPr/>
        </p:nvSpPr>
        <p:spPr>
          <a:xfrm>
            <a:off x="4343400" y="3913632"/>
            <a:ext cx="3657600" cy="228600"/>
          </a:xfrm>
          <a:prstGeom prst="rect">
            <a:avLst/>
          </a:prstGeom>
          <a:noFill/>
          <a:ln/>
        </p:spPr>
        <p:txBody>
          <a:bodyPr wrap="square" rtlCol="0" anchor="ctr"/>
          <a:lstStyle/>
          <a:p>
            <a:pPr indent="0" marL="0">
              <a:buNone/>
            </a:pPr>
            <a:r>
              <a:rPr lang="en-US" sz="850" b="1" dirty="0">
                <a:solidFill>
                  <a:srgbClr val="1A6B3A"/>
                </a:solidFill>
                <a:latin typeface="Calibri" pitchFamily="34" charset="0"/>
                <a:ea typeface="Calibri" pitchFamily="34" charset="-122"/>
                <a:cs typeface="Calibri" pitchFamily="34" charset="-120"/>
              </a:rPr>
              <a:t>Target: 1,410 of 1,410 in 14 days</a:t>
            </a:r>
            <a:endParaRPr lang="en-US" sz="850" dirty="0"/>
          </a:p>
        </p:txBody>
      </p:sp>
      <p:sp>
        <p:nvSpPr>
          <p:cNvPr id="26" name="Text 24"/>
          <p:cNvSpPr/>
          <p:nvPr/>
        </p:nvSpPr>
        <p:spPr>
          <a:xfrm>
            <a:off x="8183880" y="3364992"/>
            <a:ext cx="3657600" cy="256032"/>
          </a:xfrm>
          <a:prstGeom prst="rect">
            <a:avLst/>
          </a:prstGeom>
          <a:noFill/>
          <a:ln/>
        </p:spPr>
        <p:txBody>
          <a:bodyPr wrap="square" rtlCol="0" anchor="ctr"/>
          <a:lstStyle/>
          <a:p>
            <a:pPr indent="0" marL="0">
              <a:buNone/>
            </a:pPr>
            <a:r>
              <a:rPr lang="en-US" sz="950" b="1" dirty="0">
                <a:solidFill>
                  <a:srgbClr val="0A1628"/>
                </a:solidFill>
                <a:latin typeface="Calibri" pitchFamily="34" charset="0"/>
                <a:ea typeface="Calibri" pitchFamily="34" charset="-122"/>
                <a:cs typeface="Calibri" pitchFamily="34" charset="-120"/>
              </a:rPr>
              <a:t>New customer NPS survey</a:t>
            </a:r>
            <a:endParaRPr lang="en-US" sz="950" dirty="0"/>
          </a:p>
        </p:txBody>
      </p:sp>
      <p:sp>
        <p:nvSpPr>
          <p:cNvPr id="27" name="Text 25"/>
          <p:cNvSpPr/>
          <p:nvPr/>
        </p:nvSpPr>
        <p:spPr>
          <a:xfrm>
            <a:off x="8183880" y="3657600"/>
            <a:ext cx="3657600" cy="228600"/>
          </a:xfrm>
          <a:prstGeom prst="rect">
            <a:avLst/>
          </a:prstGeom>
          <a:noFill/>
          <a:ln/>
        </p:spPr>
        <p:txBody>
          <a:bodyPr wrap="square" rtlCol="0" anchor="ctr"/>
          <a:lstStyle/>
          <a:p>
            <a:pPr indent="0" marL="0">
              <a:buNone/>
            </a:pPr>
            <a:r>
              <a:rPr lang="en-US" sz="850" dirty="0">
                <a:solidFill>
                  <a:srgbClr val="C0392B"/>
                </a:solidFill>
                <a:latin typeface="Calibri" pitchFamily="34" charset="0"/>
                <a:ea typeface="Calibri" pitchFamily="34" charset="-122"/>
                <a:cs typeface="Calibri" pitchFamily="34" charset="-120"/>
              </a:rPr>
              <a:t>Baseline: Not live</a:t>
            </a:r>
            <a:endParaRPr lang="en-US" sz="850" dirty="0"/>
          </a:p>
        </p:txBody>
      </p:sp>
      <p:sp>
        <p:nvSpPr>
          <p:cNvPr id="28" name="Text 26"/>
          <p:cNvSpPr/>
          <p:nvPr/>
        </p:nvSpPr>
        <p:spPr>
          <a:xfrm>
            <a:off x="8183880" y="3913632"/>
            <a:ext cx="3657600" cy="228600"/>
          </a:xfrm>
          <a:prstGeom prst="rect">
            <a:avLst/>
          </a:prstGeom>
          <a:noFill/>
          <a:ln/>
        </p:spPr>
        <p:txBody>
          <a:bodyPr wrap="square" rtlCol="0" anchor="ctr"/>
          <a:lstStyle/>
          <a:p>
            <a:pPr indent="0" marL="0">
              <a:buNone/>
            </a:pPr>
            <a:r>
              <a:rPr lang="en-US" sz="850" b="1" dirty="0">
                <a:solidFill>
                  <a:srgbClr val="1A6B3A"/>
                </a:solidFill>
                <a:latin typeface="Calibri" pitchFamily="34" charset="0"/>
                <a:ea typeface="Calibri" pitchFamily="34" charset="-122"/>
                <a:cs typeface="Calibri" pitchFamily="34" charset="-120"/>
              </a:rPr>
              <a:t>Target: Live by day 30</a:t>
            </a:r>
            <a:endParaRPr lang="en-US" sz="850" dirty="0"/>
          </a:p>
        </p:txBody>
      </p:sp>
      <p:sp>
        <p:nvSpPr>
          <p:cNvPr id="29" name="Shape 27"/>
          <p:cNvSpPr/>
          <p:nvPr/>
        </p:nvSpPr>
        <p:spPr>
          <a:xfrm>
            <a:off x="365760" y="4572000"/>
            <a:ext cx="11430000" cy="1481328"/>
          </a:xfrm>
          <a:prstGeom prst="rect">
            <a:avLst/>
          </a:prstGeom>
          <a:solidFill>
            <a:srgbClr val="F0FDF4"/>
          </a:solidFill>
          <a:ln w="12700">
            <a:solidFill>
              <a:srgbClr val="1A6B3A"/>
            </a:solidFill>
            <a:prstDash val="solid"/>
          </a:ln>
        </p:spPr>
      </p:sp>
      <p:sp>
        <p:nvSpPr>
          <p:cNvPr id="30" name="Text 28"/>
          <p:cNvSpPr/>
          <p:nvPr/>
        </p:nvSpPr>
        <p:spPr>
          <a:xfrm>
            <a:off x="502920" y="4663440"/>
            <a:ext cx="1371600" cy="256032"/>
          </a:xfrm>
          <a:prstGeom prst="rect">
            <a:avLst/>
          </a:prstGeom>
          <a:noFill/>
          <a:ln/>
        </p:spPr>
        <p:txBody>
          <a:bodyPr wrap="square" rtlCol="0" anchor="ctr"/>
          <a:lstStyle/>
          <a:p>
            <a:pPr indent="0" marL="0">
              <a:buNone/>
            </a:pPr>
            <a:r>
              <a:rPr lang="en-US" sz="900" b="1" spc="200" kern="0" dirty="0">
                <a:solidFill>
                  <a:srgbClr val="1A6B3A"/>
                </a:solidFill>
                <a:latin typeface="Calibri" pitchFamily="34" charset="0"/>
                <a:ea typeface="Calibri" pitchFamily="34" charset="-122"/>
                <a:cs typeface="Calibri" pitchFamily="34" charset="-120"/>
              </a:rPr>
              <a:t>LAGGING</a:t>
            </a:r>
            <a:endParaRPr lang="en-US" sz="900" dirty="0"/>
          </a:p>
        </p:txBody>
      </p:sp>
      <p:sp>
        <p:nvSpPr>
          <p:cNvPr id="31" name="Text 29"/>
          <p:cNvSpPr/>
          <p:nvPr/>
        </p:nvSpPr>
        <p:spPr>
          <a:xfrm>
            <a:off x="502920" y="5010912"/>
            <a:ext cx="3657600" cy="256032"/>
          </a:xfrm>
          <a:prstGeom prst="rect">
            <a:avLst/>
          </a:prstGeom>
          <a:noFill/>
          <a:ln/>
        </p:spPr>
        <p:txBody>
          <a:bodyPr wrap="square" rtlCol="0" anchor="ctr"/>
          <a:lstStyle/>
          <a:p>
            <a:pPr indent="0" marL="0">
              <a:buNone/>
            </a:pPr>
            <a:r>
              <a:rPr lang="en-US" sz="950" b="1" dirty="0">
                <a:solidFill>
                  <a:srgbClr val="0A1628"/>
                </a:solidFill>
                <a:latin typeface="Calibri" pitchFamily="34" charset="0"/>
                <a:ea typeface="Calibri" pitchFamily="34" charset="-122"/>
                <a:cs typeface="Calibri" pitchFamily="34" charset="-120"/>
              </a:rPr>
              <a:t>Overall NPS</a:t>
            </a:r>
            <a:endParaRPr lang="en-US" sz="950" dirty="0"/>
          </a:p>
        </p:txBody>
      </p:sp>
      <p:sp>
        <p:nvSpPr>
          <p:cNvPr id="32" name="Text 30"/>
          <p:cNvSpPr/>
          <p:nvPr/>
        </p:nvSpPr>
        <p:spPr>
          <a:xfrm>
            <a:off x="502920" y="5303520"/>
            <a:ext cx="3657600" cy="228600"/>
          </a:xfrm>
          <a:prstGeom prst="rect">
            <a:avLst/>
          </a:prstGeom>
          <a:noFill/>
          <a:ln/>
        </p:spPr>
        <p:txBody>
          <a:bodyPr wrap="square" rtlCol="0" anchor="ctr"/>
          <a:lstStyle/>
          <a:p>
            <a:pPr indent="0" marL="0">
              <a:buNone/>
            </a:pPr>
            <a:r>
              <a:rPr lang="en-US" sz="850" dirty="0">
                <a:solidFill>
                  <a:srgbClr val="C0392B"/>
                </a:solidFill>
                <a:latin typeface="Calibri" pitchFamily="34" charset="0"/>
                <a:ea typeface="Calibri" pitchFamily="34" charset="-122"/>
                <a:cs typeface="Calibri" pitchFamily="34" charset="-120"/>
              </a:rPr>
              <a:t>Baseline: −46.23</a:t>
            </a:r>
            <a:endParaRPr lang="en-US" sz="850" dirty="0"/>
          </a:p>
        </p:txBody>
      </p:sp>
      <p:sp>
        <p:nvSpPr>
          <p:cNvPr id="33" name="Text 31"/>
          <p:cNvSpPr/>
          <p:nvPr/>
        </p:nvSpPr>
        <p:spPr>
          <a:xfrm>
            <a:off x="502920" y="5559552"/>
            <a:ext cx="3657600" cy="228600"/>
          </a:xfrm>
          <a:prstGeom prst="rect">
            <a:avLst/>
          </a:prstGeom>
          <a:noFill/>
          <a:ln/>
        </p:spPr>
        <p:txBody>
          <a:bodyPr wrap="square" rtlCol="0" anchor="ctr"/>
          <a:lstStyle/>
          <a:p>
            <a:pPr indent="0" marL="0">
              <a:buNone/>
            </a:pPr>
            <a:r>
              <a:rPr lang="en-US" sz="850" b="1" dirty="0">
                <a:solidFill>
                  <a:srgbClr val="1A6B3A"/>
                </a:solidFill>
                <a:latin typeface="Calibri" pitchFamily="34" charset="0"/>
                <a:ea typeface="Calibri" pitchFamily="34" charset="-122"/>
                <a:cs typeface="Calibri" pitchFamily="34" charset="-120"/>
              </a:rPr>
              <a:t>Target: −35 at 90 days · −26 at 12 months</a:t>
            </a:r>
            <a:endParaRPr lang="en-US" sz="850" dirty="0"/>
          </a:p>
        </p:txBody>
      </p:sp>
      <p:sp>
        <p:nvSpPr>
          <p:cNvPr id="34" name="Text 32"/>
          <p:cNvSpPr/>
          <p:nvPr/>
        </p:nvSpPr>
        <p:spPr>
          <a:xfrm>
            <a:off x="4343400" y="5010912"/>
            <a:ext cx="3657600" cy="256032"/>
          </a:xfrm>
          <a:prstGeom prst="rect">
            <a:avLst/>
          </a:prstGeom>
          <a:noFill/>
          <a:ln/>
        </p:spPr>
        <p:txBody>
          <a:bodyPr wrap="square" rtlCol="0" anchor="ctr"/>
          <a:lstStyle/>
          <a:p>
            <a:pPr indent="0" marL="0">
              <a:buNone/>
            </a:pPr>
            <a:r>
              <a:rPr lang="en-US" sz="950" b="1" dirty="0">
                <a:solidFill>
                  <a:srgbClr val="0A1628"/>
                </a:solidFill>
                <a:latin typeface="Calibri" pitchFamily="34" charset="0"/>
                <a:ea typeface="Calibri" pitchFamily="34" charset="-122"/>
                <a:cs typeface="Calibri" pitchFamily="34" charset="-120"/>
              </a:rPr>
              <a:t>Revenue at Risk</a:t>
            </a:r>
            <a:endParaRPr lang="en-US" sz="950" dirty="0"/>
          </a:p>
        </p:txBody>
      </p:sp>
      <p:sp>
        <p:nvSpPr>
          <p:cNvPr id="35" name="Text 33"/>
          <p:cNvSpPr/>
          <p:nvPr/>
        </p:nvSpPr>
        <p:spPr>
          <a:xfrm>
            <a:off x="4343400" y="5303520"/>
            <a:ext cx="3657600" cy="228600"/>
          </a:xfrm>
          <a:prstGeom prst="rect">
            <a:avLst/>
          </a:prstGeom>
          <a:noFill/>
          <a:ln/>
        </p:spPr>
        <p:txBody>
          <a:bodyPr wrap="square" rtlCol="0" anchor="ctr"/>
          <a:lstStyle/>
          <a:p>
            <a:pPr indent="0" marL="0">
              <a:buNone/>
            </a:pPr>
            <a:r>
              <a:rPr lang="en-US" sz="850" dirty="0">
                <a:solidFill>
                  <a:srgbClr val="C0392B"/>
                </a:solidFill>
                <a:latin typeface="Calibri" pitchFamily="34" charset="0"/>
                <a:ea typeface="Calibri" pitchFamily="34" charset="-122"/>
                <a:cs typeface="Calibri" pitchFamily="34" charset="-120"/>
              </a:rPr>
              <a:t>Baseline: $37.2M</a:t>
            </a:r>
            <a:endParaRPr lang="en-US" sz="850" dirty="0"/>
          </a:p>
        </p:txBody>
      </p:sp>
      <p:sp>
        <p:nvSpPr>
          <p:cNvPr id="36" name="Text 34"/>
          <p:cNvSpPr/>
          <p:nvPr/>
        </p:nvSpPr>
        <p:spPr>
          <a:xfrm>
            <a:off x="4343400" y="5559552"/>
            <a:ext cx="3657600" cy="228600"/>
          </a:xfrm>
          <a:prstGeom prst="rect">
            <a:avLst/>
          </a:prstGeom>
          <a:noFill/>
          <a:ln/>
        </p:spPr>
        <p:txBody>
          <a:bodyPr wrap="square" rtlCol="0" anchor="ctr"/>
          <a:lstStyle/>
          <a:p>
            <a:pPr indent="0" marL="0">
              <a:buNone/>
            </a:pPr>
            <a:r>
              <a:rPr lang="en-US" sz="850" b="1" dirty="0">
                <a:solidFill>
                  <a:srgbClr val="1A6B3A"/>
                </a:solidFill>
                <a:latin typeface="Calibri" pitchFamily="34" charset="0"/>
                <a:ea typeface="Calibri" pitchFamily="34" charset="-122"/>
                <a:cs typeface="Calibri" pitchFamily="34" charset="-120"/>
              </a:rPr>
              <a:t>Target: Below $30M at 90 days</a:t>
            </a:r>
            <a:endParaRPr lang="en-US" sz="850" dirty="0"/>
          </a:p>
        </p:txBody>
      </p:sp>
      <p:sp>
        <p:nvSpPr>
          <p:cNvPr id="37" name="Text 35"/>
          <p:cNvSpPr/>
          <p:nvPr/>
        </p:nvSpPr>
        <p:spPr>
          <a:xfrm>
            <a:off x="8183880" y="5010912"/>
            <a:ext cx="3657600" cy="256032"/>
          </a:xfrm>
          <a:prstGeom prst="rect">
            <a:avLst/>
          </a:prstGeom>
          <a:noFill/>
          <a:ln/>
        </p:spPr>
        <p:txBody>
          <a:bodyPr wrap="square" rtlCol="0" anchor="ctr"/>
          <a:lstStyle/>
          <a:p>
            <a:pPr indent="0" marL="0">
              <a:buNone/>
            </a:pPr>
            <a:r>
              <a:rPr lang="en-US" sz="950" b="1" dirty="0">
                <a:solidFill>
                  <a:srgbClr val="0A1628"/>
                </a:solidFill>
                <a:latin typeface="Calibri" pitchFamily="34" charset="0"/>
                <a:ea typeface="Calibri" pitchFamily="34" charset="-122"/>
                <a:cs typeface="Calibri" pitchFamily="34" charset="-120"/>
              </a:rPr>
              <a:t>VIP Recovery Revenue</a:t>
            </a:r>
            <a:endParaRPr lang="en-US" sz="950" dirty="0"/>
          </a:p>
        </p:txBody>
      </p:sp>
      <p:sp>
        <p:nvSpPr>
          <p:cNvPr id="38" name="Text 36"/>
          <p:cNvSpPr/>
          <p:nvPr/>
        </p:nvSpPr>
        <p:spPr>
          <a:xfrm>
            <a:off x="8183880" y="5303520"/>
            <a:ext cx="3657600" cy="228600"/>
          </a:xfrm>
          <a:prstGeom prst="rect">
            <a:avLst/>
          </a:prstGeom>
          <a:noFill/>
          <a:ln/>
        </p:spPr>
        <p:txBody>
          <a:bodyPr wrap="square" rtlCol="0" anchor="ctr"/>
          <a:lstStyle/>
          <a:p>
            <a:pPr indent="0" marL="0">
              <a:buNone/>
            </a:pPr>
            <a:r>
              <a:rPr lang="en-US" sz="850" dirty="0">
                <a:solidFill>
                  <a:srgbClr val="C0392B"/>
                </a:solidFill>
                <a:latin typeface="Calibri" pitchFamily="34" charset="0"/>
                <a:ea typeface="Calibri" pitchFamily="34" charset="-122"/>
                <a:cs typeface="Calibri" pitchFamily="34" charset="-120"/>
              </a:rPr>
              <a:t>Baseline: $0</a:t>
            </a:r>
            <a:endParaRPr lang="en-US" sz="850" dirty="0"/>
          </a:p>
        </p:txBody>
      </p:sp>
      <p:sp>
        <p:nvSpPr>
          <p:cNvPr id="39" name="Text 37"/>
          <p:cNvSpPr/>
          <p:nvPr/>
        </p:nvSpPr>
        <p:spPr>
          <a:xfrm>
            <a:off x="8183880" y="5559552"/>
            <a:ext cx="3657600" cy="228600"/>
          </a:xfrm>
          <a:prstGeom prst="rect">
            <a:avLst/>
          </a:prstGeom>
          <a:noFill/>
          <a:ln/>
        </p:spPr>
        <p:txBody>
          <a:bodyPr wrap="square" rtlCol="0" anchor="ctr"/>
          <a:lstStyle/>
          <a:p>
            <a:pPr indent="0" marL="0">
              <a:buNone/>
            </a:pPr>
            <a:r>
              <a:rPr lang="en-US" sz="850" b="1" dirty="0">
                <a:solidFill>
                  <a:srgbClr val="1A6B3A"/>
                </a:solidFill>
                <a:latin typeface="Calibri" pitchFamily="34" charset="0"/>
                <a:ea typeface="Calibri" pitchFamily="34" charset="-122"/>
                <a:cs typeface="Calibri" pitchFamily="34" charset="-120"/>
              </a:rPr>
              <a:t>Target: $633,911 in 30 days</a:t>
            </a:r>
            <a:endParaRPr lang="en-US" sz="850" dirty="0"/>
          </a:p>
        </p:txBody>
      </p:sp>
      <p:sp>
        <p:nvSpPr>
          <p:cNvPr id="40" name="Shape 38"/>
          <p:cNvSpPr/>
          <p:nvPr/>
        </p:nvSpPr>
        <p:spPr>
          <a:xfrm>
            <a:off x="365760" y="6263640"/>
            <a:ext cx="11430000" cy="384048"/>
          </a:xfrm>
          <a:prstGeom prst="rect">
            <a:avLst/>
          </a:prstGeom>
          <a:solidFill>
            <a:srgbClr val="0A1628"/>
          </a:solidFill>
          <a:ln w="12700">
            <a:solidFill>
              <a:srgbClr val="0A1628"/>
            </a:solidFill>
            <a:prstDash val="solid"/>
          </a:ln>
        </p:spPr>
      </p:sp>
      <p:sp>
        <p:nvSpPr>
          <p:cNvPr id="41" name="Text 39"/>
          <p:cNvSpPr/>
          <p:nvPr/>
        </p:nvSpPr>
        <p:spPr>
          <a:xfrm>
            <a:off x="548640" y="6327648"/>
            <a:ext cx="1463040" cy="237744"/>
          </a:xfrm>
          <a:prstGeom prst="rect">
            <a:avLst/>
          </a:prstGeom>
          <a:noFill/>
          <a:ln/>
        </p:spPr>
        <p:txBody>
          <a:bodyPr wrap="square" rtlCol="0" anchor="ctr"/>
          <a:lstStyle/>
          <a:p>
            <a:pPr indent="0" marL="0">
              <a:buNone/>
            </a:pPr>
            <a:r>
              <a:rPr lang="en-US" sz="900" b="1" dirty="0">
                <a:solidFill>
                  <a:srgbClr val="C8A84B"/>
                </a:solidFill>
                <a:latin typeface="Calibri" pitchFamily="34" charset="0"/>
                <a:ea typeface="Calibri" pitchFamily="34" charset="-122"/>
                <a:cs typeface="Calibri" pitchFamily="34" charset="-120"/>
              </a:rPr>
              <a:t>Review cadence:</a:t>
            </a:r>
            <a:endParaRPr lang="en-US" sz="900" dirty="0"/>
          </a:p>
        </p:txBody>
      </p:sp>
      <p:sp>
        <p:nvSpPr>
          <p:cNvPr id="42" name="Text 40"/>
          <p:cNvSpPr/>
          <p:nvPr/>
        </p:nvSpPr>
        <p:spPr>
          <a:xfrm>
            <a:off x="2103120" y="6327648"/>
            <a:ext cx="9509760" cy="237744"/>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Weekly (Monday · 15 min · leading + operational)   |   Monthly (first Monday · 30 min · all layers)   |   Quarterly (board review · NPS trajectory + revenue protection)</a:t>
            </a:r>
            <a:endParaRPr lang="en-US" sz="900" dirty="0"/>
          </a:p>
        </p:txBody>
      </p:sp>
      <p:sp>
        <p:nvSpPr>
          <p:cNvPr id="43" name="Shape 41"/>
          <p:cNvSpPr/>
          <p:nvPr/>
        </p:nvSpPr>
        <p:spPr>
          <a:xfrm>
            <a:off x="0" y="6537960"/>
            <a:ext cx="12161520" cy="320040"/>
          </a:xfrm>
          <a:prstGeom prst="rect">
            <a:avLst/>
          </a:prstGeom>
          <a:solidFill>
            <a:srgbClr val="0A1628"/>
          </a:solidFill>
          <a:ln w="12700">
            <a:solidFill>
              <a:srgbClr val="0A1628"/>
            </a:solidFill>
            <a:prstDash val="solid"/>
          </a:ln>
        </p:spPr>
      </p:sp>
      <p:sp>
        <p:nvSpPr>
          <p:cNvPr id="44" name="Text 42"/>
          <p:cNvSpPr/>
          <p:nvPr/>
        </p:nvSpPr>
        <p:spPr>
          <a:xfrm>
            <a:off x="365760" y="6565392"/>
            <a:ext cx="9144000" cy="256032"/>
          </a:xfrm>
          <a:prstGeom prst="rect">
            <a:avLst/>
          </a:prstGeom>
          <a:noFill/>
          <a:ln/>
        </p:spPr>
        <p:txBody>
          <a:bodyPr wrap="square" rtlCol="0" anchor="ctr"/>
          <a:lstStyle/>
          <a:p>
            <a:pPr indent="0" marL="0">
              <a:buNone/>
            </a:pPr>
            <a:r>
              <a:rPr lang="en-US" sz="750" dirty="0">
                <a:solidFill>
                  <a:srgbClr val="8899BB"/>
                </a:solidFill>
                <a:latin typeface="Calibri" pitchFamily="34" charset="0"/>
                <a:ea typeface="Calibri" pitchFamily="34" charset="-122"/>
                <a:cs typeface="Calibri" pitchFamily="34" charset="-120"/>
              </a:rPr>
              <a:t>Samuel Ahinakwa  |  Finance &amp; Analytics Professional  |  BSc · MSc · ICAG Finalist  |  Confidential</a:t>
            </a:r>
            <a:endParaRPr lang="en-US" sz="750" dirty="0"/>
          </a:p>
        </p:txBody>
      </p:sp>
      <p:sp>
        <p:nvSpPr>
          <p:cNvPr id="45" name="Text 43"/>
          <p:cNvSpPr/>
          <p:nvPr/>
        </p:nvSpPr>
        <p:spPr>
          <a:xfrm>
            <a:off x="11338560" y="6565392"/>
            <a:ext cx="731520" cy="256032"/>
          </a:xfrm>
          <a:prstGeom prst="rect">
            <a:avLst/>
          </a:prstGeom>
          <a:noFill/>
          <a:ln/>
        </p:spPr>
        <p:txBody>
          <a:bodyPr wrap="square" rtlCol="0" anchor="ctr"/>
          <a:lstStyle/>
          <a:p>
            <a:pPr algn="r" indent="0" marL="0">
              <a:buNone/>
            </a:pPr>
            <a:r>
              <a:rPr lang="en-US" sz="800" dirty="0">
                <a:solidFill>
                  <a:srgbClr val="C8A84B"/>
                </a:solidFill>
                <a:latin typeface="Calibri" pitchFamily="34" charset="0"/>
                <a:ea typeface="Calibri" pitchFamily="34" charset="-122"/>
                <a:cs typeface="Calibri" pitchFamily="34" charset="-120"/>
              </a:rPr>
              <a:t>18 / 20</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1051560"/>
          </a:xfrm>
          <a:prstGeom prst="rect">
            <a:avLst/>
          </a:prstGeom>
          <a:solidFill>
            <a:srgbClr val="0A1628"/>
          </a:solidFill>
          <a:ln w="12700">
            <a:solidFill>
              <a:srgbClr val="0A1628"/>
            </a:solidFill>
            <a:prstDash val="solid"/>
          </a:ln>
        </p:spPr>
      </p:sp>
      <p:sp>
        <p:nvSpPr>
          <p:cNvPr id="3" name="Shape 1"/>
          <p:cNvSpPr/>
          <p:nvPr/>
        </p:nvSpPr>
        <p:spPr>
          <a:xfrm>
            <a:off x="0" y="1051560"/>
            <a:ext cx="12161520" cy="36576"/>
          </a:xfrm>
          <a:prstGeom prst="rect">
            <a:avLst/>
          </a:prstGeom>
          <a:solidFill>
            <a:srgbClr val="C8A84B"/>
          </a:solidFill>
          <a:ln w="12700">
            <a:solidFill>
              <a:srgbClr val="C8A84B"/>
            </a:solidFill>
            <a:prstDash val="solid"/>
          </a:ln>
        </p:spPr>
      </p:sp>
      <p:sp>
        <p:nvSpPr>
          <p:cNvPr id="4" name="Text 2"/>
          <p:cNvSpPr/>
          <p:nvPr/>
        </p:nvSpPr>
        <p:spPr>
          <a:xfrm>
            <a:off x="365760" y="64008"/>
            <a:ext cx="4572000" cy="228600"/>
          </a:xfrm>
          <a:prstGeom prst="rect">
            <a:avLst/>
          </a:prstGeom>
          <a:noFill/>
          <a:ln/>
        </p:spPr>
        <p:txBody>
          <a:bodyPr wrap="square" rtlCol="0" anchor="ctr"/>
          <a:lstStyle/>
          <a:p>
            <a:pPr indent="0" marL="0">
              <a:buNone/>
            </a:pPr>
            <a:r>
              <a:rPr lang="en-US" sz="800" b="1" spc="200" kern="0" dirty="0">
                <a:solidFill>
                  <a:srgbClr val="C8A84B"/>
                </a:solidFill>
                <a:latin typeface="Calibri" pitchFamily="34" charset="0"/>
                <a:ea typeface="Calibri" pitchFamily="34" charset="-122"/>
                <a:cs typeface="Calibri" pitchFamily="34" charset="-120"/>
              </a:rPr>
              <a:t>ENGAGEMENT SUMMARY</a:t>
            </a:r>
            <a:endParaRPr lang="en-US" sz="800" dirty="0"/>
          </a:p>
        </p:txBody>
      </p:sp>
      <p:sp>
        <p:nvSpPr>
          <p:cNvPr id="5" name="Text 3"/>
          <p:cNvSpPr/>
          <p:nvPr/>
        </p:nvSpPr>
        <p:spPr>
          <a:xfrm>
            <a:off x="365760" y="256032"/>
            <a:ext cx="9601200" cy="566928"/>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Three Reports. Three Pivot Findings. One Connected Story.</a:t>
            </a:r>
            <a:endParaRPr lang="en-US" sz="2600" dirty="0"/>
          </a:p>
        </p:txBody>
      </p:sp>
      <p:sp>
        <p:nvSpPr>
          <p:cNvPr id="6" name="Text 4"/>
          <p:cNvSpPr/>
          <p:nvPr/>
        </p:nvSpPr>
        <p:spPr>
          <a:xfrm>
            <a:off x="365760" y="795528"/>
            <a:ext cx="10058400" cy="228600"/>
          </a:xfrm>
          <a:prstGeom prst="rect">
            <a:avLst/>
          </a:prstGeom>
          <a:noFill/>
          <a:ln/>
        </p:spPr>
        <p:txBody>
          <a:bodyPr wrap="square" rtlCol="0" anchor="ctr"/>
          <a:lstStyle/>
          <a:p>
            <a:pPr indent="0" marL="0">
              <a:buNone/>
            </a:pPr>
            <a:r>
              <a:rPr lang="en-US" sz="1050" i="1" dirty="0">
                <a:solidFill>
                  <a:srgbClr val="8899BB"/>
                </a:solidFill>
                <a:latin typeface="Calibri" pitchFamily="34" charset="0"/>
                <a:ea typeface="Calibri" pitchFamily="34" charset="-122"/>
                <a:cs typeface="Calibri" pitchFamily="34" charset="-120"/>
              </a:rPr>
              <a:t>Every finding links to the next. The fix is equally connected.</a:t>
            </a:r>
            <a:endParaRPr lang="en-US" sz="1050" dirty="0"/>
          </a:p>
        </p:txBody>
      </p:sp>
      <p:sp>
        <p:nvSpPr>
          <p:cNvPr id="7" name="Shape 5"/>
          <p:cNvSpPr/>
          <p:nvPr/>
        </p:nvSpPr>
        <p:spPr>
          <a:xfrm>
            <a:off x="365760" y="1280160"/>
            <a:ext cx="11430000" cy="1417320"/>
          </a:xfrm>
          <a:prstGeom prst="rect">
            <a:avLst/>
          </a:prstGeom>
          <a:solidFill>
            <a:srgbClr val="FEF2F2"/>
          </a:solidFill>
          <a:ln w="12700">
            <a:solidFill>
              <a:srgbClr val="C0392B"/>
            </a:solidFill>
            <a:prstDash val="solid"/>
          </a:ln>
        </p:spPr>
      </p:sp>
      <p:sp>
        <p:nvSpPr>
          <p:cNvPr id="8" name="Shape 6"/>
          <p:cNvSpPr/>
          <p:nvPr/>
        </p:nvSpPr>
        <p:spPr>
          <a:xfrm>
            <a:off x="365760" y="1280160"/>
            <a:ext cx="54864" cy="1417320"/>
          </a:xfrm>
          <a:prstGeom prst="rect">
            <a:avLst/>
          </a:prstGeom>
          <a:solidFill>
            <a:srgbClr val="C0392B"/>
          </a:solidFill>
          <a:ln w="12700">
            <a:solidFill>
              <a:srgbClr val="C0392B"/>
            </a:solidFill>
            <a:prstDash val="solid"/>
          </a:ln>
        </p:spPr>
      </p:sp>
      <p:sp>
        <p:nvSpPr>
          <p:cNvPr id="9" name="Text 7"/>
          <p:cNvSpPr/>
          <p:nvPr/>
        </p:nvSpPr>
        <p:spPr>
          <a:xfrm>
            <a:off x="548640" y="1371600"/>
            <a:ext cx="1097280" cy="256032"/>
          </a:xfrm>
          <a:prstGeom prst="rect">
            <a:avLst/>
          </a:prstGeom>
          <a:noFill/>
          <a:ln/>
        </p:spPr>
        <p:txBody>
          <a:bodyPr wrap="square" rtlCol="0" anchor="ctr"/>
          <a:lstStyle/>
          <a:p>
            <a:pPr indent="0" marL="0">
              <a:buNone/>
            </a:pPr>
            <a:r>
              <a:rPr lang="en-US" sz="900" b="1" dirty="0">
                <a:solidFill>
                  <a:srgbClr val="C0392B"/>
                </a:solidFill>
                <a:latin typeface="Calibri" pitchFamily="34" charset="0"/>
                <a:ea typeface="Calibri" pitchFamily="34" charset="-122"/>
                <a:cs typeface="Calibri" pitchFamily="34" charset="-120"/>
              </a:rPr>
              <a:t>Part 1</a:t>
            </a:r>
            <a:endParaRPr lang="en-US" sz="900" dirty="0"/>
          </a:p>
        </p:txBody>
      </p:sp>
      <p:sp>
        <p:nvSpPr>
          <p:cNvPr id="10" name="Text 8"/>
          <p:cNvSpPr/>
          <p:nvPr/>
        </p:nvSpPr>
        <p:spPr>
          <a:xfrm>
            <a:off x="1691640" y="1353312"/>
            <a:ext cx="2743200" cy="274320"/>
          </a:xfrm>
          <a:prstGeom prst="rect">
            <a:avLst/>
          </a:prstGeom>
          <a:noFill/>
          <a:ln/>
        </p:spPr>
        <p:txBody>
          <a:bodyPr wrap="square" rtlCol="0" anchor="ctr"/>
          <a:lstStyle/>
          <a:p>
            <a:pPr indent="0" marL="0">
              <a:buNone/>
            </a:pPr>
            <a:r>
              <a:rPr lang="en-US" sz="1300" b="1" dirty="0">
                <a:solidFill>
                  <a:srgbClr val="0A1628"/>
                </a:solidFill>
                <a:latin typeface="Calibri" pitchFamily="34" charset="0"/>
                <a:ea typeface="Calibri" pitchFamily="34" charset="-122"/>
                <a:cs typeface="Calibri" pitchFamily="34" charset="-120"/>
              </a:rPr>
              <a:t>Brand Health</a:t>
            </a:r>
            <a:endParaRPr lang="en-US" sz="1300" dirty="0"/>
          </a:p>
        </p:txBody>
      </p:sp>
      <p:sp>
        <p:nvSpPr>
          <p:cNvPr id="11" name="Text 9"/>
          <p:cNvSpPr/>
          <p:nvPr/>
        </p:nvSpPr>
        <p:spPr>
          <a:xfrm>
            <a:off x="4572000" y="1353312"/>
            <a:ext cx="2286000" cy="274320"/>
          </a:xfrm>
          <a:prstGeom prst="rect">
            <a:avLst/>
          </a:prstGeom>
          <a:noFill/>
          <a:ln/>
        </p:spPr>
        <p:txBody>
          <a:bodyPr wrap="square" rtlCol="0" anchor="ctr"/>
          <a:lstStyle/>
          <a:p>
            <a:pPr algn="ctr" indent="0" marL="0">
              <a:buNone/>
            </a:pPr>
            <a:r>
              <a:rPr lang="en-US" sz="1300" b="1" dirty="0">
                <a:solidFill>
                  <a:srgbClr val="C0392B"/>
                </a:solidFill>
                <a:latin typeface="Calibri" pitchFamily="34" charset="0"/>
                <a:ea typeface="Calibri" pitchFamily="34" charset="-122"/>
                <a:cs typeface="Calibri" pitchFamily="34" charset="-120"/>
              </a:rPr>
              <a:t>NPS −46.23</a:t>
            </a:r>
            <a:endParaRPr lang="en-US" sz="1300" dirty="0"/>
          </a:p>
        </p:txBody>
      </p:sp>
      <p:sp>
        <p:nvSpPr>
          <p:cNvPr id="12" name="Text 10"/>
          <p:cNvSpPr/>
          <p:nvPr/>
        </p:nvSpPr>
        <p:spPr>
          <a:xfrm>
            <a:off x="548640" y="1691640"/>
            <a:ext cx="7315200" cy="274320"/>
          </a:xfrm>
          <a:prstGeom prst="rect">
            <a:avLst/>
          </a:prstGeom>
          <a:noFill/>
          <a:ln/>
        </p:spPr>
        <p:txBody>
          <a:bodyPr wrap="square" rtlCol="0" anchor="ctr"/>
          <a:lstStyle/>
          <a:p>
            <a:pPr indent="0" marL="0">
              <a:buNone/>
            </a:pPr>
            <a:r>
              <a:rPr lang="en-US" sz="1050" b="1" i="1" dirty="0">
                <a:solidFill>
                  <a:srgbClr val="0A1628"/>
                </a:solidFill>
                <a:latin typeface="Calibri" pitchFamily="34" charset="0"/>
                <a:ea typeface="Calibri" pitchFamily="34" charset="-122"/>
                <a:cs typeface="Calibri" pitchFamily="34" charset="-120"/>
              </a:rPr>
              <a:t>Pivot: "Recalls did not cause the damage. Behaviour did."</a:t>
            </a:r>
            <a:endParaRPr lang="en-US" sz="1050" dirty="0"/>
          </a:p>
        </p:txBody>
      </p:sp>
      <p:sp>
        <p:nvSpPr>
          <p:cNvPr id="13" name="Text 11"/>
          <p:cNvSpPr/>
          <p:nvPr/>
        </p:nvSpPr>
        <p:spPr>
          <a:xfrm>
            <a:off x="548640" y="2011680"/>
            <a:ext cx="10698480" cy="548640"/>
          </a:xfrm>
          <a:prstGeom prst="rect">
            <a:avLst/>
          </a:prstGeom>
          <a:noFill/>
          <a:ln/>
        </p:spPr>
        <p:txBody>
          <a:bodyPr wrap="square" rtlCol="0" anchor="ctr"/>
          <a:lstStyle/>
          <a:p>
            <a:pPr indent="0" marL="0">
              <a:buNone/>
            </a:pPr>
            <a:r>
              <a:rPr lang="en-US" sz="950" dirty="0">
                <a:solidFill>
                  <a:srgbClr val="2A2820"/>
                </a:solidFill>
                <a:latin typeface="Calibri" pitchFamily="34" charset="0"/>
                <a:ea typeface="Calibri" pitchFamily="34" charset="-122"/>
                <a:cs typeface="Calibri" pitchFamily="34" charset="-120"/>
              </a:rPr>
              <a:t>Implication: Investing in product quality will not move the NPS. Fix how AfriTech responds.</a:t>
            </a:r>
            <a:endParaRPr lang="en-US" sz="950" dirty="0"/>
          </a:p>
        </p:txBody>
      </p:sp>
      <p:sp>
        <p:nvSpPr>
          <p:cNvPr id="14" name="Shape 12"/>
          <p:cNvSpPr/>
          <p:nvPr/>
        </p:nvSpPr>
        <p:spPr>
          <a:xfrm>
            <a:off x="365760" y="2880360"/>
            <a:ext cx="11430000" cy="1417320"/>
          </a:xfrm>
          <a:prstGeom prst="rect">
            <a:avLst/>
          </a:prstGeom>
          <a:solidFill>
            <a:srgbClr val="FDF8EC"/>
          </a:solidFill>
          <a:ln w="12700">
            <a:solidFill>
              <a:srgbClr val="D4820A"/>
            </a:solidFill>
            <a:prstDash val="solid"/>
          </a:ln>
        </p:spPr>
      </p:sp>
      <p:sp>
        <p:nvSpPr>
          <p:cNvPr id="15" name="Shape 13"/>
          <p:cNvSpPr/>
          <p:nvPr/>
        </p:nvSpPr>
        <p:spPr>
          <a:xfrm>
            <a:off x="365760" y="2880360"/>
            <a:ext cx="54864" cy="1417320"/>
          </a:xfrm>
          <a:prstGeom prst="rect">
            <a:avLst/>
          </a:prstGeom>
          <a:solidFill>
            <a:srgbClr val="D4820A"/>
          </a:solidFill>
          <a:ln w="12700">
            <a:solidFill>
              <a:srgbClr val="D4820A"/>
            </a:solidFill>
            <a:prstDash val="solid"/>
          </a:ln>
        </p:spPr>
      </p:sp>
      <p:sp>
        <p:nvSpPr>
          <p:cNvPr id="16" name="Text 14"/>
          <p:cNvSpPr/>
          <p:nvPr/>
        </p:nvSpPr>
        <p:spPr>
          <a:xfrm>
            <a:off x="548640" y="2971800"/>
            <a:ext cx="1097280" cy="256032"/>
          </a:xfrm>
          <a:prstGeom prst="rect">
            <a:avLst/>
          </a:prstGeom>
          <a:noFill/>
          <a:ln/>
        </p:spPr>
        <p:txBody>
          <a:bodyPr wrap="square" rtlCol="0" anchor="ctr"/>
          <a:lstStyle/>
          <a:p>
            <a:pPr indent="0" marL="0">
              <a:buNone/>
            </a:pPr>
            <a:r>
              <a:rPr lang="en-US" sz="900" b="1" dirty="0">
                <a:solidFill>
                  <a:srgbClr val="D4820A"/>
                </a:solidFill>
                <a:latin typeface="Calibri" pitchFamily="34" charset="0"/>
                <a:ea typeface="Calibri" pitchFamily="34" charset="-122"/>
                <a:cs typeface="Calibri" pitchFamily="34" charset="-120"/>
              </a:rPr>
              <a:t>Part 2</a:t>
            </a:r>
            <a:endParaRPr lang="en-US" sz="900" dirty="0"/>
          </a:p>
        </p:txBody>
      </p:sp>
      <p:sp>
        <p:nvSpPr>
          <p:cNvPr id="17" name="Text 15"/>
          <p:cNvSpPr/>
          <p:nvPr/>
        </p:nvSpPr>
        <p:spPr>
          <a:xfrm>
            <a:off x="1691640" y="2953512"/>
            <a:ext cx="2743200" cy="274320"/>
          </a:xfrm>
          <a:prstGeom prst="rect">
            <a:avLst/>
          </a:prstGeom>
          <a:noFill/>
          <a:ln/>
        </p:spPr>
        <p:txBody>
          <a:bodyPr wrap="square" rtlCol="0" anchor="ctr"/>
          <a:lstStyle/>
          <a:p>
            <a:pPr indent="0" marL="0">
              <a:buNone/>
            </a:pPr>
            <a:r>
              <a:rPr lang="en-US" sz="1300" b="1" dirty="0">
                <a:solidFill>
                  <a:srgbClr val="0A1628"/>
                </a:solidFill>
                <a:latin typeface="Calibri" pitchFamily="34" charset="0"/>
                <a:ea typeface="Calibri" pitchFamily="34" charset="-122"/>
                <a:cs typeface="Calibri" pitchFamily="34" charset="-120"/>
              </a:rPr>
              <a:t>Customer Segmentation</a:t>
            </a:r>
            <a:endParaRPr lang="en-US" sz="1300" dirty="0"/>
          </a:p>
        </p:txBody>
      </p:sp>
      <p:sp>
        <p:nvSpPr>
          <p:cNvPr id="18" name="Text 16"/>
          <p:cNvSpPr/>
          <p:nvPr/>
        </p:nvSpPr>
        <p:spPr>
          <a:xfrm>
            <a:off x="4572000" y="2953512"/>
            <a:ext cx="2286000" cy="274320"/>
          </a:xfrm>
          <a:prstGeom prst="rect">
            <a:avLst/>
          </a:prstGeom>
          <a:noFill/>
          <a:ln/>
        </p:spPr>
        <p:txBody>
          <a:bodyPr wrap="square" rtlCol="0" anchor="ctr"/>
          <a:lstStyle/>
          <a:p>
            <a:pPr algn="ctr" indent="0" marL="0">
              <a:buNone/>
            </a:pPr>
            <a:r>
              <a:rPr lang="en-US" sz="1300" b="1" dirty="0">
                <a:solidFill>
                  <a:srgbClr val="D4820A"/>
                </a:solidFill>
                <a:latin typeface="Calibri" pitchFamily="34" charset="0"/>
                <a:ea typeface="Calibri" pitchFamily="34" charset="-122"/>
                <a:cs typeface="Calibri" pitchFamily="34" charset="-120"/>
              </a:rPr>
              <a:t>$37.2M at risk</a:t>
            </a:r>
            <a:endParaRPr lang="en-US" sz="1300" dirty="0"/>
          </a:p>
        </p:txBody>
      </p:sp>
      <p:sp>
        <p:nvSpPr>
          <p:cNvPr id="19" name="Text 17"/>
          <p:cNvSpPr/>
          <p:nvPr/>
        </p:nvSpPr>
        <p:spPr>
          <a:xfrm>
            <a:off x="548640" y="3291840"/>
            <a:ext cx="7315200" cy="274320"/>
          </a:xfrm>
          <a:prstGeom prst="rect">
            <a:avLst/>
          </a:prstGeom>
          <a:noFill/>
          <a:ln/>
        </p:spPr>
        <p:txBody>
          <a:bodyPr wrap="square" rtlCol="0" anchor="ctr"/>
          <a:lstStyle/>
          <a:p>
            <a:pPr indent="0" marL="0">
              <a:buNone/>
            </a:pPr>
            <a:r>
              <a:rPr lang="en-US" sz="1050" b="1" i="1" dirty="0">
                <a:solidFill>
                  <a:srgbClr val="0A1628"/>
                </a:solidFill>
                <a:latin typeface="Calibri" pitchFamily="34" charset="0"/>
                <a:ea typeface="Calibri" pitchFamily="34" charset="-122"/>
                <a:cs typeface="Calibri" pitchFamily="34" charset="-120"/>
              </a:rPr>
              <a:t>Pivot: "Loyalty is destroying satisfaction, not building it."</a:t>
            </a:r>
            <a:endParaRPr lang="en-US" sz="1050" dirty="0"/>
          </a:p>
        </p:txBody>
      </p:sp>
      <p:sp>
        <p:nvSpPr>
          <p:cNvPr id="20" name="Text 18"/>
          <p:cNvSpPr/>
          <p:nvPr/>
        </p:nvSpPr>
        <p:spPr>
          <a:xfrm>
            <a:off x="548640" y="3611880"/>
            <a:ext cx="10698480" cy="548640"/>
          </a:xfrm>
          <a:prstGeom prst="rect">
            <a:avLst/>
          </a:prstGeom>
          <a:noFill/>
          <a:ln/>
        </p:spPr>
        <p:txBody>
          <a:bodyPr wrap="square" rtlCol="0" anchor="ctr"/>
          <a:lstStyle/>
          <a:p>
            <a:pPr indent="0" marL="0">
              <a:buNone/>
            </a:pPr>
            <a:r>
              <a:rPr lang="en-US" sz="950" dirty="0">
                <a:solidFill>
                  <a:srgbClr val="2A2820"/>
                </a:solidFill>
                <a:latin typeface="Calibri" pitchFamily="34" charset="0"/>
                <a:ea typeface="Calibri" pitchFamily="34" charset="-122"/>
                <a:cs typeface="Calibri" pitchFamily="34" charset="-120"/>
              </a:rPr>
              <a:t>Implication: VIP customers became VIP as new customers. Fix the entry — fix everything.</a:t>
            </a:r>
            <a:endParaRPr lang="en-US" sz="950" dirty="0"/>
          </a:p>
        </p:txBody>
      </p:sp>
      <p:sp>
        <p:nvSpPr>
          <p:cNvPr id="21" name="Shape 19"/>
          <p:cNvSpPr/>
          <p:nvPr/>
        </p:nvSpPr>
        <p:spPr>
          <a:xfrm>
            <a:off x="365760" y="4480560"/>
            <a:ext cx="11430000" cy="1417320"/>
          </a:xfrm>
          <a:prstGeom prst="rect">
            <a:avLst/>
          </a:prstGeom>
          <a:solidFill>
            <a:srgbClr val="FEF2F2"/>
          </a:solidFill>
          <a:ln w="12700">
            <a:solidFill>
              <a:srgbClr val="C0392B"/>
            </a:solidFill>
            <a:prstDash val="solid"/>
          </a:ln>
        </p:spPr>
      </p:sp>
      <p:sp>
        <p:nvSpPr>
          <p:cNvPr id="22" name="Shape 20"/>
          <p:cNvSpPr/>
          <p:nvPr/>
        </p:nvSpPr>
        <p:spPr>
          <a:xfrm>
            <a:off x="365760" y="4480560"/>
            <a:ext cx="54864" cy="1417320"/>
          </a:xfrm>
          <a:prstGeom prst="rect">
            <a:avLst/>
          </a:prstGeom>
          <a:solidFill>
            <a:srgbClr val="C0392B"/>
          </a:solidFill>
          <a:ln w="12700">
            <a:solidFill>
              <a:srgbClr val="C0392B"/>
            </a:solidFill>
            <a:prstDash val="solid"/>
          </a:ln>
        </p:spPr>
      </p:sp>
      <p:sp>
        <p:nvSpPr>
          <p:cNvPr id="23" name="Text 21"/>
          <p:cNvSpPr/>
          <p:nvPr/>
        </p:nvSpPr>
        <p:spPr>
          <a:xfrm>
            <a:off x="548640" y="4572000"/>
            <a:ext cx="1097280" cy="256032"/>
          </a:xfrm>
          <a:prstGeom prst="rect">
            <a:avLst/>
          </a:prstGeom>
          <a:noFill/>
          <a:ln/>
        </p:spPr>
        <p:txBody>
          <a:bodyPr wrap="square" rtlCol="0" anchor="ctr"/>
          <a:lstStyle/>
          <a:p>
            <a:pPr indent="0" marL="0">
              <a:buNone/>
            </a:pPr>
            <a:r>
              <a:rPr lang="en-US" sz="900" b="1" dirty="0">
                <a:solidFill>
                  <a:srgbClr val="C0392B"/>
                </a:solidFill>
                <a:latin typeface="Calibri" pitchFamily="34" charset="0"/>
                <a:ea typeface="Calibri" pitchFamily="34" charset="-122"/>
                <a:cs typeface="Calibri" pitchFamily="34" charset="-120"/>
              </a:rPr>
              <a:t>Part 3</a:t>
            </a:r>
            <a:endParaRPr lang="en-US" sz="900" dirty="0"/>
          </a:p>
        </p:txBody>
      </p:sp>
      <p:sp>
        <p:nvSpPr>
          <p:cNvPr id="24" name="Text 22"/>
          <p:cNvSpPr/>
          <p:nvPr/>
        </p:nvSpPr>
        <p:spPr>
          <a:xfrm>
            <a:off x="1691640" y="4553712"/>
            <a:ext cx="2743200" cy="274320"/>
          </a:xfrm>
          <a:prstGeom prst="rect">
            <a:avLst/>
          </a:prstGeom>
          <a:noFill/>
          <a:ln/>
        </p:spPr>
        <p:txBody>
          <a:bodyPr wrap="square" rtlCol="0" anchor="ctr"/>
          <a:lstStyle/>
          <a:p>
            <a:pPr indent="0" marL="0">
              <a:buNone/>
            </a:pPr>
            <a:r>
              <a:rPr lang="en-US" sz="1300" b="1" dirty="0">
                <a:solidFill>
                  <a:srgbClr val="0A1628"/>
                </a:solidFill>
                <a:latin typeface="Calibri" pitchFamily="34" charset="0"/>
                <a:ea typeface="Calibri" pitchFamily="34" charset="-122"/>
                <a:cs typeface="Calibri" pitchFamily="34" charset="-120"/>
              </a:rPr>
              <a:t>Crisis Management</a:t>
            </a:r>
            <a:endParaRPr lang="en-US" sz="1300" dirty="0"/>
          </a:p>
        </p:txBody>
      </p:sp>
      <p:sp>
        <p:nvSpPr>
          <p:cNvPr id="25" name="Text 23"/>
          <p:cNvSpPr/>
          <p:nvPr/>
        </p:nvSpPr>
        <p:spPr>
          <a:xfrm>
            <a:off x="4572000" y="4553712"/>
            <a:ext cx="2286000" cy="274320"/>
          </a:xfrm>
          <a:prstGeom prst="rect">
            <a:avLst/>
          </a:prstGeom>
          <a:noFill/>
          <a:ln/>
        </p:spPr>
        <p:txBody>
          <a:bodyPr wrap="square" rtlCol="0" anchor="ctr"/>
          <a:lstStyle/>
          <a:p>
            <a:pPr algn="ctr" indent="0" marL="0">
              <a:buNone/>
            </a:pPr>
            <a:r>
              <a:rPr lang="en-US" sz="1300" b="1" dirty="0">
                <a:solidFill>
                  <a:srgbClr val="C0392B"/>
                </a:solidFill>
                <a:latin typeface="Calibri" pitchFamily="34" charset="0"/>
                <a:ea typeface="Calibri" pitchFamily="34" charset="-122"/>
                <a:cs typeface="Calibri" pitchFamily="34" charset="-120"/>
              </a:rPr>
              <a:t>$1,076,419</a:t>
            </a:r>
            <a:endParaRPr lang="en-US" sz="1300" dirty="0"/>
          </a:p>
        </p:txBody>
      </p:sp>
      <p:sp>
        <p:nvSpPr>
          <p:cNvPr id="26" name="Text 24"/>
          <p:cNvSpPr/>
          <p:nvPr/>
        </p:nvSpPr>
        <p:spPr>
          <a:xfrm>
            <a:off x="548640" y="4892040"/>
            <a:ext cx="7315200" cy="274320"/>
          </a:xfrm>
          <a:prstGeom prst="rect">
            <a:avLst/>
          </a:prstGeom>
          <a:noFill/>
          <a:ln/>
        </p:spPr>
        <p:txBody>
          <a:bodyPr wrap="square" rtlCol="0" anchor="ctr"/>
          <a:lstStyle/>
          <a:p>
            <a:pPr indent="0" marL="0">
              <a:buNone/>
            </a:pPr>
            <a:r>
              <a:rPr lang="en-US" sz="1050" b="1" i="1" dirty="0">
                <a:solidFill>
                  <a:srgbClr val="0A1628"/>
                </a:solidFill>
                <a:latin typeface="Calibri" pitchFamily="34" charset="0"/>
                <a:ea typeface="Calibri" pitchFamily="34" charset="-122"/>
                <a:cs typeface="Calibri" pitchFamily="34" charset="-120"/>
              </a:rPr>
              <a:t>Pivot: "Not a capacity problem. A follow-through problem."</a:t>
            </a:r>
            <a:endParaRPr lang="en-US" sz="1050" dirty="0"/>
          </a:p>
        </p:txBody>
      </p:sp>
      <p:sp>
        <p:nvSpPr>
          <p:cNvPr id="27" name="Text 25"/>
          <p:cNvSpPr/>
          <p:nvPr/>
        </p:nvSpPr>
        <p:spPr>
          <a:xfrm>
            <a:off x="548640" y="5212080"/>
            <a:ext cx="10698480" cy="548640"/>
          </a:xfrm>
          <a:prstGeom prst="rect">
            <a:avLst/>
          </a:prstGeom>
          <a:noFill/>
          <a:ln/>
        </p:spPr>
        <p:txBody>
          <a:bodyPr wrap="square" rtlCol="0" anchor="ctr"/>
          <a:lstStyle/>
          <a:p>
            <a:pPr indent="0" marL="0">
              <a:buNone/>
            </a:pPr>
            <a:r>
              <a:rPr lang="en-US" sz="950" dirty="0">
                <a:solidFill>
                  <a:srgbClr val="2A2820"/>
                </a:solidFill>
                <a:latin typeface="Calibri" pitchFamily="34" charset="0"/>
                <a:ea typeface="Calibri" pitchFamily="34" charset="-122"/>
                <a:cs typeface="Calibri" pitchFamily="34" charset="-120"/>
              </a:rPr>
              <a:t>Implication: Finish what you start. Pick up the phone. Stay on it until the problem is solved.</a:t>
            </a:r>
            <a:endParaRPr lang="en-US" sz="950" dirty="0"/>
          </a:p>
        </p:txBody>
      </p:sp>
      <p:sp>
        <p:nvSpPr>
          <p:cNvPr id="28" name="Shape 26"/>
          <p:cNvSpPr/>
          <p:nvPr/>
        </p:nvSpPr>
        <p:spPr>
          <a:xfrm>
            <a:off x="0" y="6537960"/>
            <a:ext cx="12161520" cy="320040"/>
          </a:xfrm>
          <a:prstGeom prst="rect">
            <a:avLst/>
          </a:prstGeom>
          <a:solidFill>
            <a:srgbClr val="0A1628"/>
          </a:solidFill>
          <a:ln w="12700">
            <a:solidFill>
              <a:srgbClr val="0A1628"/>
            </a:solidFill>
            <a:prstDash val="solid"/>
          </a:ln>
        </p:spPr>
      </p:sp>
      <p:sp>
        <p:nvSpPr>
          <p:cNvPr id="29" name="Text 27"/>
          <p:cNvSpPr/>
          <p:nvPr/>
        </p:nvSpPr>
        <p:spPr>
          <a:xfrm>
            <a:off x="365760" y="6565392"/>
            <a:ext cx="9144000" cy="256032"/>
          </a:xfrm>
          <a:prstGeom prst="rect">
            <a:avLst/>
          </a:prstGeom>
          <a:noFill/>
          <a:ln/>
        </p:spPr>
        <p:txBody>
          <a:bodyPr wrap="square" rtlCol="0" anchor="ctr"/>
          <a:lstStyle/>
          <a:p>
            <a:pPr indent="0" marL="0">
              <a:buNone/>
            </a:pPr>
            <a:r>
              <a:rPr lang="en-US" sz="750" dirty="0">
                <a:solidFill>
                  <a:srgbClr val="8899BB"/>
                </a:solidFill>
                <a:latin typeface="Calibri" pitchFamily="34" charset="0"/>
                <a:ea typeface="Calibri" pitchFamily="34" charset="-122"/>
                <a:cs typeface="Calibri" pitchFamily="34" charset="-120"/>
              </a:rPr>
              <a:t>Samuel Ahinakwa  |  Finance &amp; Analytics Professional  |  BSc · MSc · ICAG Finalist  |  Confidential</a:t>
            </a:r>
            <a:endParaRPr lang="en-US" sz="750" dirty="0"/>
          </a:p>
        </p:txBody>
      </p:sp>
      <p:sp>
        <p:nvSpPr>
          <p:cNvPr id="30" name="Text 28"/>
          <p:cNvSpPr/>
          <p:nvPr/>
        </p:nvSpPr>
        <p:spPr>
          <a:xfrm>
            <a:off x="11338560" y="6565392"/>
            <a:ext cx="731520" cy="256032"/>
          </a:xfrm>
          <a:prstGeom prst="rect">
            <a:avLst/>
          </a:prstGeom>
          <a:noFill/>
          <a:ln/>
        </p:spPr>
        <p:txBody>
          <a:bodyPr wrap="square" rtlCol="0" anchor="ctr"/>
          <a:lstStyle/>
          <a:p>
            <a:pPr algn="r" indent="0" marL="0">
              <a:buNone/>
            </a:pPr>
            <a:r>
              <a:rPr lang="en-US" sz="800" dirty="0">
                <a:solidFill>
                  <a:srgbClr val="C8A84B"/>
                </a:solidFill>
                <a:latin typeface="Calibri" pitchFamily="34" charset="0"/>
                <a:ea typeface="Calibri" pitchFamily="34" charset="-122"/>
                <a:cs typeface="Calibri" pitchFamily="34" charset="-120"/>
              </a:rPr>
              <a:t>19 / 20</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C8A84B"/>
          </a:solidFill>
          <a:ln w="12700">
            <a:solidFill>
              <a:srgbClr val="C8A84B"/>
            </a:solidFill>
            <a:prstDash val="solid"/>
          </a:ln>
        </p:spPr>
      </p:sp>
      <p:sp>
        <p:nvSpPr>
          <p:cNvPr id="3" name="Text 1"/>
          <p:cNvSpPr/>
          <p:nvPr/>
        </p:nvSpPr>
        <p:spPr>
          <a:xfrm>
            <a:off x="365760" y="457200"/>
            <a:ext cx="7315200" cy="256032"/>
          </a:xfrm>
          <a:prstGeom prst="rect">
            <a:avLst/>
          </a:prstGeom>
          <a:noFill/>
          <a:ln/>
        </p:spPr>
        <p:txBody>
          <a:bodyPr wrap="square" rtlCol="0" anchor="ctr"/>
          <a:lstStyle/>
          <a:p>
            <a:pPr indent="0" marL="0">
              <a:buNone/>
            </a:pPr>
            <a:r>
              <a:rPr lang="en-US" sz="800" b="1" spc="400" kern="0" dirty="0">
                <a:solidFill>
                  <a:srgbClr val="C8A84B"/>
                </a:solidFill>
                <a:latin typeface="Calibri" pitchFamily="34" charset="0"/>
                <a:ea typeface="Calibri" pitchFamily="34" charset="-122"/>
                <a:cs typeface="Calibri" pitchFamily="34" charset="-120"/>
              </a:rPr>
              <a:t>THE CONCLUSION</a:t>
            </a:r>
            <a:endParaRPr lang="en-US" sz="800" dirty="0"/>
          </a:p>
        </p:txBody>
      </p:sp>
      <p:sp>
        <p:nvSpPr>
          <p:cNvPr id="4" name="Text 2"/>
          <p:cNvSpPr/>
          <p:nvPr/>
        </p:nvSpPr>
        <p:spPr>
          <a:xfrm>
            <a:off x="365760" y="822960"/>
            <a:ext cx="7772400" cy="1828800"/>
          </a:xfrm>
          <a:prstGeom prst="rect">
            <a:avLst/>
          </a:prstGeom>
          <a:noFill/>
          <a:ln/>
        </p:spPr>
        <p:txBody>
          <a:bodyPr wrap="square" rtlCol="0" anchor="ctr"/>
          <a:lstStyle/>
          <a:p>
            <a:pPr indent="0" marL="0">
              <a:lnSpc>
                <a:spcPct val="110000"/>
              </a:lnSpc>
              <a:buNone/>
            </a:pPr>
            <a:r>
              <a:rPr lang="en-US" sz="5200" b="1" dirty="0">
                <a:solidFill>
                  <a:srgbClr val="FFFFFF"/>
                </a:solidFill>
                <a:latin typeface="Calibri" pitchFamily="34" charset="0"/>
                <a:ea typeface="Calibri" pitchFamily="34" charset="-122"/>
                <a:cs typeface="Calibri" pitchFamily="34" charset="-120"/>
              </a:rPr>
              <a:t>The constraint is no longer</a:t>
            </a:r>
            <a:endParaRPr lang="en-US" sz="5200" dirty="0"/>
          </a:p>
          <a:p>
            <a:pPr indent="0" marL="0">
              <a:lnSpc>
                <a:spcPct val="110000"/>
              </a:lnSpc>
              <a:buNone/>
            </a:pPr>
            <a:r>
              <a:rPr lang="en-US" sz="5200" b="1" dirty="0">
                <a:solidFill>
                  <a:srgbClr val="FFFFFF"/>
                </a:solidFill>
                <a:latin typeface="Calibri" pitchFamily="34" charset="0"/>
                <a:ea typeface="Calibri" pitchFamily="34" charset="-122"/>
                <a:cs typeface="Calibri" pitchFamily="34" charset="-120"/>
              </a:rPr>
              <a:t>insight.</a:t>
            </a:r>
            <a:endParaRPr lang="en-US" sz="5200" dirty="0"/>
          </a:p>
        </p:txBody>
      </p:sp>
      <p:sp>
        <p:nvSpPr>
          <p:cNvPr id="5" name="Text 3"/>
          <p:cNvSpPr/>
          <p:nvPr/>
        </p:nvSpPr>
        <p:spPr>
          <a:xfrm>
            <a:off x="365760" y="2834640"/>
            <a:ext cx="7772400" cy="822960"/>
          </a:xfrm>
          <a:prstGeom prst="rect">
            <a:avLst/>
          </a:prstGeom>
          <a:noFill/>
          <a:ln/>
        </p:spPr>
        <p:txBody>
          <a:bodyPr wrap="square" rtlCol="0" anchor="ctr"/>
          <a:lstStyle/>
          <a:p>
            <a:pPr indent="0" marL="0">
              <a:buNone/>
            </a:pPr>
            <a:r>
              <a:rPr lang="en-US" sz="4400" b="1" dirty="0">
                <a:solidFill>
                  <a:srgbClr val="C8A84B"/>
                </a:solidFill>
                <a:latin typeface="Calibri" pitchFamily="34" charset="0"/>
                <a:ea typeface="Calibri" pitchFamily="34" charset="-122"/>
                <a:cs typeface="Calibri" pitchFamily="34" charset="-120"/>
              </a:rPr>
              <a:t>It is execution.</a:t>
            </a:r>
            <a:endParaRPr lang="en-US" sz="4400" dirty="0"/>
          </a:p>
        </p:txBody>
      </p:sp>
      <p:sp>
        <p:nvSpPr>
          <p:cNvPr id="6" name="Shape 4"/>
          <p:cNvSpPr/>
          <p:nvPr/>
        </p:nvSpPr>
        <p:spPr>
          <a:xfrm>
            <a:off x="365760" y="3931920"/>
            <a:ext cx="54864" cy="402336"/>
          </a:xfrm>
          <a:prstGeom prst="rect">
            <a:avLst/>
          </a:prstGeom>
          <a:solidFill>
            <a:srgbClr val="C8A84B"/>
          </a:solidFill>
          <a:ln w="12700">
            <a:solidFill>
              <a:srgbClr val="C8A84B"/>
            </a:solidFill>
            <a:prstDash val="solid"/>
          </a:ln>
        </p:spPr>
      </p:sp>
      <p:sp>
        <p:nvSpPr>
          <p:cNvPr id="7" name="Text 5"/>
          <p:cNvSpPr/>
          <p:nvPr/>
        </p:nvSpPr>
        <p:spPr>
          <a:xfrm>
            <a:off x="548640" y="3950208"/>
            <a:ext cx="8229600" cy="347472"/>
          </a:xfrm>
          <a:prstGeom prst="rect">
            <a:avLst/>
          </a:prstGeom>
          <a:noFill/>
          <a:ln/>
        </p:spPr>
        <p:txBody>
          <a:bodyPr wrap="square" rtlCol="0" anchor="ctr"/>
          <a:lstStyle/>
          <a:p>
            <a:pPr indent="0" marL="0">
              <a:buNone/>
            </a:pPr>
            <a:r>
              <a:rPr lang="en-US" sz="1000" dirty="0">
                <a:solidFill>
                  <a:srgbClr val="AABBCC"/>
                </a:solidFill>
                <a:latin typeface="Calibri" pitchFamily="34" charset="0"/>
                <a:ea typeface="Calibri" pitchFamily="34" charset="-122"/>
                <a:cs typeface="Calibri" pitchFamily="34" charset="-120"/>
              </a:rPr>
              <a:t>The brand damage is self-inflicted. Fix the behaviour — not the product.</a:t>
            </a:r>
            <a:endParaRPr lang="en-US" sz="1000" dirty="0"/>
          </a:p>
        </p:txBody>
      </p:sp>
      <p:sp>
        <p:nvSpPr>
          <p:cNvPr id="8" name="Shape 6"/>
          <p:cNvSpPr/>
          <p:nvPr/>
        </p:nvSpPr>
        <p:spPr>
          <a:xfrm>
            <a:off x="365760" y="4443984"/>
            <a:ext cx="54864" cy="402336"/>
          </a:xfrm>
          <a:prstGeom prst="rect">
            <a:avLst/>
          </a:prstGeom>
          <a:solidFill>
            <a:srgbClr val="C8A84B"/>
          </a:solidFill>
          <a:ln w="12700">
            <a:solidFill>
              <a:srgbClr val="C8A84B"/>
            </a:solidFill>
            <a:prstDash val="solid"/>
          </a:ln>
        </p:spPr>
      </p:sp>
      <p:sp>
        <p:nvSpPr>
          <p:cNvPr id="9" name="Text 7"/>
          <p:cNvSpPr/>
          <p:nvPr/>
        </p:nvSpPr>
        <p:spPr>
          <a:xfrm>
            <a:off x="548640" y="4462272"/>
            <a:ext cx="8229600" cy="347472"/>
          </a:xfrm>
          <a:prstGeom prst="rect">
            <a:avLst/>
          </a:prstGeom>
          <a:noFill/>
          <a:ln/>
        </p:spPr>
        <p:txBody>
          <a:bodyPr wrap="square" rtlCol="0" anchor="ctr"/>
          <a:lstStyle/>
          <a:p>
            <a:pPr indent="0" marL="0">
              <a:buNone/>
            </a:pPr>
            <a:r>
              <a:rPr lang="en-US" sz="1000" dirty="0">
                <a:solidFill>
                  <a:srgbClr val="AABBCC"/>
                </a:solidFill>
                <a:latin typeface="Calibri" pitchFamily="34" charset="0"/>
                <a:ea typeface="Calibri" pitchFamily="34" charset="-122"/>
                <a:cs typeface="Calibri" pitchFamily="34" charset="-120"/>
              </a:rPr>
              <a:t>Loyalty is running in reverse. Fix the entry point — fix everything downstream.</a:t>
            </a:r>
            <a:endParaRPr lang="en-US" sz="1000" dirty="0"/>
          </a:p>
        </p:txBody>
      </p:sp>
      <p:sp>
        <p:nvSpPr>
          <p:cNvPr id="10" name="Shape 8"/>
          <p:cNvSpPr/>
          <p:nvPr/>
        </p:nvSpPr>
        <p:spPr>
          <a:xfrm>
            <a:off x="365760" y="4956048"/>
            <a:ext cx="54864" cy="402336"/>
          </a:xfrm>
          <a:prstGeom prst="rect">
            <a:avLst/>
          </a:prstGeom>
          <a:solidFill>
            <a:srgbClr val="C8A84B"/>
          </a:solidFill>
          <a:ln w="12700">
            <a:solidFill>
              <a:srgbClr val="C8A84B"/>
            </a:solidFill>
            <a:prstDash val="solid"/>
          </a:ln>
        </p:spPr>
      </p:sp>
      <p:sp>
        <p:nvSpPr>
          <p:cNvPr id="11" name="Text 9"/>
          <p:cNvSpPr/>
          <p:nvPr/>
        </p:nvSpPr>
        <p:spPr>
          <a:xfrm>
            <a:off x="548640" y="4974336"/>
            <a:ext cx="8229600" cy="347472"/>
          </a:xfrm>
          <a:prstGeom prst="rect">
            <a:avLst/>
          </a:prstGeom>
          <a:noFill/>
          <a:ln/>
        </p:spPr>
        <p:txBody>
          <a:bodyPr wrap="square" rtlCol="0" anchor="ctr"/>
          <a:lstStyle/>
          <a:p>
            <a:pPr indent="0" marL="0">
              <a:buNone/>
            </a:pPr>
            <a:r>
              <a:rPr lang="en-US" sz="1000" dirty="0">
                <a:solidFill>
                  <a:srgbClr val="AABBCC"/>
                </a:solidFill>
                <a:latin typeface="Calibri" pitchFamily="34" charset="0"/>
                <a:ea typeface="Calibri" pitchFamily="34" charset="-122"/>
                <a:cs typeface="Calibri" pitchFamily="34" charset="-120"/>
              </a:rPr>
              <a:t>The marketing team is funding the competition. Fix before you fund.</a:t>
            </a:r>
            <a:endParaRPr lang="en-US" sz="1000" dirty="0"/>
          </a:p>
        </p:txBody>
      </p:sp>
      <p:sp>
        <p:nvSpPr>
          <p:cNvPr id="12" name="Shape 10"/>
          <p:cNvSpPr/>
          <p:nvPr/>
        </p:nvSpPr>
        <p:spPr>
          <a:xfrm>
            <a:off x="365760" y="5468112"/>
            <a:ext cx="54864" cy="402336"/>
          </a:xfrm>
          <a:prstGeom prst="rect">
            <a:avLst/>
          </a:prstGeom>
          <a:solidFill>
            <a:srgbClr val="C8A84B"/>
          </a:solidFill>
          <a:ln w="12700">
            <a:solidFill>
              <a:srgbClr val="C8A84B"/>
            </a:solidFill>
            <a:prstDash val="solid"/>
          </a:ln>
        </p:spPr>
      </p:sp>
      <p:sp>
        <p:nvSpPr>
          <p:cNvPr id="13" name="Text 11"/>
          <p:cNvSpPr/>
          <p:nvPr/>
        </p:nvSpPr>
        <p:spPr>
          <a:xfrm>
            <a:off x="548640" y="5486400"/>
            <a:ext cx="8229600" cy="347472"/>
          </a:xfrm>
          <a:prstGeom prst="rect">
            <a:avLst/>
          </a:prstGeom>
          <a:noFill/>
          <a:ln/>
        </p:spPr>
        <p:txBody>
          <a:bodyPr wrap="square" rtlCol="0" anchor="ctr"/>
          <a:lstStyle/>
          <a:p>
            <a:pPr indent="0" marL="0">
              <a:buNone/>
            </a:pPr>
            <a:r>
              <a:rPr lang="en-US" sz="1000" dirty="0">
                <a:solidFill>
                  <a:srgbClr val="AABBCC"/>
                </a:solidFill>
                <a:latin typeface="Calibri" pitchFamily="34" charset="0"/>
                <a:ea typeface="Calibri" pitchFamily="34" charset="-122"/>
                <a:cs typeface="Calibri" pitchFamily="34" charset="-120"/>
              </a:rPr>
              <a:t>7,014 time bombs are ticking. Finish what you start.</a:t>
            </a:r>
            <a:endParaRPr lang="en-US" sz="1000" dirty="0"/>
          </a:p>
        </p:txBody>
      </p:sp>
      <p:sp>
        <p:nvSpPr>
          <p:cNvPr id="14" name="Shape 12"/>
          <p:cNvSpPr/>
          <p:nvPr/>
        </p:nvSpPr>
        <p:spPr>
          <a:xfrm>
            <a:off x="365760" y="5980176"/>
            <a:ext cx="54864" cy="402336"/>
          </a:xfrm>
          <a:prstGeom prst="rect">
            <a:avLst/>
          </a:prstGeom>
          <a:solidFill>
            <a:srgbClr val="C8A84B"/>
          </a:solidFill>
          <a:ln w="12700">
            <a:solidFill>
              <a:srgbClr val="C8A84B"/>
            </a:solidFill>
            <a:prstDash val="solid"/>
          </a:ln>
        </p:spPr>
      </p:sp>
      <p:sp>
        <p:nvSpPr>
          <p:cNvPr id="15" name="Text 13"/>
          <p:cNvSpPr/>
          <p:nvPr/>
        </p:nvSpPr>
        <p:spPr>
          <a:xfrm>
            <a:off x="548640" y="5998464"/>
            <a:ext cx="8229600" cy="347472"/>
          </a:xfrm>
          <a:prstGeom prst="rect">
            <a:avLst/>
          </a:prstGeom>
          <a:noFill/>
          <a:ln/>
        </p:spPr>
        <p:txBody>
          <a:bodyPr wrap="square" rtlCol="0" anchor="ctr"/>
          <a:lstStyle/>
          <a:p>
            <a:pPr indent="0" marL="0">
              <a:buNone/>
            </a:pPr>
            <a:r>
              <a:rPr lang="en-US" sz="1000" dirty="0">
                <a:solidFill>
                  <a:srgbClr val="AABBCC"/>
                </a:solidFill>
                <a:latin typeface="Calibri" pitchFamily="34" charset="0"/>
                <a:ea typeface="Calibri" pitchFamily="34" charset="-122"/>
                <a:cs typeface="Calibri" pitchFamily="34" charset="-120"/>
              </a:rPr>
              <a:t>1,410 customers are at the point of no return. Pull the list tonight.</a:t>
            </a:r>
            <a:endParaRPr lang="en-US" sz="1000" dirty="0"/>
          </a:p>
        </p:txBody>
      </p:sp>
      <p:sp>
        <p:nvSpPr>
          <p:cNvPr id="16" name="Shape 14"/>
          <p:cNvSpPr/>
          <p:nvPr/>
        </p:nvSpPr>
        <p:spPr>
          <a:xfrm>
            <a:off x="8961120" y="2926080"/>
            <a:ext cx="3017520" cy="3474720"/>
          </a:xfrm>
          <a:prstGeom prst="rect">
            <a:avLst/>
          </a:prstGeom>
          <a:solidFill>
            <a:srgbClr val="0D1F35"/>
          </a:solidFill>
          <a:ln w="12700">
            <a:solidFill>
              <a:srgbClr val="0D1F35"/>
            </a:solidFill>
            <a:prstDash val="solid"/>
          </a:ln>
        </p:spPr>
      </p:sp>
      <p:sp>
        <p:nvSpPr>
          <p:cNvPr id="17" name="Text 15"/>
          <p:cNvSpPr/>
          <p:nvPr/>
        </p:nvSpPr>
        <p:spPr>
          <a:xfrm>
            <a:off x="9052560" y="3108960"/>
            <a:ext cx="2834640" cy="914400"/>
          </a:xfrm>
          <a:prstGeom prst="rect">
            <a:avLst/>
          </a:prstGeom>
          <a:noFill/>
          <a:ln/>
        </p:spPr>
        <p:txBody>
          <a:bodyPr wrap="square" rtlCol="0" anchor="ctr"/>
          <a:lstStyle/>
          <a:p>
            <a:pPr algn="ctr" indent="0" marL="0">
              <a:buNone/>
            </a:pPr>
            <a:r>
              <a:rPr lang="en-US" sz="5600" b="1" dirty="0">
                <a:solidFill>
                  <a:srgbClr val="C8A84B"/>
                </a:solidFill>
                <a:latin typeface="Calibri" pitchFamily="34" charset="0"/>
                <a:ea typeface="Calibri" pitchFamily="34" charset="-122"/>
                <a:cs typeface="Calibri" pitchFamily="34" charset="-120"/>
              </a:rPr>
              <a:t>SA</a:t>
            </a:r>
            <a:endParaRPr lang="en-US" sz="5600" dirty="0"/>
          </a:p>
        </p:txBody>
      </p:sp>
      <p:sp>
        <p:nvSpPr>
          <p:cNvPr id="18" name="Text 16"/>
          <p:cNvSpPr/>
          <p:nvPr/>
        </p:nvSpPr>
        <p:spPr>
          <a:xfrm>
            <a:off x="9052560" y="4160520"/>
            <a:ext cx="2834640" cy="3200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Samuel Ahinakwa</a:t>
            </a:r>
            <a:endParaRPr lang="en-US" sz="1300" dirty="0"/>
          </a:p>
        </p:txBody>
      </p:sp>
      <p:sp>
        <p:nvSpPr>
          <p:cNvPr id="19" name="Text 17"/>
          <p:cNvSpPr/>
          <p:nvPr/>
        </p:nvSpPr>
        <p:spPr>
          <a:xfrm>
            <a:off x="9052560" y="4498848"/>
            <a:ext cx="2834640" cy="256032"/>
          </a:xfrm>
          <a:prstGeom prst="rect">
            <a:avLst/>
          </a:prstGeom>
          <a:noFill/>
          <a:ln/>
        </p:spPr>
        <p:txBody>
          <a:bodyPr wrap="square" rtlCol="0" anchor="ctr"/>
          <a:lstStyle/>
          <a:p>
            <a:pPr algn="ctr" indent="0" marL="0">
              <a:buNone/>
            </a:pPr>
            <a:r>
              <a:rPr lang="en-US" sz="900" dirty="0">
                <a:solidFill>
                  <a:srgbClr val="8899BB"/>
                </a:solidFill>
                <a:latin typeface="Calibri" pitchFamily="34" charset="0"/>
                <a:ea typeface="Calibri" pitchFamily="34" charset="-122"/>
                <a:cs typeface="Calibri" pitchFamily="34" charset="-120"/>
              </a:rPr>
              <a:t>Finance &amp; Analytics Professional</a:t>
            </a:r>
            <a:endParaRPr lang="en-US" sz="900" dirty="0"/>
          </a:p>
        </p:txBody>
      </p:sp>
      <p:sp>
        <p:nvSpPr>
          <p:cNvPr id="20" name="Text 18"/>
          <p:cNvSpPr/>
          <p:nvPr/>
        </p:nvSpPr>
        <p:spPr>
          <a:xfrm>
            <a:off x="9052560" y="4828032"/>
            <a:ext cx="2834640" cy="228600"/>
          </a:xfrm>
          <a:prstGeom prst="rect">
            <a:avLst/>
          </a:prstGeom>
          <a:noFill/>
          <a:ln/>
        </p:spPr>
        <p:txBody>
          <a:bodyPr wrap="square" rtlCol="0" anchor="ctr"/>
          <a:lstStyle/>
          <a:p>
            <a:pPr algn="ctr" indent="0" marL="0">
              <a:buNone/>
            </a:pPr>
            <a:r>
              <a:rPr lang="en-US" sz="800" dirty="0">
                <a:solidFill>
                  <a:srgbClr val="C8A84B"/>
                </a:solidFill>
                <a:latin typeface="Calibri" pitchFamily="34" charset="0"/>
                <a:ea typeface="Calibri" pitchFamily="34" charset="-122"/>
                <a:cs typeface="Calibri" pitchFamily="34" charset="-120"/>
              </a:rPr>
              <a:t>BSc Accounting</a:t>
            </a:r>
            <a:endParaRPr lang="en-US" sz="800" dirty="0"/>
          </a:p>
        </p:txBody>
      </p:sp>
      <p:sp>
        <p:nvSpPr>
          <p:cNvPr id="21" name="Text 19"/>
          <p:cNvSpPr/>
          <p:nvPr/>
        </p:nvSpPr>
        <p:spPr>
          <a:xfrm>
            <a:off x="9052560" y="5084064"/>
            <a:ext cx="2834640" cy="228600"/>
          </a:xfrm>
          <a:prstGeom prst="rect">
            <a:avLst/>
          </a:prstGeom>
          <a:noFill/>
          <a:ln/>
        </p:spPr>
        <p:txBody>
          <a:bodyPr wrap="square" rtlCol="0" anchor="ctr"/>
          <a:lstStyle/>
          <a:p>
            <a:pPr algn="ctr" indent="0" marL="0">
              <a:buNone/>
            </a:pPr>
            <a:r>
              <a:rPr lang="en-US" sz="800" dirty="0">
                <a:solidFill>
                  <a:srgbClr val="C8A84B"/>
                </a:solidFill>
                <a:latin typeface="Calibri" pitchFamily="34" charset="0"/>
                <a:ea typeface="Calibri" pitchFamily="34" charset="-122"/>
                <a:cs typeface="Calibri" pitchFamily="34" charset="-120"/>
              </a:rPr>
              <a:t>MSc Accounting &amp; Finance</a:t>
            </a:r>
            <a:endParaRPr lang="en-US" sz="800" dirty="0"/>
          </a:p>
        </p:txBody>
      </p:sp>
      <p:sp>
        <p:nvSpPr>
          <p:cNvPr id="22" name="Text 20"/>
          <p:cNvSpPr/>
          <p:nvPr/>
        </p:nvSpPr>
        <p:spPr>
          <a:xfrm>
            <a:off x="9052560" y="5340096"/>
            <a:ext cx="2834640" cy="228600"/>
          </a:xfrm>
          <a:prstGeom prst="rect">
            <a:avLst/>
          </a:prstGeom>
          <a:noFill/>
          <a:ln/>
        </p:spPr>
        <p:txBody>
          <a:bodyPr wrap="square" rtlCol="0" anchor="ctr"/>
          <a:lstStyle/>
          <a:p>
            <a:pPr algn="ctr" indent="0" marL="0">
              <a:buNone/>
            </a:pPr>
            <a:r>
              <a:rPr lang="en-US" sz="800" dirty="0">
                <a:solidFill>
                  <a:srgbClr val="C8A84B"/>
                </a:solidFill>
                <a:latin typeface="Calibri" pitchFamily="34" charset="0"/>
                <a:ea typeface="Calibri" pitchFamily="34" charset="-122"/>
                <a:cs typeface="Calibri" pitchFamily="34" charset="-120"/>
              </a:rPr>
              <a:t>ICAG Finalist</a:t>
            </a:r>
            <a:endParaRPr lang="en-US" sz="800" dirty="0"/>
          </a:p>
        </p:txBody>
      </p:sp>
      <p:sp>
        <p:nvSpPr>
          <p:cNvPr id="23" name="Text 21"/>
          <p:cNvSpPr/>
          <p:nvPr/>
        </p:nvSpPr>
        <p:spPr>
          <a:xfrm>
            <a:off x="9052560" y="5596128"/>
            <a:ext cx="2834640" cy="228600"/>
          </a:xfrm>
          <a:prstGeom prst="rect">
            <a:avLst/>
          </a:prstGeom>
          <a:noFill/>
          <a:ln/>
        </p:spPr>
        <p:txBody>
          <a:bodyPr wrap="square" rtlCol="0" anchor="ctr"/>
          <a:lstStyle/>
          <a:p>
            <a:pPr algn="ctr" indent="0" marL="0">
              <a:buNone/>
            </a:pPr>
            <a:r>
              <a:rPr lang="en-US" sz="800" dirty="0">
                <a:solidFill>
                  <a:srgbClr val="C8A84B"/>
                </a:solidFill>
                <a:latin typeface="Calibri" pitchFamily="34" charset="0"/>
                <a:ea typeface="Calibri" pitchFamily="34" charset="-122"/>
                <a:cs typeface="Calibri" pitchFamily="34" charset="-120"/>
              </a:rPr>
              <a:t>Advanced Excel · Power BI</a:t>
            </a:r>
            <a:endParaRPr lang="en-US" sz="800" dirty="0"/>
          </a:p>
        </p:txBody>
      </p:sp>
      <p:sp>
        <p:nvSpPr>
          <p:cNvPr id="24" name="Text 22"/>
          <p:cNvSpPr/>
          <p:nvPr/>
        </p:nvSpPr>
        <p:spPr>
          <a:xfrm>
            <a:off x="9052560" y="5852160"/>
            <a:ext cx="2834640" cy="228600"/>
          </a:xfrm>
          <a:prstGeom prst="rect">
            <a:avLst/>
          </a:prstGeom>
          <a:noFill/>
          <a:ln/>
        </p:spPr>
        <p:txBody>
          <a:bodyPr wrap="square" rtlCol="0" anchor="ctr"/>
          <a:lstStyle/>
          <a:p>
            <a:pPr algn="ctr" indent="0" marL="0">
              <a:buNone/>
            </a:pPr>
            <a:r>
              <a:rPr lang="en-US" sz="800" dirty="0">
                <a:solidFill>
                  <a:srgbClr val="C8A84B"/>
                </a:solidFill>
                <a:latin typeface="Calibri" pitchFamily="34" charset="0"/>
                <a:ea typeface="Calibri" pitchFamily="34" charset="-122"/>
                <a:cs typeface="Calibri" pitchFamily="34" charset="-120"/>
              </a:rPr>
              <a:t>SQL · Python</a:t>
            </a:r>
            <a:endParaRPr lang="en-US" sz="800" dirty="0"/>
          </a:p>
        </p:txBody>
      </p:sp>
      <p:sp>
        <p:nvSpPr>
          <p:cNvPr id="25" name="Shape 23"/>
          <p:cNvSpPr/>
          <p:nvPr/>
        </p:nvSpPr>
        <p:spPr>
          <a:xfrm>
            <a:off x="0" y="6537960"/>
            <a:ext cx="12161520" cy="320040"/>
          </a:xfrm>
          <a:prstGeom prst="rect">
            <a:avLst/>
          </a:prstGeom>
          <a:solidFill>
            <a:srgbClr val="0D1F35"/>
          </a:solidFill>
          <a:ln w="12700">
            <a:solidFill>
              <a:srgbClr val="0D1F35"/>
            </a:solidFill>
            <a:prstDash val="solid"/>
          </a:ln>
        </p:spPr>
      </p:sp>
      <p:sp>
        <p:nvSpPr>
          <p:cNvPr id="26" name="Text 24"/>
          <p:cNvSpPr/>
          <p:nvPr/>
        </p:nvSpPr>
        <p:spPr>
          <a:xfrm>
            <a:off x="365760" y="6565392"/>
            <a:ext cx="11430000" cy="256032"/>
          </a:xfrm>
          <a:prstGeom prst="rect">
            <a:avLst/>
          </a:prstGeom>
          <a:noFill/>
          <a:ln/>
        </p:spPr>
        <p:txBody>
          <a:bodyPr wrap="square" rtlCol="0" anchor="ctr"/>
          <a:lstStyle/>
          <a:p>
            <a:pPr algn="ctr" indent="0" marL="0">
              <a:buNone/>
            </a:pPr>
            <a:r>
              <a:rPr lang="en-US" sz="800" dirty="0">
                <a:solidFill>
                  <a:srgbClr val="5A6A85"/>
                </a:solidFill>
                <a:latin typeface="Calibri" pitchFamily="34" charset="0"/>
                <a:ea typeface="Calibri" pitchFamily="34" charset="-122"/>
                <a:cs typeface="Calibri" pitchFamily="34" charset="-120"/>
              </a:rPr>
              <a:t>AfriTech Electronics  |  Comprehensive Brand &amp; Customer Analytics Engagement  |  Strictly Confidential</a:t>
            </a:r>
            <a:endParaRPr lang="en-US" sz="800" dirty="0"/>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1051560"/>
          </a:xfrm>
          <a:prstGeom prst="rect">
            <a:avLst/>
          </a:prstGeom>
          <a:solidFill>
            <a:srgbClr val="0A1628"/>
          </a:solidFill>
          <a:ln w="12700">
            <a:solidFill>
              <a:srgbClr val="0A1628"/>
            </a:solidFill>
            <a:prstDash val="solid"/>
          </a:ln>
        </p:spPr>
      </p:sp>
      <p:sp>
        <p:nvSpPr>
          <p:cNvPr id="3" name="Shape 1"/>
          <p:cNvSpPr/>
          <p:nvPr/>
        </p:nvSpPr>
        <p:spPr>
          <a:xfrm>
            <a:off x="0" y="1051560"/>
            <a:ext cx="12161520" cy="36576"/>
          </a:xfrm>
          <a:prstGeom prst="rect">
            <a:avLst/>
          </a:prstGeom>
          <a:solidFill>
            <a:srgbClr val="C8A84B"/>
          </a:solidFill>
          <a:ln w="12700">
            <a:solidFill>
              <a:srgbClr val="C8A84B"/>
            </a:solidFill>
            <a:prstDash val="solid"/>
          </a:ln>
        </p:spPr>
      </p:sp>
      <p:sp>
        <p:nvSpPr>
          <p:cNvPr id="4" name="Text 2"/>
          <p:cNvSpPr/>
          <p:nvPr/>
        </p:nvSpPr>
        <p:spPr>
          <a:xfrm>
            <a:off x="365760" y="64008"/>
            <a:ext cx="4572000" cy="228600"/>
          </a:xfrm>
          <a:prstGeom prst="rect">
            <a:avLst/>
          </a:prstGeom>
          <a:noFill/>
          <a:ln/>
        </p:spPr>
        <p:txBody>
          <a:bodyPr wrap="square" rtlCol="0" anchor="ctr"/>
          <a:lstStyle/>
          <a:p>
            <a:pPr indent="0" marL="0">
              <a:buNone/>
            </a:pPr>
            <a:r>
              <a:rPr lang="en-US" sz="800" b="1" spc="200" kern="0" dirty="0">
                <a:solidFill>
                  <a:srgbClr val="C8A84B"/>
                </a:solidFill>
                <a:latin typeface="Calibri" pitchFamily="34" charset="0"/>
                <a:ea typeface="Calibri" pitchFamily="34" charset="-122"/>
                <a:cs typeface="Calibri" pitchFamily="34" charset="-120"/>
              </a:rPr>
              <a:t>EXECUTIVE BRIEF</a:t>
            </a:r>
            <a:endParaRPr lang="en-US" sz="800" dirty="0"/>
          </a:p>
        </p:txBody>
      </p:sp>
      <p:sp>
        <p:nvSpPr>
          <p:cNvPr id="5" name="Text 3"/>
          <p:cNvSpPr/>
          <p:nvPr/>
        </p:nvSpPr>
        <p:spPr>
          <a:xfrm>
            <a:off x="365760" y="256032"/>
            <a:ext cx="9601200" cy="566928"/>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The Complete Picture in 60 Seconds</a:t>
            </a:r>
            <a:endParaRPr lang="en-US" sz="2600" dirty="0"/>
          </a:p>
        </p:txBody>
      </p:sp>
      <p:sp>
        <p:nvSpPr>
          <p:cNvPr id="6" name="Text 4"/>
          <p:cNvSpPr/>
          <p:nvPr/>
        </p:nvSpPr>
        <p:spPr>
          <a:xfrm>
            <a:off x="365760" y="795528"/>
            <a:ext cx="10058400" cy="228600"/>
          </a:xfrm>
          <a:prstGeom prst="rect">
            <a:avLst/>
          </a:prstGeom>
          <a:noFill/>
          <a:ln/>
        </p:spPr>
        <p:txBody>
          <a:bodyPr wrap="square" rtlCol="0" anchor="ctr"/>
          <a:lstStyle/>
          <a:p>
            <a:pPr indent="0" marL="0">
              <a:buNone/>
            </a:pPr>
            <a:r>
              <a:rPr lang="en-US" sz="1050" i="1" dirty="0">
                <a:solidFill>
                  <a:srgbClr val="8899BB"/>
                </a:solidFill>
                <a:latin typeface="Calibri" pitchFamily="34" charset="0"/>
                <a:ea typeface="Calibri" pitchFamily="34" charset="-122"/>
                <a:cs typeface="Calibri" pitchFamily="34" charset="-120"/>
              </a:rPr>
              <a:t>Everything the CEO needs before the full engagement begins</a:t>
            </a:r>
            <a:endParaRPr lang="en-US" sz="1050" dirty="0"/>
          </a:p>
        </p:txBody>
      </p:sp>
      <p:sp>
        <p:nvSpPr>
          <p:cNvPr id="7" name="Shape 5"/>
          <p:cNvSpPr/>
          <p:nvPr/>
        </p:nvSpPr>
        <p:spPr>
          <a:xfrm>
            <a:off x="320040" y="1234440"/>
            <a:ext cx="2194560" cy="1005840"/>
          </a:xfrm>
          <a:prstGeom prst="rect">
            <a:avLst/>
          </a:prstGeom>
          <a:solidFill>
            <a:srgbClr val="FEF2F2"/>
          </a:solidFill>
          <a:ln w="12700">
            <a:solidFill>
              <a:srgbClr val="C0392B"/>
            </a:solidFill>
            <a:prstDash val="solid"/>
          </a:ln>
        </p:spPr>
      </p:sp>
      <p:sp>
        <p:nvSpPr>
          <p:cNvPr id="8" name="Shape 6"/>
          <p:cNvSpPr/>
          <p:nvPr/>
        </p:nvSpPr>
        <p:spPr>
          <a:xfrm>
            <a:off x="320040" y="1234440"/>
            <a:ext cx="2194560" cy="45720"/>
          </a:xfrm>
          <a:prstGeom prst="rect">
            <a:avLst/>
          </a:prstGeom>
          <a:solidFill>
            <a:srgbClr val="C0392B"/>
          </a:solidFill>
          <a:ln w="12700">
            <a:solidFill>
              <a:srgbClr val="C0392B"/>
            </a:solidFill>
            <a:prstDash val="solid"/>
          </a:ln>
        </p:spPr>
      </p:sp>
      <p:sp>
        <p:nvSpPr>
          <p:cNvPr id="9" name="Text 7"/>
          <p:cNvSpPr/>
          <p:nvPr/>
        </p:nvSpPr>
        <p:spPr>
          <a:xfrm>
            <a:off x="393192" y="1298448"/>
            <a:ext cx="2048256" cy="438912"/>
          </a:xfrm>
          <a:prstGeom prst="rect">
            <a:avLst/>
          </a:prstGeom>
          <a:noFill/>
          <a:ln/>
        </p:spPr>
        <p:txBody>
          <a:bodyPr wrap="square" rtlCol="0" anchor="ctr"/>
          <a:lstStyle/>
          <a:p>
            <a:pPr algn="ctr" indent="0" marL="0">
              <a:buNone/>
            </a:pPr>
            <a:r>
              <a:rPr lang="en-US" sz="2000" b="1" dirty="0">
                <a:solidFill>
                  <a:srgbClr val="C0392B"/>
                </a:solidFill>
                <a:latin typeface="Calibri" pitchFamily="34" charset="0"/>
                <a:ea typeface="Calibri" pitchFamily="34" charset="-122"/>
                <a:cs typeface="Calibri" pitchFamily="34" charset="-120"/>
              </a:rPr>
              <a:t>−46.23</a:t>
            </a:r>
            <a:endParaRPr lang="en-US" sz="2000" dirty="0"/>
          </a:p>
        </p:txBody>
      </p:sp>
      <p:sp>
        <p:nvSpPr>
          <p:cNvPr id="10" name="Text 8"/>
          <p:cNvSpPr/>
          <p:nvPr/>
        </p:nvSpPr>
        <p:spPr>
          <a:xfrm>
            <a:off x="393192" y="1755648"/>
            <a:ext cx="2048256" cy="201168"/>
          </a:xfrm>
          <a:prstGeom prst="rect">
            <a:avLst/>
          </a:prstGeom>
          <a:noFill/>
          <a:ln/>
        </p:spPr>
        <p:txBody>
          <a:bodyPr wrap="square" rtlCol="0" anchor="ctr"/>
          <a:lstStyle/>
          <a:p>
            <a:pPr algn="ctr" indent="0" marL="0">
              <a:buNone/>
            </a:pPr>
            <a:r>
              <a:rPr lang="en-US" sz="750" b="1" spc="100" kern="0" dirty="0">
                <a:solidFill>
                  <a:srgbClr val="0A1628"/>
                </a:solidFill>
                <a:latin typeface="Calibri" pitchFamily="34" charset="0"/>
                <a:ea typeface="Calibri" pitchFamily="34" charset="-122"/>
                <a:cs typeface="Calibri" pitchFamily="34" charset="-120"/>
              </a:rPr>
              <a:t>NPS SCORE</a:t>
            </a:r>
            <a:endParaRPr lang="en-US" sz="750" dirty="0"/>
          </a:p>
        </p:txBody>
      </p:sp>
      <p:sp>
        <p:nvSpPr>
          <p:cNvPr id="11" name="Text 9"/>
          <p:cNvSpPr/>
          <p:nvPr/>
        </p:nvSpPr>
        <p:spPr>
          <a:xfrm>
            <a:off x="393192" y="1965960"/>
            <a:ext cx="2048256" cy="201168"/>
          </a:xfrm>
          <a:prstGeom prst="rect">
            <a:avLst/>
          </a:prstGeom>
          <a:noFill/>
          <a:ln/>
        </p:spPr>
        <p:txBody>
          <a:bodyPr wrap="square" rtlCol="0" anchor="ctr"/>
          <a:lstStyle/>
          <a:p>
            <a:pPr algn="ctr" indent="0" marL="0">
              <a:buNone/>
            </a:pPr>
            <a:r>
              <a:rPr lang="en-US" sz="700" dirty="0">
                <a:solidFill>
                  <a:srgbClr val="5A6A85"/>
                </a:solidFill>
                <a:latin typeface="Calibri" pitchFamily="34" charset="0"/>
                <a:ea typeface="Calibri" pitchFamily="34" charset="-122"/>
                <a:cs typeface="Calibri" pitchFamily="34" charset="-120"/>
              </a:rPr>
              <a:t>76–96pts below benchmark</a:t>
            </a:r>
            <a:endParaRPr lang="en-US" sz="700" dirty="0"/>
          </a:p>
        </p:txBody>
      </p:sp>
      <p:sp>
        <p:nvSpPr>
          <p:cNvPr id="12" name="Shape 10"/>
          <p:cNvSpPr/>
          <p:nvPr/>
        </p:nvSpPr>
        <p:spPr>
          <a:xfrm>
            <a:off x="2624328" y="1234440"/>
            <a:ext cx="2194560" cy="1005840"/>
          </a:xfrm>
          <a:prstGeom prst="rect">
            <a:avLst/>
          </a:prstGeom>
          <a:solidFill>
            <a:srgbClr val="F0FDF4"/>
          </a:solidFill>
          <a:ln w="12700">
            <a:solidFill>
              <a:srgbClr val="1A6B3A"/>
            </a:solidFill>
            <a:prstDash val="solid"/>
          </a:ln>
        </p:spPr>
      </p:sp>
      <p:sp>
        <p:nvSpPr>
          <p:cNvPr id="13" name="Shape 11"/>
          <p:cNvSpPr/>
          <p:nvPr/>
        </p:nvSpPr>
        <p:spPr>
          <a:xfrm>
            <a:off x="2624328" y="1234440"/>
            <a:ext cx="2194560" cy="45720"/>
          </a:xfrm>
          <a:prstGeom prst="rect">
            <a:avLst/>
          </a:prstGeom>
          <a:solidFill>
            <a:srgbClr val="1A6B3A"/>
          </a:solidFill>
          <a:ln w="12700">
            <a:solidFill>
              <a:srgbClr val="1A6B3A"/>
            </a:solidFill>
            <a:prstDash val="solid"/>
          </a:ln>
        </p:spPr>
      </p:sp>
      <p:sp>
        <p:nvSpPr>
          <p:cNvPr id="14" name="Text 12"/>
          <p:cNvSpPr/>
          <p:nvPr/>
        </p:nvSpPr>
        <p:spPr>
          <a:xfrm>
            <a:off x="2697480" y="1298448"/>
            <a:ext cx="2048256" cy="438912"/>
          </a:xfrm>
          <a:prstGeom prst="rect">
            <a:avLst/>
          </a:prstGeom>
          <a:noFill/>
          <a:ln/>
        </p:spPr>
        <p:txBody>
          <a:bodyPr wrap="square" rtlCol="0" anchor="ctr"/>
          <a:lstStyle/>
          <a:p>
            <a:pPr algn="ctr" indent="0" marL="0">
              <a:buNone/>
            </a:pPr>
            <a:r>
              <a:rPr lang="en-US" sz="2000" b="1" dirty="0">
                <a:solidFill>
                  <a:srgbClr val="1A6B3A"/>
                </a:solidFill>
                <a:latin typeface="Calibri" pitchFamily="34" charset="0"/>
                <a:ea typeface="Calibri" pitchFamily="34" charset="-122"/>
                <a:cs typeface="Calibri" pitchFamily="34" charset="-120"/>
              </a:rPr>
              <a:t>$57.5M</a:t>
            </a:r>
            <a:endParaRPr lang="en-US" sz="2000" dirty="0"/>
          </a:p>
        </p:txBody>
      </p:sp>
      <p:sp>
        <p:nvSpPr>
          <p:cNvPr id="15" name="Text 13"/>
          <p:cNvSpPr/>
          <p:nvPr/>
        </p:nvSpPr>
        <p:spPr>
          <a:xfrm>
            <a:off x="2697480" y="1755648"/>
            <a:ext cx="2048256" cy="201168"/>
          </a:xfrm>
          <a:prstGeom prst="rect">
            <a:avLst/>
          </a:prstGeom>
          <a:noFill/>
          <a:ln/>
        </p:spPr>
        <p:txBody>
          <a:bodyPr wrap="square" rtlCol="0" anchor="ctr"/>
          <a:lstStyle/>
          <a:p>
            <a:pPr algn="ctr" indent="0" marL="0">
              <a:buNone/>
            </a:pPr>
            <a:r>
              <a:rPr lang="en-US" sz="750" b="1" spc="100" kern="0" dirty="0">
                <a:solidFill>
                  <a:srgbClr val="0A1628"/>
                </a:solidFill>
                <a:latin typeface="Calibri" pitchFamily="34" charset="0"/>
                <a:ea typeface="Calibri" pitchFamily="34" charset="-122"/>
                <a:cs typeface="Calibri" pitchFamily="34" charset="-120"/>
              </a:rPr>
              <a:t>TOTAL REVENUE</a:t>
            </a:r>
            <a:endParaRPr lang="en-US" sz="750" dirty="0"/>
          </a:p>
        </p:txBody>
      </p:sp>
      <p:sp>
        <p:nvSpPr>
          <p:cNvPr id="16" name="Text 14"/>
          <p:cNvSpPr/>
          <p:nvPr/>
        </p:nvSpPr>
        <p:spPr>
          <a:xfrm>
            <a:off x="2697480" y="1965960"/>
            <a:ext cx="2048256" cy="201168"/>
          </a:xfrm>
          <a:prstGeom prst="rect">
            <a:avLst/>
          </a:prstGeom>
          <a:noFill/>
          <a:ln/>
        </p:spPr>
        <p:txBody>
          <a:bodyPr wrap="square" rtlCol="0" anchor="ctr"/>
          <a:lstStyle/>
          <a:p>
            <a:pPr algn="ctr" indent="0" marL="0">
              <a:buNone/>
            </a:pPr>
            <a:r>
              <a:rPr lang="en-US" sz="700" dirty="0">
                <a:solidFill>
                  <a:srgbClr val="5A6A85"/>
                </a:solidFill>
                <a:latin typeface="Calibri" pitchFamily="34" charset="0"/>
                <a:ea typeface="Calibri" pitchFamily="34" charset="-122"/>
                <a:cs typeface="Calibri" pitchFamily="34" charset="-120"/>
              </a:rPr>
              <a:t>73,586 interactions · 200 customers</a:t>
            </a:r>
            <a:endParaRPr lang="en-US" sz="700" dirty="0"/>
          </a:p>
        </p:txBody>
      </p:sp>
      <p:sp>
        <p:nvSpPr>
          <p:cNvPr id="17" name="Shape 15"/>
          <p:cNvSpPr/>
          <p:nvPr/>
        </p:nvSpPr>
        <p:spPr>
          <a:xfrm>
            <a:off x="4928616" y="1234440"/>
            <a:ext cx="2194560" cy="1005840"/>
          </a:xfrm>
          <a:prstGeom prst="rect">
            <a:avLst/>
          </a:prstGeom>
          <a:solidFill>
            <a:srgbClr val="FEF2F2"/>
          </a:solidFill>
          <a:ln w="12700">
            <a:solidFill>
              <a:srgbClr val="C0392B"/>
            </a:solidFill>
            <a:prstDash val="solid"/>
          </a:ln>
        </p:spPr>
      </p:sp>
      <p:sp>
        <p:nvSpPr>
          <p:cNvPr id="18" name="Shape 16"/>
          <p:cNvSpPr/>
          <p:nvPr/>
        </p:nvSpPr>
        <p:spPr>
          <a:xfrm>
            <a:off x="4928616" y="1234440"/>
            <a:ext cx="2194560" cy="45720"/>
          </a:xfrm>
          <a:prstGeom prst="rect">
            <a:avLst/>
          </a:prstGeom>
          <a:solidFill>
            <a:srgbClr val="C0392B"/>
          </a:solidFill>
          <a:ln w="12700">
            <a:solidFill>
              <a:srgbClr val="C0392B"/>
            </a:solidFill>
            <a:prstDash val="solid"/>
          </a:ln>
        </p:spPr>
      </p:sp>
      <p:sp>
        <p:nvSpPr>
          <p:cNvPr id="19" name="Text 17"/>
          <p:cNvSpPr/>
          <p:nvPr/>
        </p:nvSpPr>
        <p:spPr>
          <a:xfrm>
            <a:off x="5001768" y="1298448"/>
            <a:ext cx="2048256" cy="438912"/>
          </a:xfrm>
          <a:prstGeom prst="rect">
            <a:avLst/>
          </a:prstGeom>
          <a:noFill/>
          <a:ln/>
        </p:spPr>
        <p:txBody>
          <a:bodyPr wrap="square" rtlCol="0" anchor="ctr"/>
          <a:lstStyle/>
          <a:p>
            <a:pPr algn="ctr" indent="0" marL="0">
              <a:buNone/>
            </a:pPr>
            <a:r>
              <a:rPr lang="en-US" sz="2000" b="1" dirty="0">
                <a:solidFill>
                  <a:srgbClr val="C0392B"/>
                </a:solidFill>
                <a:latin typeface="Calibri" pitchFamily="34" charset="0"/>
                <a:ea typeface="Calibri" pitchFamily="34" charset="-122"/>
                <a:cs typeface="Calibri" pitchFamily="34" charset="-120"/>
              </a:rPr>
              <a:t>$37.2M</a:t>
            </a:r>
            <a:endParaRPr lang="en-US" sz="2000" dirty="0"/>
          </a:p>
        </p:txBody>
      </p:sp>
      <p:sp>
        <p:nvSpPr>
          <p:cNvPr id="20" name="Text 18"/>
          <p:cNvSpPr/>
          <p:nvPr/>
        </p:nvSpPr>
        <p:spPr>
          <a:xfrm>
            <a:off x="5001768" y="1755648"/>
            <a:ext cx="2048256" cy="201168"/>
          </a:xfrm>
          <a:prstGeom prst="rect">
            <a:avLst/>
          </a:prstGeom>
          <a:noFill/>
          <a:ln/>
        </p:spPr>
        <p:txBody>
          <a:bodyPr wrap="square" rtlCol="0" anchor="ctr"/>
          <a:lstStyle/>
          <a:p>
            <a:pPr algn="ctr" indent="0" marL="0">
              <a:buNone/>
            </a:pPr>
            <a:r>
              <a:rPr lang="en-US" sz="750" b="1" spc="100" kern="0" dirty="0">
                <a:solidFill>
                  <a:srgbClr val="0A1628"/>
                </a:solidFill>
                <a:latin typeface="Calibri" pitchFamily="34" charset="0"/>
                <a:ea typeface="Calibri" pitchFamily="34" charset="-122"/>
                <a:cs typeface="Calibri" pitchFamily="34" charset="-120"/>
              </a:rPr>
              <a:t>REVENUE AT RISK</a:t>
            </a:r>
            <a:endParaRPr lang="en-US" sz="750" dirty="0"/>
          </a:p>
        </p:txBody>
      </p:sp>
      <p:sp>
        <p:nvSpPr>
          <p:cNvPr id="21" name="Text 19"/>
          <p:cNvSpPr/>
          <p:nvPr/>
        </p:nvSpPr>
        <p:spPr>
          <a:xfrm>
            <a:off x="5001768" y="1965960"/>
            <a:ext cx="2048256" cy="201168"/>
          </a:xfrm>
          <a:prstGeom prst="rect">
            <a:avLst/>
          </a:prstGeom>
          <a:noFill/>
          <a:ln/>
        </p:spPr>
        <p:txBody>
          <a:bodyPr wrap="square" rtlCol="0" anchor="ctr"/>
          <a:lstStyle/>
          <a:p>
            <a:pPr algn="ctr" indent="0" marL="0">
              <a:buNone/>
            </a:pPr>
            <a:r>
              <a:rPr lang="en-US" sz="700" dirty="0">
                <a:solidFill>
                  <a:srgbClr val="5A6A85"/>
                </a:solidFill>
                <a:latin typeface="Calibri" pitchFamily="34" charset="0"/>
                <a:ea typeface="Calibri" pitchFamily="34" charset="-122"/>
                <a:cs typeface="Calibri" pitchFamily="34" charset="-120"/>
              </a:rPr>
              <a:t>64.6% held by detractors</a:t>
            </a:r>
            <a:endParaRPr lang="en-US" sz="700" dirty="0"/>
          </a:p>
        </p:txBody>
      </p:sp>
      <p:sp>
        <p:nvSpPr>
          <p:cNvPr id="22" name="Shape 20"/>
          <p:cNvSpPr/>
          <p:nvPr/>
        </p:nvSpPr>
        <p:spPr>
          <a:xfrm>
            <a:off x="7232904" y="1234440"/>
            <a:ext cx="2194560" cy="1005840"/>
          </a:xfrm>
          <a:prstGeom prst="rect">
            <a:avLst/>
          </a:prstGeom>
          <a:solidFill>
            <a:srgbClr val="FFFBEB"/>
          </a:solidFill>
          <a:ln w="12700">
            <a:solidFill>
              <a:srgbClr val="D4820A"/>
            </a:solidFill>
            <a:prstDash val="solid"/>
          </a:ln>
        </p:spPr>
      </p:sp>
      <p:sp>
        <p:nvSpPr>
          <p:cNvPr id="23" name="Shape 21"/>
          <p:cNvSpPr/>
          <p:nvPr/>
        </p:nvSpPr>
        <p:spPr>
          <a:xfrm>
            <a:off x="7232904" y="1234440"/>
            <a:ext cx="2194560" cy="45720"/>
          </a:xfrm>
          <a:prstGeom prst="rect">
            <a:avLst/>
          </a:prstGeom>
          <a:solidFill>
            <a:srgbClr val="D4820A"/>
          </a:solidFill>
          <a:ln w="12700">
            <a:solidFill>
              <a:srgbClr val="D4820A"/>
            </a:solidFill>
            <a:prstDash val="solid"/>
          </a:ln>
        </p:spPr>
      </p:sp>
      <p:sp>
        <p:nvSpPr>
          <p:cNvPr id="24" name="Text 22"/>
          <p:cNvSpPr/>
          <p:nvPr/>
        </p:nvSpPr>
        <p:spPr>
          <a:xfrm>
            <a:off x="7306056" y="1298448"/>
            <a:ext cx="2048256" cy="438912"/>
          </a:xfrm>
          <a:prstGeom prst="rect">
            <a:avLst/>
          </a:prstGeom>
          <a:noFill/>
          <a:ln/>
        </p:spPr>
        <p:txBody>
          <a:bodyPr wrap="square" rtlCol="0" anchor="ctr"/>
          <a:lstStyle/>
          <a:p>
            <a:pPr algn="ctr" indent="0" marL="0">
              <a:buNone/>
            </a:pPr>
            <a:r>
              <a:rPr lang="en-US" sz="2000" b="1" dirty="0">
                <a:solidFill>
                  <a:srgbClr val="D4820A"/>
                </a:solidFill>
                <a:latin typeface="Calibri" pitchFamily="34" charset="0"/>
                <a:ea typeface="Calibri" pitchFamily="34" charset="-122"/>
                <a:cs typeface="Calibri" pitchFamily="34" charset="-120"/>
              </a:rPr>
              <a:t>36,870</a:t>
            </a:r>
            <a:endParaRPr lang="en-US" sz="2000" dirty="0"/>
          </a:p>
        </p:txBody>
      </p:sp>
      <p:sp>
        <p:nvSpPr>
          <p:cNvPr id="25" name="Text 23"/>
          <p:cNvSpPr/>
          <p:nvPr/>
        </p:nvSpPr>
        <p:spPr>
          <a:xfrm>
            <a:off x="7306056" y="1755648"/>
            <a:ext cx="2048256" cy="201168"/>
          </a:xfrm>
          <a:prstGeom prst="rect">
            <a:avLst/>
          </a:prstGeom>
          <a:noFill/>
          <a:ln/>
        </p:spPr>
        <p:txBody>
          <a:bodyPr wrap="square" rtlCol="0" anchor="ctr"/>
          <a:lstStyle/>
          <a:p>
            <a:pPr algn="ctr" indent="0" marL="0">
              <a:buNone/>
            </a:pPr>
            <a:r>
              <a:rPr lang="en-US" sz="750" b="1" spc="100" kern="0" dirty="0">
                <a:solidFill>
                  <a:srgbClr val="0A1628"/>
                </a:solidFill>
                <a:latin typeface="Calibri" pitchFamily="34" charset="0"/>
                <a:ea typeface="Calibri" pitchFamily="34" charset="-122"/>
                <a:cs typeface="Calibri" pitchFamily="34" charset="-120"/>
              </a:rPr>
              <a:t>COMPETITOR MENTIONS</a:t>
            </a:r>
            <a:endParaRPr lang="en-US" sz="750" dirty="0"/>
          </a:p>
        </p:txBody>
      </p:sp>
      <p:sp>
        <p:nvSpPr>
          <p:cNvPr id="26" name="Text 24"/>
          <p:cNvSpPr/>
          <p:nvPr/>
        </p:nvSpPr>
        <p:spPr>
          <a:xfrm>
            <a:off x="7306056" y="1965960"/>
            <a:ext cx="2048256" cy="201168"/>
          </a:xfrm>
          <a:prstGeom prst="rect">
            <a:avLst/>
          </a:prstGeom>
          <a:noFill/>
          <a:ln/>
        </p:spPr>
        <p:txBody>
          <a:bodyPr wrap="square" rtlCol="0" anchor="ctr"/>
          <a:lstStyle/>
          <a:p>
            <a:pPr algn="ctr" indent="0" marL="0">
              <a:buNone/>
            </a:pPr>
            <a:r>
              <a:rPr lang="en-US" sz="700" dirty="0">
                <a:solidFill>
                  <a:srgbClr val="5A6A85"/>
                </a:solidFill>
                <a:latin typeface="Calibri" pitchFamily="34" charset="0"/>
                <a:ea typeface="Calibri" pitchFamily="34" charset="-122"/>
                <a:cs typeface="Calibri" pitchFamily="34" charset="-120"/>
              </a:rPr>
              <a:t>50.1% of all interactions</a:t>
            </a:r>
            <a:endParaRPr lang="en-US" sz="700" dirty="0"/>
          </a:p>
        </p:txBody>
      </p:sp>
      <p:sp>
        <p:nvSpPr>
          <p:cNvPr id="27" name="Shape 25"/>
          <p:cNvSpPr/>
          <p:nvPr/>
        </p:nvSpPr>
        <p:spPr>
          <a:xfrm>
            <a:off x="9537192" y="1234440"/>
            <a:ext cx="2194560" cy="1005840"/>
          </a:xfrm>
          <a:prstGeom prst="rect">
            <a:avLst/>
          </a:prstGeom>
          <a:solidFill>
            <a:srgbClr val="C0392B"/>
          </a:solidFill>
          <a:ln w="12700">
            <a:solidFill>
              <a:srgbClr val="C0392B"/>
            </a:solidFill>
            <a:prstDash val="solid"/>
          </a:ln>
        </p:spPr>
      </p:sp>
      <p:sp>
        <p:nvSpPr>
          <p:cNvPr id="28" name="Shape 26"/>
          <p:cNvSpPr/>
          <p:nvPr/>
        </p:nvSpPr>
        <p:spPr>
          <a:xfrm>
            <a:off x="9537192" y="1234440"/>
            <a:ext cx="2194560" cy="45720"/>
          </a:xfrm>
          <a:prstGeom prst="rect">
            <a:avLst/>
          </a:prstGeom>
          <a:solidFill>
            <a:srgbClr val="C0392B"/>
          </a:solidFill>
          <a:ln w="12700">
            <a:solidFill>
              <a:srgbClr val="C0392B"/>
            </a:solidFill>
            <a:prstDash val="solid"/>
          </a:ln>
        </p:spPr>
      </p:sp>
      <p:sp>
        <p:nvSpPr>
          <p:cNvPr id="29" name="Text 27"/>
          <p:cNvSpPr/>
          <p:nvPr/>
        </p:nvSpPr>
        <p:spPr>
          <a:xfrm>
            <a:off x="9610344" y="1298448"/>
            <a:ext cx="2048256" cy="438912"/>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$1,076,419</a:t>
            </a:r>
            <a:endParaRPr lang="en-US" sz="1800" dirty="0"/>
          </a:p>
        </p:txBody>
      </p:sp>
      <p:sp>
        <p:nvSpPr>
          <p:cNvPr id="30" name="Text 28"/>
          <p:cNvSpPr/>
          <p:nvPr/>
        </p:nvSpPr>
        <p:spPr>
          <a:xfrm>
            <a:off x="9610344" y="1755648"/>
            <a:ext cx="2048256" cy="201168"/>
          </a:xfrm>
          <a:prstGeom prst="rect">
            <a:avLst/>
          </a:prstGeom>
          <a:noFill/>
          <a:ln/>
        </p:spPr>
        <p:txBody>
          <a:bodyPr wrap="square" rtlCol="0" anchor="ctr"/>
          <a:lstStyle/>
          <a:p>
            <a:pPr algn="ctr" indent="0" marL="0">
              <a:buNone/>
            </a:pPr>
            <a:r>
              <a:rPr lang="en-US" sz="750" b="1" spc="100" kern="0" dirty="0">
                <a:solidFill>
                  <a:srgbClr val="FFFFFF"/>
                </a:solidFill>
                <a:latin typeface="Calibri" pitchFamily="34" charset="0"/>
                <a:ea typeface="Calibri" pitchFamily="34" charset="-122"/>
                <a:cs typeface="Calibri" pitchFamily="34" charset="-120"/>
              </a:rPr>
              <a:t>POINT OF NO RETURN</a:t>
            </a:r>
            <a:endParaRPr lang="en-US" sz="750" dirty="0"/>
          </a:p>
        </p:txBody>
      </p:sp>
      <p:sp>
        <p:nvSpPr>
          <p:cNvPr id="31" name="Text 29"/>
          <p:cNvSpPr/>
          <p:nvPr/>
        </p:nvSpPr>
        <p:spPr>
          <a:xfrm>
            <a:off x="9610344" y="1965960"/>
            <a:ext cx="2048256" cy="201168"/>
          </a:xfrm>
          <a:prstGeom prst="rect">
            <a:avLst/>
          </a:prstGeom>
          <a:noFill/>
          <a:ln/>
        </p:spPr>
        <p:txBody>
          <a:bodyPr wrap="square" rtlCol="0" anchor="ctr"/>
          <a:lstStyle/>
          <a:p>
            <a:pPr algn="ctr" indent="0" marL="0">
              <a:buNone/>
            </a:pPr>
            <a:r>
              <a:rPr lang="en-US" sz="700" dirty="0">
                <a:solidFill>
                  <a:srgbClr val="FFAAAA"/>
                </a:solidFill>
                <a:latin typeface="Calibri" pitchFamily="34" charset="0"/>
                <a:ea typeface="Calibri" pitchFamily="34" charset="-122"/>
                <a:cs typeface="Calibri" pitchFamily="34" charset="-120"/>
              </a:rPr>
              <a:t>1,410 VIP · Act today</a:t>
            </a:r>
            <a:endParaRPr lang="en-US" sz="700" dirty="0"/>
          </a:p>
        </p:txBody>
      </p:sp>
      <p:sp>
        <p:nvSpPr>
          <p:cNvPr id="32" name="Shape 30"/>
          <p:cNvSpPr/>
          <p:nvPr/>
        </p:nvSpPr>
        <p:spPr>
          <a:xfrm>
            <a:off x="320040" y="2377440"/>
            <a:ext cx="3200400" cy="1463040"/>
          </a:xfrm>
          <a:prstGeom prst="rect">
            <a:avLst/>
          </a:prstGeom>
          <a:solidFill>
            <a:srgbClr val="F0FDF4"/>
          </a:solidFill>
          <a:ln w="12700">
            <a:solidFill>
              <a:srgbClr val="1A6B3A"/>
            </a:solidFill>
            <a:prstDash val="solid"/>
          </a:ln>
        </p:spPr>
      </p:sp>
      <p:sp>
        <p:nvSpPr>
          <p:cNvPr id="33" name="Shape 31"/>
          <p:cNvSpPr/>
          <p:nvPr/>
        </p:nvSpPr>
        <p:spPr>
          <a:xfrm>
            <a:off x="320040" y="2377440"/>
            <a:ext cx="3200400" cy="45720"/>
          </a:xfrm>
          <a:prstGeom prst="rect">
            <a:avLst/>
          </a:prstGeom>
          <a:solidFill>
            <a:srgbClr val="1A6B3A"/>
          </a:solidFill>
          <a:ln w="12700">
            <a:solidFill>
              <a:srgbClr val="1A6B3A"/>
            </a:solidFill>
            <a:prstDash val="solid"/>
          </a:ln>
        </p:spPr>
      </p:sp>
      <p:sp>
        <p:nvSpPr>
          <p:cNvPr id="34" name="Text 32"/>
          <p:cNvSpPr/>
          <p:nvPr/>
        </p:nvSpPr>
        <p:spPr>
          <a:xfrm>
            <a:off x="411480" y="2450592"/>
            <a:ext cx="3017520" cy="228600"/>
          </a:xfrm>
          <a:prstGeom prst="rect">
            <a:avLst/>
          </a:prstGeom>
          <a:noFill/>
          <a:ln/>
        </p:spPr>
        <p:txBody>
          <a:bodyPr wrap="square" rtlCol="0" anchor="ctr"/>
          <a:lstStyle/>
          <a:p>
            <a:pPr algn="ctr" indent="0" marL="0">
              <a:buNone/>
            </a:pPr>
            <a:r>
              <a:rPr lang="en-US" sz="800" b="1" spc="100" kern="0" dirty="0">
                <a:solidFill>
                  <a:srgbClr val="1A6B3A"/>
                </a:solidFill>
                <a:latin typeface="Calibri" pitchFamily="34" charset="0"/>
                <a:ea typeface="Calibri" pitchFamily="34" charset="-122"/>
                <a:cs typeface="Calibri" pitchFamily="34" charset="-120"/>
              </a:rPr>
              <a:t>RECOVERY OPPORTUNITY</a:t>
            </a:r>
            <a:endParaRPr lang="en-US" sz="800" dirty="0"/>
          </a:p>
        </p:txBody>
      </p:sp>
      <p:sp>
        <p:nvSpPr>
          <p:cNvPr id="35" name="Text 33"/>
          <p:cNvSpPr/>
          <p:nvPr/>
        </p:nvSpPr>
        <p:spPr>
          <a:xfrm>
            <a:off x="411480" y="2724912"/>
            <a:ext cx="3017520" cy="502920"/>
          </a:xfrm>
          <a:prstGeom prst="rect">
            <a:avLst/>
          </a:prstGeom>
          <a:noFill/>
          <a:ln/>
        </p:spPr>
        <p:txBody>
          <a:bodyPr wrap="square" rtlCol="0" anchor="ctr"/>
          <a:lstStyle/>
          <a:p>
            <a:pPr algn="ctr" indent="0" marL="0">
              <a:buNone/>
            </a:pPr>
            <a:r>
              <a:rPr lang="en-US" sz="3200" b="1" dirty="0">
                <a:solidFill>
                  <a:srgbClr val="1A6B3A"/>
                </a:solidFill>
                <a:latin typeface="Calibri" pitchFamily="34" charset="0"/>
                <a:ea typeface="Calibri" pitchFamily="34" charset="-122"/>
                <a:cs typeface="Calibri" pitchFamily="34" charset="-120"/>
              </a:rPr>
              <a:t>$633,911</a:t>
            </a:r>
            <a:endParaRPr lang="en-US" sz="3200" dirty="0"/>
          </a:p>
        </p:txBody>
      </p:sp>
      <p:sp>
        <p:nvSpPr>
          <p:cNvPr id="36" name="Text 34"/>
          <p:cNvSpPr/>
          <p:nvPr/>
        </p:nvSpPr>
        <p:spPr>
          <a:xfrm>
            <a:off x="411480" y="3236976"/>
            <a:ext cx="3017520" cy="201168"/>
          </a:xfrm>
          <a:prstGeom prst="rect">
            <a:avLst/>
          </a:prstGeom>
          <a:noFill/>
          <a:ln/>
        </p:spPr>
        <p:txBody>
          <a:bodyPr wrap="square" rtlCol="0" anchor="ctr"/>
          <a:lstStyle/>
          <a:p>
            <a:pPr algn="ctr" indent="0" marL="0">
              <a:buNone/>
            </a:pPr>
            <a:r>
              <a:rPr lang="en-US" sz="900" dirty="0">
                <a:solidFill>
                  <a:srgbClr val="5A6A85"/>
                </a:solidFill>
                <a:latin typeface="Calibri" pitchFamily="34" charset="0"/>
                <a:ea typeface="Calibri" pitchFamily="34" charset="-122"/>
                <a:cs typeface="Calibri" pitchFamily="34" charset="-120"/>
              </a:rPr>
              <a:t>in 30 days</a:t>
            </a:r>
            <a:endParaRPr lang="en-US" sz="900" dirty="0"/>
          </a:p>
        </p:txBody>
      </p:sp>
      <p:sp>
        <p:nvSpPr>
          <p:cNvPr id="37" name="Text 35"/>
          <p:cNvSpPr/>
          <p:nvPr/>
        </p:nvSpPr>
        <p:spPr>
          <a:xfrm>
            <a:off x="411480" y="3474720"/>
            <a:ext cx="3017520" cy="274320"/>
          </a:xfrm>
          <a:prstGeom prst="rect">
            <a:avLst/>
          </a:prstGeom>
          <a:noFill/>
          <a:ln/>
        </p:spPr>
        <p:txBody>
          <a:bodyPr wrap="square" rtlCol="0" anchor="ctr"/>
          <a:lstStyle/>
          <a:p>
            <a:pPr algn="ctr" indent="0" marL="0">
              <a:buNone/>
            </a:pPr>
            <a:r>
              <a:rPr lang="en-US" sz="800" i="1" dirty="0">
                <a:solidFill>
                  <a:srgbClr val="5A6A85"/>
                </a:solidFill>
                <a:latin typeface="Calibri" pitchFamily="34" charset="0"/>
                <a:ea typeface="Calibri" pitchFamily="34" charset="-122"/>
                <a:cs typeface="Calibri" pitchFamily="34" charset="-120"/>
              </a:rPr>
              <a:t>3,195 disengaged VIPs  ·  25% conservative conversion  ·  Never angry — just ignored</a:t>
            </a:r>
            <a:endParaRPr lang="en-US" sz="800" dirty="0"/>
          </a:p>
        </p:txBody>
      </p:sp>
      <p:sp>
        <p:nvSpPr>
          <p:cNvPr id="38" name="Shape 36"/>
          <p:cNvSpPr/>
          <p:nvPr/>
        </p:nvSpPr>
        <p:spPr>
          <a:xfrm>
            <a:off x="3749040" y="2377440"/>
            <a:ext cx="8229600" cy="822960"/>
          </a:xfrm>
          <a:prstGeom prst="rect">
            <a:avLst/>
          </a:prstGeom>
          <a:solidFill>
            <a:srgbClr val="F0F4F8"/>
          </a:solidFill>
          <a:ln w="12700">
            <a:solidFill>
              <a:srgbClr val="D0D8E8"/>
            </a:solidFill>
            <a:prstDash val="solid"/>
          </a:ln>
        </p:spPr>
      </p:sp>
      <p:sp>
        <p:nvSpPr>
          <p:cNvPr id="39" name="Shape 37"/>
          <p:cNvSpPr/>
          <p:nvPr/>
        </p:nvSpPr>
        <p:spPr>
          <a:xfrm>
            <a:off x="3749040" y="2377440"/>
            <a:ext cx="54864" cy="822960"/>
          </a:xfrm>
          <a:prstGeom prst="rect">
            <a:avLst/>
          </a:prstGeom>
          <a:solidFill>
            <a:srgbClr val="C0392B"/>
          </a:solidFill>
          <a:ln w="12700">
            <a:solidFill>
              <a:srgbClr val="C0392B"/>
            </a:solidFill>
            <a:prstDash val="solid"/>
          </a:ln>
        </p:spPr>
      </p:sp>
      <p:sp>
        <p:nvSpPr>
          <p:cNvPr id="40" name="Text 38"/>
          <p:cNvSpPr/>
          <p:nvPr/>
        </p:nvSpPr>
        <p:spPr>
          <a:xfrm>
            <a:off x="3931920" y="2450592"/>
            <a:ext cx="7955280" cy="713232"/>
          </a:xfrm>
          <a:prstGeom prst="rect">
            <a:avLst/>
          </a:prstGeom>
          <a:noFill/>
          <a:ln/>
        </p:spPr>
        <p:txBody>
          <a:bodyPr wrap="square" rtlCol="0" anchor="ctr"/>
          <a:lstStyle/>
          <a:p>
            <a:pPr indent="0" marL="0">
              <a:buNone/>
            </a:pPr>
            <a:r>
              <a:rPr lang="en-US" sz="950" dirty="0">
                <a:solidFill>
                  <a:srgbClr val="2A2820"/>
                </a:solidFill>
                <a:latin typeface="Calibri" pitchFamily="34" charset="0"/>
                <a:ea typeface="Calibri" pitchFamily="34" charset="-122"/>
                <a:cs typeface="Calibri" pitchFamily="34" charset="-120"/>
              </a:rPr>
              <a:t>AfriTech's NPS of −46.23 is 76 to 96 points below the industry benchmark of +40 to +55. $37.2M — 64.6% of total revenue — is held by detractor customers. The VIP segment carries the worst NPS of all three groups at −47. Crisis resolution stands at 47.59% against an industry benchmark of 80% — a 32.4 point gap. Every unresolved crisis is a pipeline into the detractor pool.</a:t>
            </a:r>
            <a:endParaRPr lang="en-US" sz="950" dirty="0"/>
          </a:p>
        </p:txBody>
      </p:sp>
      <p:sp>
        <p:nvSpPr>
          <p:cNvPr id="41" name="Shape 39"/>
          <p:cNvSpPr/>
          <p:nvPr/>
        </p:nvSpPr>
        <p:spPr>
          <a:xfrm>
            <a:off x="3749040" y="3310128"/>
            <a:ext cx="8229600" cy="777240"/>
          </a:xfrm>
          <a:prstGeom prst="rect">
            <a:avLst/>
          </a:prstGeom>
          <a:solidFill>
            <a:srgbClr val="FEF2F2"/>
          </a:solidFill>
          <a:ln w="12700">
            <a:solidFill>
              <a:srgbClr val="C0392B"/>
            </a:solidFill>
            <a:prstDash val="solid"/>
          </a:ln>
        </p:spPr>
      </p:sp>
      <p:sp>
        <p:nvSpPr>
          <p:cNvPr id="42" name="Shape 40"/>
          <p:cNvSpPr/>
          <p:nvPr/>
        </p:nvSpPr>
        <p:spPr>
          <a:xfrm>
            <a:off x="3749040" y="3310128"/>
            <a:ext cx="54864" cy="777240"/>
          </a:xfrm>
          <a:prstGeom prst="rect">
            <a:avLst/>
          </a:prstGeom>
          <a:solidFill>
            <a:srgbClr val="C0392B"/>
          </a:solidFill>
          <a:ln w="12700">
            <a:solidFill>
              <a:srgbClr val="C0392B"/>
            </a:solidFill>
            <a:prstDash val="solid"/>
          </a:ln>
        </p:spPr>
      </p:sp>
      <p:sp>
        <p:nvSpPr>
          <p:cNvPr id="43" name="Text 41"/>
          <p:cNvSpPr/>
          <p:nvPr/>
        </p:nvSpPr>
        <p:spPr>
          <a:xfrm>
            <a:off x="3931920" y="3383280"/>
            <a:ext cx="1371600" cy="228600"/>
          </a:xfrm>
          <a:prstGeom prst="rect">
            <a:avLst/>
          </a:prstGeom>
          <a:noFill/>
          <a:ln/>
        </p:spPr>
        <p:txBody>
          <a:bodyPr wrap="square" rtlCol="0" anchor="ctr"/>
          <a:lstStyle/>
          <a:p>
            <a:pPr indent="0" marL="0">
              <a:buNone/>
            </a:pPr>
            <a:r>
              <a:rPr lang="en-US" sz="900" b="1" dirty="0">
                <a:solidFill>
                  <a:srgbClr val="C0392B"/>
                </a:solidFill>
                <a:latin typeface="Calibri" pitchFamily="34" charset="0"/>
                <a:ea typeface="Calibri" pitchFamily="34" charset="-122"/>
                <a:cs typeface="Calibri" pitchFamily="34" charset="-120"/>
              </a:rPr>
              <a:t>KEY FINDING:</a:t>
            </a:r>
            <a:endParaRPr lang="en-US" sz="900" dirty="0"/>
          </a:p>
        </p:txBody>
      </p:sp>
      <p:sp>
        <p:nvSpPr>
          <p:cNvPr id="44" name="Text 42"/>
          <p:cNvSpPr/>
          <p:nvPr/>
        </p:nvSpPr>
        <p:spPr>
          <a:xfrm>
            <a:off x="5349240" y="3364992"/>
            <a:ext cx="6492240" cy="667512"/>
          </a:xfrm>
          <a:prstGeom prst="rect">
            <a:avLst/>
          </a:prstGeom>
          <a:noFill/>
          <a:ln/>
        </p:spPr>
        <p:txBody>
          <a:bodyPr wrap="square" rtlCol="0" anchor="ctr"/>
          <a:lstStyle/>
          <a:p>
            <a:pPr indent="0" marL="0">
              <a:buNone/>
            </a:pPr>
            <a:r>
              <a:rPr lang="en-US" sz="950" dirty="0">
                <a:solidFill>
                  <a:srgbClr val="2A2820"/>
                </a:solidFill>
                <a:latin typeface="Calibri" pitchFamily="34" charset="0"/>
                <a:ea typeface="Calibri" pitchFamily="34" charset="-122"/>
                <a:cs typeface="Calibri" pitchFamily="34" charset="-120"/>
              </a:rPr>
              <a:t>1,410 VIP customers are not simply dissatisfied — they are in active conversations with AfriTech's competitors right now. $1,076,419 is in transition. Every day without intervention is a day that revenue converts from at-risk to permanently lost.</a:t>
            </a:r>
            <a:endParaRPr lang="en-US" sz="950" dirty="0"/>
          </a:p>
        </p:txBody>
      </p:sp>
      <p:sp>
        <p:nvSpPr>
          <p:cNvPr id="45" name="Shape 43"/>
          <p:cNvSpPr/>
          <p:nvPr/>
        </p:nvSpPr>
        <p:spPr>
          <a:xfrm>
            <a:off x="320040" y="4206240"/>
            <a:ext cx="11658600" cy="457200"/>
          </a:xfrm>
          <a:prstGeom prst="rect">
            <a:avLst/>
          </a:prstGeom>
          <a:solidFill>
            <a:srgbClr val="0A1628"/>
          </a:solidFill>
          <a:ln w="12700">
            <a:solidFill>
              <a:srgbClr val="0A1628"/>
            </a:solidFill>
            <a:prstDash val="solid"/>
          </a:ln>
        </p:spPr>
      </p:sp>
      <p:sp>
        <p:nvSpPr>
          <p:cNvPr id="46" name="Text 44"/>
          <p:cNvSpPr/>
          <p:nvPr/>
        </p:nvSpPr>
        <p:spPr>
          <a:xfrm>
            <a:off x="502920" y="4279392"/>
            <a:ext cx="5486400" cy="29260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The constraint is no longer insight.</a:t>
            </a:r>
            <a:endParaRPr lang="en-US" sz="1300" dirty="0"/>
          </a:p>
        </p:txBody>
      </p:sp>
      <p:sp>
        <p:nvSpPr>
          <p:cNvPr id="47" name="Text 45"/>
          <p:cNvSpPr/>
          <p:nvPr/>
        </p:nvSpPr>
        <p:spPr>
          <a:xfrm>
            <a:off x="6035040" y="4279392"/>
            <a:ext cx="5486400" cy="292608"/>
          </a:xfrm>
          <a:prstGeom prst="rect">
            <a:avLst/>
          </a:prstGeom>
          <a:noFill/>
          <a:ln/>
        </p:spPr>
        <p:txBody>
          <a:bodyPr wrap="square" rtlCol="0" anchor="ctr"/>
          <a:lstStyle/>
          <a:p>
            <a:pPr indent="0" marL="0">
              <a:buNone/>
            </a:pPr>
            <a:r>
              <a:rPr lang="en-US" sz="1300" b="1" dirty="0">
                <a:solidFill>
                  <a:srgbClr val="C8A84B"/>
                </a:solidFill>
                <a:latin typeface="Calibri" pitchFamily="34" charset="0"/>
                <a:ea typeface="Calibri" pitchFamily="34" charset="-122"/>
                <a:cs typeface="Calibri" pitchFamily="34" charset="-120"/>
              </a:rPr>
              <a:t>It is execution.</a:t>
            </a:r>
            <a:endParaRPr lang="en-US" sz="1300" dirty="0"/>
          </a:p>
        </p:txBody>
      </p:sp>
      <p:sp>
        <p:nvSpPr>
          <p:cNvPr id="48" name="Shape 46"/>
          <p:cNvSpPr/>
          <p:nvPr/>
        </p:nvSpPr>
        <p:spPr>
          <a:xfrm>
            <a:off x="0" y="6537960"/>
            <a:ext cx="12161520" cy="320040"/>
          </a:xfrm>
          <a:prstGeom prst="rect">
            <a:avLst/>
          </a:prstGeom>
          <a:solidFill>
            <a:srgbClr val="0A1628"/>
          </a:solidFill>
          <a:ln w="12700">
            <a:solidFill>
              <a:srgbClr val="0A1628"/>
            </a:solidFill>
            <a:prstDash val="solid"/>
          </a:ln>
        </p:spPr>
      </p:sp>
      <p:sp>
        <p:nvSpPr>
          <p:cNvPr id="49" name="Text 47"/>
          <p:cNvSpPr/>
          <p:nvPr/>
        </p:nvSpPr>
        <p:spPr>
          <a:xfrm>
            <a:off x="365760" y="6565392"/>
            <a:ext cx="9144000" cy="256032"/>
          </a:xfrm>
          <a:prstGeom prst="rect">
            <a:avLst/>
          </a:prstGeom>
          <a:noFill/>
          <a:ln/>
        </p:spPr>
        <p:txBody>
          <a:bodyPr wrap="square" rtlCol="0" anchor="ctr"/>
          <a:lstStyle/>
          <a:p>
            <a:pPr indent="0" marL="0">
              <a:buNone/>
            </a:pPr>
            <a:r>
              <a:rPr lang="en-US" sz="750" dirty="0">
                <a:solidFill>
                  <a:srgbClr val="8899BB"/>
                </a:solidFill>
                <a:latin typeface="Calibri" pitchFamily="34" charset="0"/>
                <a:ea typeface="Calibri" pitchFamily="34" charset="-122"/>
                <a:cs typeface="Calibri" pitchFamily="34" charset="-120"/>
              </a:rPr>
              <a:t>Samuel Ahinakwa  |  Finance &amp; Analytics Professional  |  BSc · MSc · ICAG Finalist  |  Confidential</a:t>
            </a:r>
            <a:endParaRPr lang="en-US" sz="750" dirty="0"/>
          </a:p>
        </p:txBody>
      </p:sp>
      <p:sp>
        <p:nvSpPr>
          <p:cNvPr id="50" name="Text 48"/>
          <p:cNvSpPr/>
          <p:nvPr/>
        </p:nvSpPr>
        <p:spPr>
          <a:xfrm>
            <a:off x="11338560" y="6565392"/>
            <a:ext cx="731520" cy="256032"/>
          </a:xfrm>
          <a:prstGeom prst="rect">
            <a:avLst/>
          </a:prstGeom>
          <a:noFill/>
          <a:ln/>
        </p:spPr>
        <p:txBody>
          <a:bodyPr wrap="square" rtlCol="0" anchor="ctr"/>
          <a:lstStyle/>
          <a:p>
            <a:pPr algn="r" indent="0" marL="0">
              <a:buNone/>
            </a:pPr>
            <a:r>
              <a:rPr lang="en-US" sz="800" dirty="0">
                <a:solidFill>
                  <a:srgbClr val="C8A84B"/>
                </a:solidFill>
                <a:latin typeface="Calibri" pitchFamily="34" charset="0"/>
                <a:ea typeface="Calibri" pitchFamily="34" charset="-122"/>
                <a:cs typeface="Calibri" pitchFamily="34" charset="-120"/>
              </a:rPr>
              <a:t>2 / 26</a:t>
            </a:r>
            <a:endParaRPr lang="en-US" sz="800" dirty="0"/>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1051560"/>
          </a:xfrm>
          <a:prstGeom prst="rect">
            <a:avLst/>
          </a:prstGeom>
          <a:solidFill>
            <a:srgbClr val="0A1628"/>
          </a:solidFill>
          <a:ln w="12700">
            <a:solidFill>
              <a:srgbClr val="0A1628"/>
            </a:solidFill>
            <a:prstDash val="solid"/>
          </a:ln>
        </p:spPr>
      </p:sp>
      <p:sp>
        <p:nvSpPr>
          <p:cNvPr id="3" name="Shape 1"/>
          <p:cNvSpPr/>
          <p:nvPr/>
        </p:nvSpPr>
        <p:spPr>
          <a:xfrm>
            <a:off x="0" y="1051560"/>
            <a:ext cx="12161520" cy="36576"/>
          </a:xfrm>
          <a:prstGeom prst="rect">
            <a:avLst/>
          </a:prstGeom>
          <a:solidFill>
            <a:srgbClr val="C8A84B"/>
          </a:solidFill>
          <a:ln w="12700">
            <a:solidFill>
              <a:srgbClr val="C8A84B"/>
            </a:solidFill>
            <a:prstDash val="solid"/>
          </a:ln>
        </p:spPr>
      </p:sp>
      <p:sp>
        <p:nvSpPr>
          <p:cNvPr id="4" name="Text 2"/>
          <p:cNvSpPr/>
          <p:nvPr/>
        </p:nvSpPr>
        <p:spPr>
          <a:xfrm>
            <a:off x="365760" y="64008"/>
            <a:ext cx="4572000" cy="228600"/>
          </a:xfrm>
          <a:prstGeom prst="rect">
            <a:avLst/>
          </a:prstGeom>
          <a:noFill/>
          <a:ln/>
        </p:spPr>
        <p:txBody>
          <a:bodyPr wrap="square" rtlCol="0" anchor="ctr"/>
          <a:lstStyle/>
          <a:p>
            <a:pPr indent="0" marL="0">
              <a:buNone/>
            </a:pPr>
            <a:r>
              <a:rPr lang="en-US" sz="800" b="1" spc="200" kern="0" dirty="0">
                <a:solidFill>
                  <a:srgbClr val="C8A84B"/>
                </a:solidFill>
                <a:latin typeface="Calibri" pitchFamily="34" charset="0"/>
                <a:ea typeface="Calibri" pitchFamily="34" charset="-122"/>
                <a:cs typeface="Calibri" pitchFamily="34" charset="-120"/>
              </a:rPr>
              <a:t>THE BUSINESS PROBLEM</a:t>
            </a:r>
            <a:endParaRPr lang="en-US" sz="800" dirty="0"/>
          </a:p>
        </p:txBody>
      </p:sp>
      <p:sp>
        <p:nvSpPr>
          <p:cNvPr id="5" name="Text 3"/>
          <p:cNvSpPr/>
          <p:nvPr/>
        </p:nvSpPr>
        <p:spPr>
          <a:xfrm>
            <a:off x="365760" y="256032"/>
            <a:ext cx="9601200" cy="566928"/>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Why AfriTech Is Losing Customer Trust — And What It Is Costing</a:t>
            </a:r>
            <a:endParaRPr lang="en-US" sz="2600" dirty="0"/>
          </a:p>
        </p:txBody>
      </p:sp>
      <p:sp>
        <p:nvSpPr>
          <p:cNvPr id="6" name="Text 4"/>
          <p:cNvSpPr/>
          <p:nvPr/>
        </p:nvSpPr>
        <p:spPr>
          <a:xfrm>
            <a:off x="365760" y="795528"/>
            <a:ext cx="10058400" cy="228600"/>
          </a:xfrm>
          <a:prstGeom prst="rect">
            <a:avLst/>
          </a:prstGeom>
          <a:noFill/>
          <a:ln/>
        </p:spPr>
        <p:txBody>
          <a:bodyPr wrap="square" rtlCol="0" anchor="ctr"/>
          <a:lstStyle/>
          <a:p>
            <a:pPr indent="0" marL="0">
              <a:buNone/>
            </a:pPr>
            <a:r>
              <a:rPr lang="en-US" sz="1050" i="1" dirty="0">
                <a:solidFill>
                  <a:srgbClr val="8899BB"/>
                </a:solidFill>
                <a:latin typeface="Calibri" pitchFamily="34" charset="0"/>
                <a:ea typeface="Calibri" pitchFamily="34" charset="-122"/>
                <a:cs typeface="Calibri" pitchFamily="34" charset="-120"/>
              </a:rPr>
              <a:t>Three failures. One financial cascade.</a:t>
            </a:r>
            <a:endParaRPr lang="en-US" sz="1050" dirty="0"/>
          </a:p>
        </p:txBody>
      </p:sp>
      <p:sp>
        <p:nvSpPr>
          <p:cNvPr id="7" name="Shape 5"/>
          <p:cNvSpPr/>
          <p:nvPr/>
        </p:nvSpPr>
        <p:spPr>
          <a:xfrm>
            <a:off x="320040" y="1234440"/>
            <a:ext cx="3657600" cy="2011680"/>
          </a:xfrm>
          <a:prstGeom prst="rect">
            <a:avLst/>
          </a:prstGeom>
          <a:solidFill>
            <a:srgbClr val="FEF2F2"/>
          </a:solidFill>
          <a:ln w="12700">
            <a:solidFill>
              <a:srgbClr val="C0392B"/>
            </a:solidFill>
            <a:prstDash val="solid"/>
          </a:ln>
        </p:spPr>
      </p:sp>
      <p:sp>
        <p:nvSpPr>
          <p:cNvPr id="8" name="Shape 6"/>
          <p:cNvSpPr/>
          <p:nvPr/>
        </p:nvSpPr>
        <p:spPr>
          <a:xfrm>
            <a:off x="320040" y="1234440"/>
            <a:ext cx="3657600" cy="45720"/>
          </a:xfrm>
          <a:prstGeom prst="rect">
            <a:avLst/>
          </a:prstGeom>
          <a:solidFill>
            <a:srgbClr val="C0392B"/>
          </a:solidFill>
          <a:ln w="12700">
            <a:solidFill>
              <a:srgbClr val="C0392B"/>
            </a:solidFill>
            <a:prstDash val="solid"/>
          </a:ln>
        </p:spPr>
      </p:sp>
      <p:sp>
        <p:nvSpPr>
          <p:cNvPr id="9" name="Text 7"/>
          <p:cNvSpPr/>
          <p:nvPr/>
        </p:nvSpPr>
        <p:spPr>
          <a:xfrm>
            <a:off x="457200" y="1307592"/>
            <a:ext cx="457200" cy="274320"/>
          </a:xfrm>
          <a:prstGeom prst="rect">
            <a:avLst/>
          </a:prstGeom>
          <a:noFill/>
          <a:ln/>
        </p:spPr>
        <p:txBody>
          <a:bodyPr wrap="square" rtlCol="0" anchor="ctr"/>
          <a:lstStyle/>
          <a:p>
            <a:pPr indent="0" marL="0">
              <a:buNone/>
            </a:pPr>
            <a:r>
              <a:rPr lang="en-US" sz="1400" b="1" dirty="0">
                <a:solidFill>
                  <a:srgbClr val="C0392B"/>
                </a:solidFill>
                <a:latin typeface="Calibri" pitchFamily="34" charset="0"/>
                <a:ea typeface="Calibri" pitchFamily="34" charset="-122"/>
                <a:cs typeface="Calibri" pitchFamily="34" charset="-120"/>
              </a:rPr>
              <a:t>01</a:t>
            </a:r>
            <a:endParaRPr lang="en-US" sz="1400" dirty="0"/>
          </a:p>
        </p:txBody>
      </p:sp>
      <p:sp>
        <p:nvSpPr>
          <p:cNvPr id="10" name="Text 8"/>
          <p:cNvSpPr/>
          <p:nvPr/>
        </p:nvSpPr>
        <p:spPr>
          <a:xfrm>
            <a:off x="960120" y="1307592"/>
            <a:ext cx="2834640" cy="274320"/>
          </a:xfrm>
          <a:prstGeom prst="rect">
            <a:avLst/>
          </a:prstGeom>
          <a:noFill/>
          <a:ln/>
        </p:spPr>
        <p:txBody>
          <a:bodyPr wrap="square" rtlCol="0" anchor="ctr"/>
          <a:lstStyle/>
          <a:p>
            <a:pPr indent="0" marL="0">
              <a:buNone/>
            </a:pPr>
            <a:r>
              <a:rPr lang="en-US" sz="1200" b="1" dirty="0">
                <a:solidFill>
                  <a:srgbClr val="0A1628"/>
                </a:solidFill>
                <a:latin typeface="Calibri" pitchFamily="34" charset="0"/>
                <a:ea typeface="Calibri" pitchFamily="34" charset="-122"/>
                <a:cs typeface="Calibri" pitchFamily="34" charset="-120"/>
              </a:rPr>
              <a:t>Sentiment Collapse</a:t>
            </a:r>
            <a:endParaRPr lang="en-US" sz="1200" dirty="0"/>
          </a:p>
        </p:txBody>
      </p:sp>
      <p:sp>
        <p:nvSpPr>
          <p:cNvPr id="11" name="Text 9"/>
          <p:cNvSpPr/>
          <p:nvPr/>
        </p:nvSpPr>
        <p:spPr>
          <a:xfrm>
            <a:off x="457200" y="1691640"/>
            <a:ext cx="3383280" cy="1463040"/>
          </a:xfrm>
          <a:prstGeom prst="rect">
            <a:avLst/>
          </a:prstGeom>
          <a:noFill/>
          <a:ln/>
        </p:spPr>
        <p:txBody>
          <a:bodyPr wrap="square" rtlCol="0" anchor="ctr"/>
          <a:lstStyle/>
          <a:p>
            <a:pPr indent="0" marL="0">
              <a:buNone/>
            </a:pPr>
            <a:r>
              <a:rPr lang="en-US" sz="950" i="1" dirty="0">
                <a:solidFill>
                  <a:srgbClr val="2A2820"/>
                </a:solidFill>
                <a:latin typeface="Calibri" pitchFamily="34" charset="0"/>
                <a:ea typeface="Calibri" pitchFamily="34" charset="-122"/>
                <a:cs typeface="Calibri" pitchFamily="34" charset="-120"/>
              </a:rPr>
              <a:t>New: −43  ·  Returning: −46  ·  VIP: −47</a:t>
            </a:r>
            <a:endParaRPr lang="en-US" sz="950" dirty="0"/>
          </a:p>
          <a:p>
            <a:pPr indent="0" marL="0">
              <a:buNone/>
            </a:pPr>
            <a:r>
              <a:rPr lang="en-US" sz="950" i="1" dirty="0">
                <a:solidFill>
                  <a:srgbClr val="2A2820"/>
                </a:solidFill>
                <a:latin typeface="Calibri" pitchFamily="34" charset="0"/>
                <a:ea typeface="Calibri" pitchFamily="34" charset="-122"/>
                <a:cs typeface="Calibri" pitchFamily="34" charset="-120"/>
              </a:rPr>
              <a:t>The longer customers stay the more dissatisfied they become.</a:t>
            </a:r>
            <a:endParaRPr lang="en-US" sz="950" dirty="0"/>
          </a:p>
          <a:p>
            <a:pPr indent="0" marL="0">
              <a:buNone/>
            </a:pPr>
            <a:r>
              <a:rPr lang="en-US" sz="950" i="1" dirty="0">
                <a:solidFill>
                  <a:srgbClr val="2A2820"/>
                </a:solidFill>
                <a:latin typeface="Calibri" pitchFamily="34" charset="0"/>
                <a:ea typeface="Calibri" pitchFamily="34" charset="-122"/>
                <a:cs typeface="Calibri" pitchFamily="34" charset="-120"/>
              </a:rPr>
              <a:t>A trust failure — not a product failure.</a:t>
            </a:r>
            <a:endParaRPr lang="en-US" sz="950" dirty="0"/>
          </a:p>
        </p:txBody>
      </p:sp>
      <p:sp>
        <p:nvSpPr>
          <p:cNvPr id="12" name="Shape 10"/>
          <p:cNvSpPr/>
          <p:nvPr/>
        </p:nvSpPr>
        <p:spPr>
          <a:xfrm>
            <a:off x="4251960" y="1234440"/>
            <a:ext cx="3657600" cy="2011680"/>
          </a:xfrm>
          <a:prstGeom prst="rect">
            <a:avLst/>
          </a:prstGeom>
          <a:solidFill>
            <a:srgbClr val="FFFBEB"/>
          </a:solidFill>
          <a:ln w="12700">
            <a:solidFill>
              <a:srgbClr val="D4820A"/>
            </a:solidFill>
            <a:prstDash val="solid"/>
          </a:ln>
        </p:spPr>
      </p:sp>
      <p:sp>
        <p:nvSpPr>
          <p:cNvPr id="13" name="Shape 11"/>
          <p:cNvSpPr/>
          <p:nvPr/>
        </p:nvSpPr>
        <p:spPr>
          <a:xfrm>
            <a:off x="4251960" y="1234440"/>
            <a:ext cx="3657600" cy="45720"/>
          </a:xfrm>
          <a:prstGeom prst="rect">
            <a:avLst/>
          </a:prstGeom>
          <a:solidFill>
            <a:srgbClr val="D4820A"/>
          </a:solidFill>
          <a:ln w="12700">
            <a:solidFill>
              <a:srgbClr val="D4820A"/>
            </a:solidFill>
            <a:prstDash val="solid"/>
          </a:ln>
        </p:spPr>
      </p:sp>
      <p:sp>
        <p:nvSpPr>
          <p:cNvPr id="14" name="Text 12"/>
          <p:cNvSpPr/>
          <p:nvPr/>
        </p:nvSpPr>
        <p:spPr>
          <a:xfrm>
            <a:off x="4389120" y="1307592"/>
            <a:ext cx="457200" cy="274320"/>
          </a:xfrm>
          <a:prstGeom prst="rect">
            <a:avLst/>
          </a:prstGeom>
          <a:noFill/>
          <a:ln/>
        </p:spPr>
        <p:txBody>
          <a:bodyPr wrap="square" rtlCol="0" anchor="ctr"/>
          <a:lstStyle/>
          <a:p>
            <a:pPr indent="0" marL="0">
              <a:buNone/>
            </a:pPr>
            <a:r>
              <a:rPr lang="en-US" sz="1400" b="1" dirty="0">
                <a:solidFill>
                  <a:srgbClr val="D4820A"/>
                </a:solidFill>
                <a:latin typeface="Calibri" pitchFamily="34" charset="0"/>
                <a:ea typeface="Calibri" pitchFamily="34" charset="-122"/>
                <a:cs typeface="Calibri" pitchFamily="34" charset="-120"/>
              </a:rPr>
              <a:t>02</a:t>
            </a:r>
            <a:endParaRPr lang="en-US" sz="1400" dirty="0"/>
          </a:p>
        </p:txBody>
      </p:sp>
      <p:sp>
        <p:nvSpPr>
          <p:cNvPr id="15" name="Text 13"/>
          <p:cNvSpPr/>
          <p:nvPr/>
        </p:nvSpPr>
        <p:spPr>
          <a:xfrm>
            <a:off x="4892040" y="1307592"/>
            <a:ext cx="2834640" cy="274320"/>
          </a:xfrm>
          <a:prstGeom prst="rect">
            <a:avLst/>
          </a:prstGeom>
          <a:noFill/>
          <a:ln/>
        </p:spPr>
        <p:txBody>
          <a:bodyPr wrap="square" rtlCol="0" anchor="ctr"/>
          <a:lstStyle/>
          <a:p>
            <a:pPr indent="0" marL="0">
              <a:buNone/>
            </a:pPr>
            <a:r>
              <a:rPr lang="en-US" sz="1200" b="1" dirty="0">
                <a:solidFill>
                  <a:srgbClr val="0A1628"/>
                </a:solidFill>
                <a:latin typeface="Calibri" pitchFamily="34" charset="0"/>
                <a:ea typeface="Calibri" pitchFamily="34" charset="-122"/>
                <a:cs typeface="Calibri" pitchFamily="34" charset="-120"/>
              </a:rPr>
              <a:t>Crisis Unresolved</a:t>
            </a:r>
            <a:endParaRPr lang="en-US" sz="1200" dirty="0"/>
          </a:p>
        </p:txBody>
      </p:sp>
      <p:sp>
        <p:nvSpPr>
          <p:cNvPr id="16" name="Text 14"/>
          <p:cNvSpPr/>
          <p:nvPr/>
        </p:nvSpPr>
        <p:spPr>
          <a:xfrm>
            <a:off x="4389120" y="1691640"/>
            <a:ext cx="3383280" cy="1463040"/>
          </a:xfrm>
          <a:prstGeom prst="rect">
            <a:avLst/>
          </a:prstGeom>
          <a:noFill/>
          <a:ln/>
        </p:spPr>
        <p:txBody>
          <a:bodyPr wrap="square" rtlCol="0" anchor="ctr"/>
          <a:lstStyle/>
          <a:p>
            <a:pPr indent="0" marL="0">
              <a:buNone/>
            </a:pPr>
            <a:r>
              <a:rPr lang="en-US" sz="950" i="1" dirty="0">
                <a:solidFill>
                  <a:srgbClr val="2A2820"/>
                </a:solidFill>
                <a:latin typeface="Calibri" pitchFamily="34" charset="0"/>
                <a:ea typeface="Calibri" pitchFamily="34" charset="-122"/>
                <a:cs typeface="Calibri" pitchFamily="34" charset="-120"/>
              </a:rPr>
              <a:t>47.59% resolution vs 80% industry benchmark.</a:t>
            </a:r>
            <a:endParaRPr lang="en-US" sz="950" dirty="0"/>
          </a:p>
          <a:p>
            <a:pPr indent="0" marL="0">
              <a:buNone/>
            </a:pPr>
            <a:r>
              <a:rPr lang="en-US" sz="950" i="1" dirty="0">
                <a:solidFill>
                  <a:srgbClr val="2A2820"/>
                </a:solidFill>
                <a:latin typeface="Calibri" pitchFamily="34" charset="0"/>
                <a:ea typeface="Calibri" pitchFamily="34" charset="-122"/>
                <a:cs typeface="Calibri" pitchFamily="34" charset="-120"/>
              </a:rPr>
              <a:t>For every 10 crises 5+ go unresolved.</a:t>
            </a:r>
            <a:endParaRPr lang="en-US" sz="950" dirty="0"/>
          </a:p>
          <a:p>
            <a:pPr indent="0" marL="0">
              <a:buNone/>
            </a:pPr>
            <a:r>
              <a:rPr lang="en-US" sz="950" i="1" dirty="0">
                <a:solidFill>
                  <a:srgbClr val="2A2820"/>
                </a:solidFill>
                <a:latin typeface="Calibri" pitchFamily="34" charset="0"/>
                <a:ea typeface="Calibri" pitchFamily="34" charset="-122"/>
                <a:cs typeface="Calibri" pitchFamily="34" charset="-120"/>
              </a:rPr>
              <a:t>Unresolved = Detractor. Detractor = Revenue at Risk.</a:t>
            </a:r>
            <a:endParaRPr lang="en-US" sz="950" dirty="0"/>
          </a:p>
        </p:txBody>
      </p:sp>
      <p:sp>
        <p:nvSpPr>
          <p:cNvPr id="17" name="Shape 15"/>
          <p:cNvSpPr/>
          <p:nvPr/>
        </p:nvSpPr>
        <p:spPr>
          <a:xfrm>
            <a:off x="8183880" y="1234440"/>
            <a:ext cx="3657600" cy="2011680"/>
          </a:xfrm>
          <a:prstGeom prst="rect">
            <a:avLst/>
          </a:prstGeom>
          <a:solidFill>
            <a:srgbClr val="FEF2F2"/>
          </a:solidFill>
          <a:ln w="12700">
            <a:solidFill>
              <a:srgbClr val="C0392B"/>
            </a:solidFill>
            <a:prstDash val="solid"/>
          </a:ln>
        </p:spPr>
      </p:sp>
      <p:sp>
        <p:nvSpPr>
          <p:cNvPr id="18" name="Shape 16"/>
          <p:cNvSpPr/>
          <p:nvPr/>
        </p:nvSpPr>
        <p:spPr>
          <a:xfrm>
            <a:off x="8183880" y="1234440"/>
            <a:ext cx="3657600" cy="45720"/>
          </a:xfrm>
          <a:prstGeom prst="rect">
            <a:avLst/>
          </a:prstGeom>
          <a:solidFill>
            <a:srgbClr val="C0392B"/>
          </a:solidFill>
          <a:ln w="12700">
            <a:solidFill>
              <a:srgbClr val="C0392B"/>
            </a:solidFill>
            <a:prstDash val="solid"/>
          </a:ln>
        </p:spPr>
      </p:sp>
      <p:sp>
        <p:nvSpPr>
          <p:cNvPr id="19" name="Text 17"/>
          <p:cNvSpPr/>
          <p:nvPr/>
        </p:nvSpPr>
        <p:spPr>
          <a:xfrm>
            <a:off x="8321040" y="1307592"/>
            <a:ext cx="457200" cy="274320"/>
          </a:xfrm>
          <a:prstGeom prst="rect">
            <a:avLst/>
          </a:prstGeom>
          <a:noFill/>
          <a:ln/>
        </p:spPr>
        <p:txBody>
          <a:bodyPr wrap="square" rtlCol="0" anchor="ctr"/>
          <a:lstStyle/>
          <a:p>
            <a:pPr indent="0" marL="0">
              <a:buNone/>
            </a:pPr>
            <a:r>
              <a:rPr lang="en-US" sz="1400" b="1" dirty="0">
                <a:solidFill>
                  <a:srgbClr val="C0392B"/>
                </a:solidFill>
                <a:latin typeface="Calibri" pitchFamily="34" charset="0"/>
                <a:ea typeface="Calibri" pitchFamily="34" charset="-122"/>
                <a:cs typeface="Calibri" pitchFamily="34" charset="-120"/>
              </a:rPr>
              <a:t>03</a:t>
            </a:r>
            <a:endParaRPr lang="en-US" sz="1400" dirty="0"/>
          </a:p>
        </p:txBody>
      </p:sp>
      <p:sp>
        <p:nvSpPr>
          <p:cNvPr id="20" name="Text 18"/>
          <p:cNvSpPr/>
          <p:nvPr/>
        </p:nvSpPr>
        <p:spPr>
          <a:xfrm>
            <a:off x="8823960" y="1307592"/>
            <a:ext cx="2834640" cy="274320"/>
          </a:xfrm>
          <a:prstGeom prst="rect">
            <a:avLst/>
          </a:prstGeom>
          <a:noFill/>
          <a:ln/>
        </p:spPr>
        <p:txBody>
          <a:bodyPr wrap="square" rtlCol="0" anchor="ctr"/>
          <a:lstStyle/>
          <a:p>
            <a:pPr indent="0" marL="0">
              <a:buNone/>
            </a:pPr>
            <a:r>
              <a:rPr lang="en-US" sz="1200" b="1" dirty="0">
                <a:solidFill>
                  <a:srgbClr val="0A1628"/>
                </a:solidFill>
                <a:latin typeface="Calibri" pitchFamily="34" charset="0"/>
                <a:ea typeface="Calibri" pitchFamily="34" charset="-122"/>
                <a:cs typeface="Calibri" pitchFamily="34" charset="-120"/>
              </a:rPr>
              <a:t>Competitors Inside</a:t>
            </a:r>
            <a:endParaRPr lang="en-US" sz="1200" dirty="0"/>
          </a:p>
        </p:txBody>
      </p:sp>
      <p:sp>
        <p:nvSpPr>
          <p:cNvPr id="21" name="Text 19"/>
          <p:cNvSpPr/>
          <p:nvPr/>
        </p:nvSpPr>
        <p:spPr>
          <a:xfrm>
            <a:off x="8321040" y="1691640"/>
            <a:ext cx="3383280" cy="1463040"/>
          </a:xfrm>
          <a:prstGeom prst="rect">
            <a:avLst/>
          </a:prstGeom>
          <a:noFill/>
          <a:ln/>
        </p:spPr>
        <p:txBody>
          <a:bodyPr wrap="square" rtlCol="0" anchor="ctr"/>
          <a:lstStyle/>
          <a:p>
            <a:pPr indent="0" marL="0">
              <a:buNone/>
            </a:pPr>
            <a:r>
              <a:rPr lang="en-US" sz="950" i="1" dirty="0">
                <a:solidFill>
                  <a:srgbClr val="2A2820"/>
                </a:solidFill>
                <a:latin typeface="Calibri" pitchFamily="34" charset="0"/>
                <a:ea typeface="Calibri" pitchFamily="34" charset="-122"/>
                <a:cs typeface="Calibri" pitchFamily="34" charset="-120"/>
              </a:rPr>
              <a:t>36,870 competitor mentions across 73,586 interactions.</a:t>
            </a:r>
            <a:endParaRPr lang="en-US" sz="950" dirty="0"/>
          </a:p>
          <a:p>
            <a:pPr indent="0" marL="0">
              <a:buNone/>
            </a:pPr>
            <a:r>
              <a:rPr lang="en-US" sz="950" i="1" dirty="0">
                <a:solidFill>
                  <a:srgbClr val="2A2820"/>
                </a:solidFill>
                <a:latin typeface="Calibri" pitchFamily="34" charset="0"/>
                <a:ea typeface="Calibri" pitchFamily="34" charset="-122"/>
                <a:cs typeface="Calibri" pitchFamily="34" charset="-120"/>
              </a:rPr>
              <a:t>One in every two interactions.</a:t>
            </a:r>
            <a:endParaRPr lang="en-US" sz="950" dirty="0"/>
          </a:p>
          <a:p>
            <a:pPr indent="0" marL="0">
              <a:buNone/>
            </a:pPr>
            <a:r>
              <a:rPr lang="en-US" sz="950" i="1" dirty="0">
                <a:solidFill>
                  <a:srgbClr val="2A2820"/>
                </a:solidFill>
                <a:latin typeface="Calibri" pitchFamily="34" charset="0"/>
                <a:ea typeface="Calibri" pitchFamily="34" charset="-122"/>
                <a:cs typeface="Calibri" pitchFamily="34" charset="-120"/>
              </a:rPr>
              <a:t>Not observation — active evaluation.</a:t>
            </a:r>
            <a:endParaRPr lang="en-US" sz="950" dirty="0"/>
          </a:p>
        </p:txBody>
      </p:sp>
      <p:sp>
        <p:nvSpPr>
          <p:cNvPr id="22" name="Text 20"/>
          <p:cNvSpPr/>
          <p:nvPr/>
        </p:nvSpPr>
        <p:spPr>
          <a:xfrm>
            <a:off x="320040" y="3401568"/>
            <a:ext cx="3657600" cy="256032"/>
          </a:xfrm>
          <a:prstGeom prst="rect">
            <a:avLst/>
          </a:prstGeom>
          <a:noFill/>
          <a:ln/>
        </p:spPr>
        <p:txBody>
          <a:bodyPr wrap="square" rtlCol="0" anchor="ctr"/>
          <a:lstStyle/>
          <a:p>
            <a:pPr indent="0" marL="0">
              <a:buNone/>
            </a:pPr>
            <a:r>
              <a:rPr lang="en-US" sz="900" b="1" spc="200" kern="0" dirty="0">
                <a:solidFill>
                  <a:srgbClr val="C8A84B"/>
                </a:solidFill>
                <a:latin typeface="Calibri" pitchFamily="34" charset="0"/>
                <a:ea typeface="Calibri" pitchFamily="34" charset="-122"/>
                <a:cs typeface="Calibri" pitchFamily="34" charset="-120"/>
              </a:rPr>
              <a:t>THE FINANCIAL CASCADE</a:t>
            </a:r>
            <a:endParaRPr lang="en-US" sz="900" dirty="0"/>
          </a:p>
        </p:txBody>
      </p:sp>
      <p:sp>
        <p:nvSpPr>
          <p:cNvPr id="23" name="Text 21"/>
          <p:cNvSpPr/>
          <p:nvPr/>
        </p:nvSpPr>
        <p:spPr>
          <a:xfrm>
            <a:off x="4114800" y="3401568"/>
            <a:ext cx="7772400" cy="256032"/>
          </a:xfrm>
          <a:prstGeom prst="rect">
            <a:avLst/>
          </a:prstGeom>
          <a:noFill/>
          <a:ln/>
        </p:spPr>
        <p:txBody>
          <a:bodyPr wrap="square" rtlCol="0" anchor="ctr"/>
          <a:lstStyle/>
          <a:p>
            <a:pPr indent="0" marL="0">
              <a:buNone/>
            </a:pPr>
            <a:r>
              <a:rPr lang="en-US" sz="1000" i="1" dirty="0">
                <a:solidFill>
                  <a:srgbClr val="5A6A85"/>
                </a:solidFill>
                <a:latin typeface="Calibri" pitchFamily="34" charset="0"/>
                <a:ea typeface="Calibri" pitchFamily="34" charset="-122"/>
                <a:cs typeface="Calibri" pitchFamily="34" charset="-120"/>
              </a:rPr>
              <a:t>64.6% of total revenue is held by detractor customers</a:t>
            </a:r>
            <a:endParaRPr lang="en-US" sz="1000" dirty="0"/>
          </a:p>
        </p:txBody>
      </p:sp>
      <p:sp>
        <p:nvSpPr>
          <p:cNvPr id="24" name="Shape 22"/>
          <p:cNvSpPr/>
          <p:nvPr/>
        </p:nvSpPr>
        <p:spPr>
          <a:xfrm>
            <a:off x="320040" y="3749040"/>
            <a:ext cx="11658600" cy="475488"/>
          </a:xfrm>
          <a:prstGeom prst="rect">
            <a:avLst/>
          </a:prstGeom>
          <a:solidFill>
            <a:srgbClr val="F0FDF4"/>
          </a:solidFill>
          <a:ln w="12700">
            <a:solidFill>
              <a:srgbClr val="1A6B3A"/>
            </a:solidFill>
            <a:prstDash val="solid"/>
          </a:ln>
        </p:spPr>
      </p:sp>
      <p:sp>
        <p:nvSpPr>
          <p:cNvPr id="25" name="Text 23"/>
          <p:cNvSpPr/>
          <p:nvPr/>
        </p:nvSpPr>
        <p:spPr>
          <a:xfrm>
            <a:off x="457200" y="3785616"/>
            <a:ext cx="3200400" cy="256032"/>
          </a:xfrm>
          <a:prstGeom prst="rect">
            <a:avLst/>
          </a:prstGeom>
          <a:noFill/>
          <a:ln/>
        </p:spPr>
        <p:txBody>
          <a:bodyPr wrap="square" rtlCol="0" anchor="ctr"/>
          <a:lstStyle/>
          <a:p>
            <a:pPr indent="0" marL="0">
              <a:buNone/>
            </a:pPr>
            <a:r>
              <a:rPr lang="en-US" sz="1000" b="1" dirty="0">
                <a:solidFill>
                  <a:srgbClr val="0A1628"/>
                </a:solidFill>
                <a:latin typeface="Calibri" pitchFamily="34" charset="0"/>
                <a:ea typeface="Calibri" pitchFamily="34" charset="-122"/>
                <a:cs typeface="Calibri" pitchFamily="34" charset="-120"/>
              </a:rPr>
              <a:t>Total Revenue</a:t>
            </a:r>
            <a:endParaRPr lang="en-US" sz="1000" dirty="0"/>
          </a:p>
        </p:txBody>
      </p:sp>
      <p:sp>
        <p:nvSpPr>
          <p:cNvPr id="26" name="Text 24"/>
          <p:cNvSpPr/>
          <p:nvPr/>
        </p:nvSpPr>
        <p:spPr>
          <a:xfrm>
            <a:off x="3749040" y="3785616"/>
            <a:ext cx="2286000" cy="256032"/>
          </a:xfrm>
          <a:prstGeom prst="rect">
            <a:avLst/>
          </a:prstGeom>
          <a:noFill/>
          <a:ln/>
        </p:spPr>
        <p:txBody>
          <a:bodyPr wrap="square" rtlCol="0" anchor="ctr"/>
          <a:lstStyle/>
          <a:p>
            <a:pPr indent="0" marL="0">
              <a:buNone/>
            </a:pPr>
            <a:r>
              <a:rPr lang="en-US" sz="1100" b="1" dirty="0">
                <a:solidFill>
                  <a:srgbClr val="1A6B3A"/>
                </a:solidFill>
                <a:latin typeface="Calibri" pitchFamily="34" charset="0"/>
                <a:ea typeface="Calibri" pitchFamily="34" charset="-122"/>
                <a:cs typeface="Calibri" pitchFamily="34" charset="-120"/>
              </a:rPr>
              <a:t>$57.5M</a:t>
            </a:r>
            <a:endParaRPr lang="en-US" sz="1100" dirty="0"/>
          </a:p>
        </p:txBody>
      </p:sp>
      <p:sp>
        <p:nvSpPr>
          <p:cNvPr id="27" name="Text 25"/>
          <p:cNvSpPr/>
          <p:nvPr/>
        </p:nvSpPr>
        <p:spPr>
          <a:xfrm>
            <a:off x="6217920" y="3803904"/>
            <a:ext cx="3657600" cy="228600"/>
          </a:xfrm>
          <a:prstGeom prst="rect">
            <a:avLst/>
          </a:prstGeom>
          <a:noFill/>
          <a:ln/>
        </p:spPr>
        <p:txBody>
          <a:bodyPr wrap="square" rtlCol="0" anchor="ctr"/>
          <a:lstStyle/>
          <a:p>
            <a:pPr indent="0" marL="0">
              <a:buNone/>
            </a:pPr>
            <a:r>
              <a:rPr lang="en-US" sz="900" i="1" dirty="0">
                <a:solidFill>
                  <a:srgbClr val="5A6A85"/>
                </a:solidFill>
                <a:latin typeface="Calibri" pitchFamily="34" charset="0"/>
                <a:ea typeface="Calibri" pitchFamily="34" charset="-122"/>
                <a:cs typeface="Calibri" pitchFamily="34" charset="-120"/>
              </a:rPr>
              <a:t>All 200 customers</a:t>
            </a:r>
            <a:endParaRPr lang="en-US" sz="900" dirty="0"/>
          </a:p>
        </p:txBody>
      </p:sp>
      <p:sp>
        <p:nvSpPr>
          <p:cNvPr id="28" name="Shape 26"/>
          <p:cNvSpPr/>
          <p:nvPr/>
        </p:nvSpPr>
        <p:spPr>
          <a:xfrm>
            <a:off x="320040" y="4315968"/>
            <a:ext cx="7589520" cy="475488"/>
          </a:xfrm>
          <a:prstGeom prst="rect">
            <a:avLst/>
          </a:prstGeom>
          <a:solidFill>
            <a:srgbClr val="FFFBEB"/>
          </a:solidFill>
          <a:ln w="12700">
            <a:solidFill>
              <a:srgbClr val="D4820A"/>
            </a:solidFill>
            <a:prstDash val="solid"/>
          </a:ln>
        </p:spPr>
      </p:sp>
      <p:sp>
        <p:nvSpPr>
          <p:cNvPr id="29" name="Text 27"/>
          <p:cNvSpPr/>
          <p:nvPr/>
        </p:nvSpPr>
        <p:spPr>
          <a:xfrm>
            <a:off x="457200" y="4352544"/>
            <a:ext cx="3200400" cy="256032"/>
          </a:xfrm>
          <a:prstGeom prst="rect">
            <a:avLst/>
          </a:prstGeom>
          <a:noFill/>
          <a:ln/>
        </p:spPr>
        <p:txBody>
          <a:bodyPr wrap="square" rtlCol="0" anchor="ctr"/>
          <a:lstStyle/>
          <a:p>
            <a:pPr indent="0" marL="0">
              <a:buNone/>
            </a:pPr>
            <a:r>
              <a:rPr lang="en-US" sz="1000" b="1" dirty="0">
                <a:solidFill>
                  <a:srgbClr val="0A1628"/>
                </a:solidFill>
                <a:latin typeface="Calibri" pitchFamily="34" charset="0"/>
                <a:ea typeface="Calibri" pitchFamily="34" charset="-122"/>
                <a:cs typeface="Calibri" pitchFamily="34" charset="-120"/>
              </a:rPr>
              <a:t>Revenue at Risk</a:t>
            </a:r>
            <a:endParaRPr lang="en-US" sz="1000" dirty="0"/>
          </a:p>
        </p:txBody>
      </p:sp>
      <p:sp>
        <p:nvSpPr>
          <p:cNvPr id="30" name="Text 28"/>
          <p:cNvSpPr/>
          <p:nvPr/>
        </p:nvSpPr>
        <p:spPr>
          <a:xfrm>
            <a:off x="3749040" y="4352544"/>
            <a:ext cx="2286000" cy="256032"/>
          </a:xfrm>
          <a:prstGeom prst="rect">
            <a:avLst/>
          </a:prstGeom>
          <a:noFill/>
          <a:ln/>
        </p:spPr>
        <p:txBody>
          <a:bodyPr wrap="square" rtlCol="0" anchor="ctr"/>
          <a:lstStyle/>
          <a:p>
            <a:pPr indent="0" marL="0">
              <a:buNone/>
            </a:pPr>
            <a:r>
              <a:rPr lang="en-US" sz="1100" b="1" dirty="0">
                <a:solidFill>
                  <a:srgbClr val="D4820A"/>
                </a:solidFill>
                <a:latin typeface="Calibri" pitchFamily="34" charset="0"/>
                <a:ea typeface="Calibri" pitchFamily="34" charset="-122"/>
                <a:cs typeface="Calibri" pitchFamily="34" charset="-120"/>
              </a:rPr>
              <a:t>$37.2M</a:t>
            </a:r>
            <a:endParaRPr lang="en-US" sz="1100" dirty="0"/>
          </a:p>
        </p:txBody>
      </p:sp>
      <p:sp>
        <p:nvSpPr>
          <p:cNvPr id="31" name="Text 29"/>
          <p:cNvSpPr/>
          <p:nvPr/>
        </p:nvSpPr>
        <p:spPr>
          <a:xfrm>
            <a:off x="6217920" y="4370832"/>
            <a:ext cx="3657600" cy="228600"/>
          </a:xfrm>
          <a:prstGeom prst="rect">
            <a:avLst/>
          </a:prstGeom>
          <a:noFill/>
          <a:ln/>
        </p:spPr>
        <p:txBody>
          <a:bodyPr wrap="square" rtlCol="0" anchor="ctr"/>
          <a:lstStyle/>
          <a:p>
            <a:pPr indent="0" marL="0">
              <a:buNone/>
            </a:pPr>
            <a:r>
              <a:rPr lang="en-US" sz="900" i="1" dirty="0">
                <a:solidFill>
                  <a:srgbClr val="5A6A85"/>
                </a:solidFill>
                <a:latin typeface="Calibri" pitchFamily="34" charset="0"/>
                <a:ea typeface="Calibri" pitchFamily="34" charset="-122"/>
                <a:cs typeface="Calibri" pitchFamily="34" charset="-120"/>
              </a:rPr>
              <a:t>All detractors</a:t>
            </a:r>
            <a:endParaRPr lang="en-US" sz="900" dirty="0"/>
          </a:p>
        </p:txBody>
      </p:sp>
      <p:sp>
        <p:nvSpPr>
          <p:cNvPr id="32" name="Shape 30"/>
          <p:cNvSpPr/>
          <p:nvPr/>
        </p:nvSpPr>
        <p:spPr>
          <a:xfrm>
            <a:off x="320040" y="4882896"/>
            <a:ext cx="4114800" cy="475488"/>
          </a:xfrm>
          <a:prstGeom prst="rect">
            <a:avLst/>
          </a:prstGeom>
          <a:solidFill>
            <a:srgbClr val="FEF2F2"/>
          </a:solidFill>
          <a:ln w="12700">
            <a:solidFill>
              <a:srgbClr val="C0392B"/>
            </a:solidFill>
            <a:prstDash val="solid"/>
          </a:ln>
        </p:spPr>
      </p:sp>
      <p:sp>
        <p:nvSpPr>
          <p:cNvPr id="33" name="Text 31"/>
          <p:cNvSpPr/>
          <p:nvPr/>
        </p:nvSpPr>
        <p:spPr>
          <a:xfrm>
            <a:off x="457200" y="4919472"/>
            <a:ext cx="3200400" cy="256032"/>
          </a:xfrm>
          <a:prstGeom prst="rect">
            <a:avLst/>
          </a:prstGeom>
          <a:noFill/>
          <a:ln/>
        </p:spPr>
        <p:txBody>
          <a:bodyPr wrap="square" rtlCol="0" anchor="ctr"/>
          <a:lstStyle/>
          <a:p>
            <a:pPr indent="0" marL="0">
              <a:buNone/>
            </a:pPr>
            <a:r>
              <a:rPr lang="en-US" sz="1000" b="1" dirty="0">
                <a:solidFill>
                  <a:srgbClr val="0A1628"/>
                </a:solidFill>
                <a:latin typeface="Calibri" pitchFamily="34" charset="0"/>
                <a:ea typeface="Calibri" pitchFamily="34" charset="-122"/>
                <a:cs typeface="Calibri" pitchFamily="34" charset="-120"/>
              </a:rPr>
              <a:t>VIP Revenue at Risk</a:t>
            </a:r>
            <a:endParaRPr lang="en-US" sz="1000" dirty="0"/>
          </a:p>
        </p:txBody>
      </p:sp>
      <p:sp>
        <p:nvSpPr>
          <p:cNvPr id="34" name="Text 32"/>
          <p:cNvSpPr/>
          <p:nvPr/>
        </p:nvSpPr>
        <p:spPr>
          <a:xfrm>
            <a:off x="3749040" y="4919472"/>
            <a:ext cx="2286000" cy="256032"/>
          </a:xfrm>
          <a:prstGeom prst="rect">
            <a:avLst/>
          </a:prstGeom>
          <a:noFill/>
          <a:ln/>
        </p:spPr>
        <p:txBody>
          <a:bodyPr wrap="square" rtlCol="0" anchor="ctr"/>
          <a:lstStyle/>
          <a:p>
            <a:pPr indent="0" marL="0">
              <a:buNone/>
            </a:pPr>
            <a:r>
              <a:rPr lang="en-US" sz="1100" b="1" dirty="0">
                <a:solidFill>
                  <a:srgbClr val="C0392B"/>
                </a:solidFill>
                <a:latin typeface="Calibri" pitchFamily="34" charset="0"/>
                <a:ea typeface="Calibri" pitchFamily="34" charset="-122"/>
                <a:cs typeface="Calibri" pitchFamily="34" charset="-120"/>
              </a:rPr>
              <a:t>$15.7M</a:t>
            </a:r>
            <a:endParaRPr lang="en-US" sz="1100" dirty="0"/>
          </a:p>
        </p:txBody>
      </p:sp>
      <p:sp>
        <p:nvSpPr>
          <p:cNvPr id="35" name="Text 33"/>
          <p:cNvSpPr/>
          <p:nvPr/>
        </p:nvSpPr>
        <p:spPr>
          <a:xfrm>
            <a:off x="6217920" y="4937760"/>
            <a:ext cx="3657600" cy="228600"/>
          </a:xfrm>
          <a:prstGeom prst="rect">
            <a:avLst/>
          </a:prstGeom>
          <a:noFill/>
          <a:ln/>
        </p:spPr>
        <p:txBody>
          <a:bodyPr wrap="square" rtlCol="0" anchor="ctr"/>
          <a:lstStyle/>
          <a:p>
            <a:pPr indent="0" marL="0">
              <a:buNone/>
            </a:pPr>
            <a:r>
              <a:rPr lang="en-US" sz="900" i="1" dirty="0">
                <a:solidFill>
                  <a:srgbClr val="5A6A85"/>
                </a:solidFill>
                <a:latin typeface="Calibri" pitchFamily="34" charset="0"/>
                <a:ea typeface="Calibri" pitchFamily="34" charset="-122"/>
                <a:cs typeface="Calibri" pitchFamily="34" charset="-120"/>
              </a:rPr>
              <a:t>VIP detractors</a:t>
            </a:r>
            <a:endParaRPr lang="en-US" sz="900" dirty="0"/>
          </a:p>
        </p:txBody>
      </p:sp>
      <p:sp>
        <p:nvSpPr>
          <p:cNvPr id="36" name="Shape 34"/>
          <p:cNvSpPr/>
          <p:nvPr/>
        </p:nvSpPr>
        <p:spPr>
          <a:xfrm>
            <a:off x="320040" y="5449824"/>
            <a:ext cx="1828800" cy="475488"/>
          </a:xfrm>
          <a:prstGeom prst="rect">
            <a:avLst/>
          </a:prstGeom>
          <a:solidFill>
            <a:srgbClr val="C0392B"/>
          </a:solidFill>
          <a:ln w="12700">
            <a:solidFill>
              <a:srgbClr val="C0392B"/>
            </a:solidFill>
            <a:prstDash val="solid"/>
          </a:ln>
        </p:spPr>
      </p:sp>
      <p:sp>
        <p:nvSpPr>
          <p:cNvPr id="37" name="Text 35"/>
          <p:cNvSpPr/>
          <p:nvPr/>
        </p:nvSpPr>
        <p:spPr>
          <a:xfrm>
            <a:off x="457200" y="5486400"/>
            <a:ext cx="3200400" cy="256032"/>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Point of No Return</a:t>
            </a:r>
            <a:endParaRPr lang="en-US" sz="1000" dirty="0"/>
          </a:p>
        </p:txBody>
      </p:sp>
      <p:sp>
        <p:nvSpPr>
          <p:cNvPr id="38" name="Text 36"/>
          <p:cNvSpPr/>
          <p:nvPr/>
        </p:nvSpPr>
        <p:spPr>
          <a:xfrm>
            <a:off x="3749040" y="5486400"/>
            <a:ext cx="2286000" cy="256032"/>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$1,076,419</a:t>
            </a:r>
            <a:endParaRPr lang="en-US" sz="1100" dirty="0"/>
          </a:p>
        </p:txBody>
      </p:sp>
      <p:sp>
        <p:nvSpPr>
          <p:cNvPr id="39" name="Text 37"/>
          <p:cNvSpPr/>
          <p:nvPr/>
        </p:nvSpPr>
        <p:spPr>
          <a:xfrm>
            <a:off x="6217920" y="5504688"/>
            <a:ext cx="3657600" cy="228600"/>
          </a:xfrm>
          <a:prstGeom prst="rect">
            <a:avLst/>
          </a:prstGeom>
          <a:noFill/>
          <a:ln/>
        </p:spPr>
        <p:txBody>
          <a:bodyPr wrap="square" rtlCol="0" anchor="ctr"/>
          <a:lstStyle/>
          <a:p>
            <a:pPr indent="0" marL="0">
              <a:buNone/>
            </a:pPr>
            <a:r>
              <a:rPr lang="en-US" sz="900" i="1" dirty="0">
                <a:solidFill>
                  <a:srgbClr val="FFAAAA"/>
                </a:solidFill>
                <a:latin typeface="Calibri" pitchFamily="34" charset="0"/>
                <a:ea typeface="Calibri" pitchFamily="34" charset="-122"/>
                <a:cs typeface="Calibri" pitchFamily="34" charset="-120"/>
              </a:rPr>
              <a:t>1,410 — triple condition</a:t>
            </a:r>
            <a:endParaRPr lang="en-US" sz="900" dirty="0"/>
          </a:p>
        </p:txBody>
      </p:sp>
      <p:sp>
        <p:nvSpPr>
          <p:cNvPr id="40" name="Shape 38"/>
          <p:cNvSpPr/>
          <p:nvPr/>
        </p:nvSpPr>
        <p:spPr>
          <a:xfrm>
            <a:off x="0" y="6537960"/>
            <a:ext cx="12161520" cy="320040"/>
          </a:xfrm>
          <a:prstGeom prst="rect">
            <a:avLst/>
          </a:prstGeom>
          <a:solidFill>
            <a:srgbClr val="0A1628"/>
          </a:solidFill>
          <a:ln w="12700">
            <a:solidFill>
              <a:srgbClr val="0A1628"/>
            </a:solidFill>
            <a:prstDash val="solid"/>
          </a:ln>
        </p:spPr>
      </p:sp>
      <p:sp>
        <p:nvSpPr>
          <p:cNvPr id="41" name="Text 39"/>
          <p:cNvSpPr/>
          <p:nvPr/>
        </p:nvSpPr>
        <p:spPr>
          <a:xfrm>
            <a:off x="365760" y="6565392"/>
            <a:ext cx="9144000" cy="256032"/>
          </a:xfrm>
          <a:prstGeom prst="rect">
            <a:avLst/>
          </a:prstGeom>
          <a:noFill/>
          <a:ln/>
        </p:spPr>
        <p:txBody>
          <a:bodyPr wrap="square" rtlCol="0" anchor="ctr"/>
          <a:lstStyle/>
          <a:p>
            <a:pPr indent="0" marL="0">
              <a:buNone/>
            </a:pPr>
            <a:r>
              <a:rPr lang="en-US" sz="750" dirty="0">
                <a:solidFill>
                  <a:srgbClr val="8899BB"/>
                </a:solidFill>
                <a:latin typeface="Calibri" pitchFamily="34" charset="0"/>
                <a:ea typeface="Calibri" pitchFamily="34" charset="-122"/>
                <a:cs typeface="Calibri" pitchFamily="34" charset="-120"/>
              </a:rPr>
              <a:t>Samuel Ahinakwa  |  Finance &amp; Analytics Professional  |  BSc · MSc · ICAG Finalist  |  Confidential</a:t>
            </a:r>
            <a:endParaRPr lang="en-US" sz="750" dirty="0"/>
          </a:p>
        </p:txBody>
      </p:sp>
      <p:sp>
        <p:nvSpPr>
          <p:cNvPr id="42" name="Text 40"/>
          <p:cNvSpPr/>
          <p:nvPr/>
        </p:nvSpPr>
        <p:spPr>
          <a:xfrm>
            <a:off x="11338560" y="6565392"/>
            <a:ext cx="731520" cy="256032"/>
          </a:xfrm>
          <a:prstGeom prst="rect">
            <a:avLst/>
          </a:prstGeom>
          <a:noFill/>
          <a:ln/>
        </p:spPr>
        <p:txBody>
          <a:bodyPr wrap="square" rtlCol="0" anchor="ctr"/>
          <a:lstStyle/>
          <a:p>
            <a:pPr algn="r" indent="0" marL="0">
              <a:buNone/>
            </a:pPr>
            <a:r>
              <a:rPr lang="en-US" sz="800" dirty="0">
                <a:solidFill>
                  <a:srgbClr val="C8A84B"/>
                </a:solidFill>
                <a:latin typeface="Calibri" pitchFamily="34" charset="0"/>
                <a:ea typeface="Calibri" pitchFamily="34" charset="-122"/>
                <a:cs typeface="Calibri" pitchFamily="34" charset="-120"/>
              </a:rPr>
              <a:t>3 / 26</a:t>
            </a:r>
            <a:endParaRPr lang="en-US" sz="800" dirty="0"/>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1051560"/>
          </a:xfrm>
          <a:prstGeom prst="rect">
            <a:avLst/>
          </a:prstGeom>
          <a:solidFill>
            <a:srgbClr val="0A1628"/>
          </a:solidFill>
          <a:ln w="12700">
            <a:solidFill>
              <a:srgbClr val="0A1628"/>
            </a:solidFill>
            <a:prstDash val="solid"/>
          </a:ln>
        </p:spPr>
      </p:sp>
      <p:sp>
        <p:nvSpPr>
          <p:cNvPr id="3" name="Shape 1"/>
          <p:cNvSpPr/>
          <p:nvPr/>
        </p:nvSpPr>
        <p:spPr>
          <a:xfrm>
            <a:off x="0" y="1051560"/>
            <a:ext cx="12161520" cy="36576"/>
          </a:xfrm>
          <a:prstGeom prst="rect">
            <a:avLst/>
          </a:prstGeom>
          <a:solidFill>
            <a:srgbClr val="C8A84B"/>
          </a:solidFill>
          <a:ln w="12700">
            <a:solidFill>
              <a:srgbClr val="C8A84B"/>
            </a:solidFill>
            <a:prstDash val="solid"/>
          </a:ln>
        </p:spPr>
      </p:sp>
      <p:sp>
        <p:nvSpPr>
          <p:cNvPr id="4" name="Text 2"/>
          <p:cNvSpPr/>
          <p:nvPr/>
        </p:nvSpPr>
        <p:spPr>
          <a:xfrm>
            <a:off x="365760" y="64008"/>
            <a:ext cx="4572000" cy="228600"/>
          </a:xfrm>
          <a:prstGeom prst="rect">
            <a:avLst/>
          </a:prstGeom>
          <a:noFill/>
          <a:ln/>
        </p:spPr>
        <p:txBody>
          <a:bodyPr wrap="square" rtlCol="0" anchor="ctr"/>
          <a:lstStyle/>
          <a:p>
            <a:pPr indent="0" marL="0">
              <a:buNone/>
            </a:pPr>
            <a:r>
              <a:rPr lang="en-US" sz="800" b="1" spc="200" kern="0" dirty="0">
                <a:solidFill>
                  <a:srgbClr val="C8A84B"/>
                </a:solidFill>
                <a:latin typeface="Calibri" pitchFamily="34" charset="0"/>
                <a:ea typeface="Calibri" pitchFamily="34" charset="-122"/>
                <a:cs typeface="Calibri" pitchFamily="34" charset="-120"/>
              </a:rPr>
              <a:t>KEY QUESTIONS &amp; METHODOLOGY</a:t>
            </a:r>
            <a:endParaRPr lang="en-US" sz="800" dirty="0"/>
          </a:p>
        </p:txBody>
      </p:sp>
      <p:sp>
        <p:nvSpPr>
          <p:cNvPr id="5" name="Text 3"/>
          <p:cNvSpPr/>
          <p:nvPr/>
        </p:nvSpPr>
        <p:spPr>
          <a:xfrm>
            <a:off x="365760" y="256032"/>
            <a:ext cx="9601200" cy="566928"/>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Five Questions. Five Dashboards. One Consulting Framework.</a:t>
            </a:r>
            <a:endParaRPr lang="en-US" sz="2600" dirty="0"/>
          </a:p>
        </p:txBody>
      </p:sp>
      <p:sp>
        <p:nvSpPr>
          <p:cNvPr id="6" name="Text 4"/>
          <p:cNvSpPr/>
          <p:nvPr/>
        </p:nvSpPr>
        <p:spPr>
          <a:xfrm>
            <a:off x="365760" y="795528"/>
            <a:ext cx="10058400" cy="228600"/>
          </a:xfrm>
          <a:prstGeom prst="rect">
            <a:avLst/>
          </a:prstGeom>
          <a:noFill/>
          <a:ln/>
        </p:spPr>
        <p:txBody>
          <a:bodyPr wrap="square" rtlCol="0" anchor="ctr"/>
          <a:lstStyle/>
          <a:p>
            <a:pPr indent="0" marL="0">
              <a:buNone/>
            </a:pPr>
            <a:r>
              <a:rPr lang="en-US" sz="1050" i="1" dirty="0">
                <a:solidFill>
                  <a:srgbClr val="8899BB"/>
                </a:solidFill>
                <a:latin typeface="Calibri" pitchFamily="34" charset="0"/>
                <a:ea typeface="Calibri" pitchFamily="34" charset="-122"/>
                <a:cs typeface="Calibri" pitchFamily="34" charset="-120"/>
              </a:rPr>
              <a:t>Every question maps to a dashboard. Every dashboard answers the business problem.</a:t>
            </a:r>
            <a:endParaRPr lang="en-US" sz="1050" dirty="0"/>
          </a:p>
        </p:txBody>
      </p:sp>
      <p:sp>
        <p:nvSpPr>
          <p:cNvPr id="7" name="Shape 5"/>
          <p:cNvSpPr/>
          <p:nvPr/>
        </p:nvSpPr>
        <p:spPr>
          <a:xfrm>
            <a:off x="320040" y="1280160"/>
            <a:ext cx="7772400" cy="841248"/>
          </a:xfrm>
          <a:prstGeom prst="rect">
            <a:avLst/>
          </a:prstGeom>
          <a:solidFill>
            <a:srgbClr val="F0F4F8"/>
          </a:solidFill>
          <a:ln w="12700">
            <a:solidFill>
              <a:srgbClr val="D0D8E8"/>
            </a:solidFill>
            <a:prstDash val="solid"/>
          </a:ln>
        </p:spPr>
      </p:sp>
      <p:sp>
        <p:nvSpPr>
          <p:cNvPr id="8" name="Shape 6"/>
          <p:cNvSpPr/>
          <p:nvPr/>
        </p:nvSpPr>
        <p:spPr>
          <a:xfrm>
            <a:off x="320040" y="1280160"/>
            <a:ext cx="54864" cy="841248"/>
          </a:xfrm>
          <a:prstGeom prst="rect">
            <a:avLst/>
          </a:prstGeom>
          <a:solidFill>
            <a:srgbClr val="C8A84B"/>
          </a:solidFill>
          <a:ln w="12700">
            <a:solidFill>
              <a:srgbClr val="C8A84B"/>
            </a:solidFill>
            <a:prstDash val="solid"/>
          </a:ln>
        </p:spPr>
      </p:sp>
      <p:sp>
        <p:nvSpPr>
          <p:cNvPr id="9" name="Text 7"/>
          <p:cNvSpPr/>
          <p:nvPr/>
        </p:nvSpPr>
        <p:spPr>
          <a:xfrm>
            <a:off x="502920" y="1371600"/>
            <a:ext cx="457200" cy="274320"/>
          </a:xfrm>
          <a:prstGeom prst="rect">
            <a:avLst/>
          </a:prstGeom>
          <a:noFill/>
          <a:ln/>
        </p:spPr>
        <p:txBody>
          <a:bodyPr wrap="square" rtlCol="0" anchor="ctr"/>
          <a:lstStyle/>
          <a:p>
            <a:pPr indent="0" marL="0">
              <a:buNone/>
            </a:pPr>
            <a:r>
              <a:rPr lang="en-US" sz="1400" b="1" dirty="0">
                <a:solidFill>
                  <a:srgbClr val="C8A84B"/>
                </a:solidFill>
                <a:latin typeface="Calibri" pitchFamily="34" charset="0"/>
                <a:ea typeface="Calibri" pitchFamily="34" charset="-122"/>
                <a:cs typeface="Calibri" pitchFamily="34" charset="-120"/>
              </a:rPr>
              <a:t>01</a:t>
            </a:r>
            <a:endParaRPr lang="en-US" sz="1400" dirty="0"/>
          </a:p>
        </p:txBody>
      </p:sp>
      <p:sp>
        <p:nvSpPr>
          <p:cNvPr id="10" name="Text 8"/>
          <p:cNvSpPr/>
          <p:nvPr/>
        </p:nvSpPr>
        <p:spPr>
          <a:xfrm>
            <a:off x="1005840" y="1371600"/>
            <a:ext cx="5943600" cy="457200"/>
          </a:xfrm>
          <a:prstGeom prst="rect">
            <a:avLst/>
          </a:prstGeom>
          <a:noFill/>
          <a:ln/>
        </p:spPr>
        <p:txBody>
          <a:bodyPr wrap="square" rtlCol="0" anchor="ctr"/>
          <a:lstStyle/>
          <a:p>
            <a:pPr indent="0" marL="0">
              <a:buNone/>
            </a:pPr>
            <a:r>
              <a:rPr lang="en-US" sz="1050" b="1" dirty="0">
                <a:solidFill>
                  <a:srgbClr val="0A1628"/>
                </a:solidFill>
                <a:latin typeface="Calibri" pitchFamily="34" charset="0"/>
                <a:ea typeface="Calibri" pitchFamily="34" charset="-122"/>
                <a:cs typeface="Calibri" pitchFamily="34" charset="-120"/>
              </a:rPr>
              <a:t>What is the true state of customer sentiment — and how severe is the damage?</a:t>
            </a:r>
            <a:endParaRPr lang="en-US" sz="1050" dirty="0"/>
          </a:p>
        </p:txBody>
      </p:sp>
      <p:sp>
        <p:nvSpPr>
          <p:cNvPr id="11" name="Text 9"/>
          <p:cNvSpPr/>
          <p:nvPr/>
        </p:nvSpPr>
        <p:spPr>
          <a:xfrm>
            <a:off x="7040880" y="1389888"/>
            <a:ext cx="914400" cy="274320"/>
          </a:xfrm>
          <a:prstGeom prst="rect">
            <a:avLst/>
          </a:prstGeom>
          <a:noFill/>
          <a:ln/>
        </p:spPr>
        <p:txBody>
          <a:bodyPr wrap="square" rtlCol="0" anchor="ctr"/>
          <a:lstStyle/>
          <a:p>
            <a:pPr indent="0" marL="0">
              <a:buNone/>
            </a:pPr>
            <a:r>
              <a:rPr lang="en-US" sz="900" i="1" dirty="0">
                <a:solidFill>
                  <a:srgbClr val="5A6A85"/>
                </a:solidFill>
                <a:latin typeface="Calibri" pitchFamily="34" charset="0"/>
                <a:ea typeface="Calibri" pitchFamily="34" charset="-122"/>
                <a:cs typeface="Calibri" pitchFamily="34" charset="-120"/>
              </a:rPr>
              <a:t>Dashboard 1</a:t>
            </a:r>
            <a:endParaRPr lang="en-US" sz="900" dirty="0"/>
          </a:p>
        </p:txBody>
      </p:sp>
      <p:sp>
        <p:nvSpPr>
          <p:cNvPr id="12" name="Shape 10"/>
          <p:cNvSpPr/>
          <p:nvPr/>
        </p:nvSpPr>
        <p:spPr>
          <a:xfrm>
            <a:off x="320040" y="2249424"/>
            <a:ext cx="7772400" cy="841248"/>
          </a:xfrm>
          <a:prstGeom prst="rect">
            <a:avLst/>
          </a:prstGeom>
          <a:solidFill>
            <a:srgbClr val="FFFFFF"/>
          </a:solidFill>
          <a:ln w="12700">
            <a:solidFill>
              <a:srgbClr val="D0D8E8"/>
            </a:solidFill>
            <a:prstDash val="solid"/>
          </a:ln>
        </p:spPr>
      </p:sp>
      <p:sp>
        <p:nvSpPr>
          <p:cNvPr id="13" name="Shape 11"/>
          <p:cNvSpPr/>
          <p:nvPr/>
        </p:nvSpPr>
        <p:spPr>
          <a:xfrm>
            <a:off x="320040" y="2249424"/>
            <a:ext cx="54864" cy="841248"/>
          </a:xfrm>
          <a:prstGeom prst="rect">
            <a:avLst/>
          </a:prstGeom>
          <a:solidFill>
            <a:srgbClr val="C8A84B"/>
          </a:solidFill>
          <a:ln w="12700">
            <a:solidFill>
              <a:srgbClr val="C8A84B"/>
            </a:solidFill>
            <a:prstDash val="solid"/>
          </a:ln>
        </p:spPr>
      </p:sp>
      <p:sp>
        <p:nvSpPr>
          <p:cNvPr id="14" name="Text 12"/>
          <p:cNvSpPr/>
          <p:nvPr/>
        </p:nvSpPr>
        <p:spPr>
          <a:xfrm>
            <a:off x="502920" y="2340864"/>
            <a:ext cx="457200" cy="274320"/>
          </a:xfrm>
          <a:prstGeom prst="rect">
            <a:avLst/>
          </a:prstGeom>
          <a:noFill/>
          <a:ln/>
        </p:spPr>
        <p:txBody>
          <a:bodyPr wrap="square" rtlCol="0" anchor="ctr"/>
          <a:lstStyle/>
          <a:p>
            <a:pPr indent="0" marL="0">
              <a:buNone/>
            </a:pPr>
            <a:r>
              <a:rPr lang="en-US" sz="1400" b="1" dirty="0">
                <a:solidFill>
                  <a:srgbClr val="C8A84B"/>
                </a:solidFill>
                <a:latin typeface="Calibri" pitchFamily="34" charset="0"/>
                <a:ea typeface="Calibri" pitchFamily="34" charset="-122"/>
                <a:cs typeface="Calibri" pitchFamily="34" charset="-120"/>
              </a:rPr>
              <a:t>02</a:t>
            </a:r>
            <a:endParaRPr lang="en-US" sz="1400" dirty="0"/>
          </a:p>
        </p:txBody>
      </p:sp>
      <p:sp>
        <p:nvSpPr>
          <p:cNvPr id="15" name="Text 13"/>
          <p:cNvSpPr/>
          <p:nvPr/>
        </p:nvSpPr>
        <p:spPr>
          <a:xfrm>
            <a:off x="1005840" y="2340864"/>
            <a:ext cx="5943600" cy="457200"/>
          </a:xfrm>
          <a:prstGeom prst="rect">
            <a:avLst/>
          </a:prstGeom>
          <a:noFill/>
          <a:ln/>
        </p:spPr>
        <p:txBody>
          <a:bodyPr wrap="square" rtlCol="0" anchor="ctr"/>
          <a:lstStyle/>
          <a:p>
            <a:pPr indent="0" marL="0">
              <a:buNone/>
            </a:pPr>
            <a:r>
              <a:rPr lang="en-US" sz="1050" b="1" dirty="0">
                <a:solidFill>
                  <a:srgbClr val="0A1628"/>
                </a:solidFill>
                <a:latin typeface="Calibri" pitchFamily="34" charset="0"/>
                <a:ea typeface="Calibri" pitchFamily="34" charset="-122"/>
                <a:cs typeface="Calibri" pitchFamily="34" charset="-120"/>
              </a:rPr>
              <a:t>Which segments carry the highest dissatisfaction — and what does that mean financially?</a:t>
            </a:r>
            <a:endParaRPr lang="en-US" sz="1050" dirty="0"/>
          </a:p>
        </p:txBody>
      </p:sp>
      <p:sp>
        <p:nvSpPr>
          <p:cNvPr id="16" name="Text 14"/>
          <p:cNvSpPr/>
          <p:nvPr/>
        </p:nvSpPr>
        <p:spPr>
          <a:xfrm>
            <a:off x="7040880" y="2359152"/>
            <a:ext cx="914400" cy="274320"/>
          </a:xfrm>
          <a:prstGeom prst="rect">
            <a:avLst/>
          </a:prstGeom>
          <a:noFill/>
          <a:ln/>
        </p:spPr>
        <p:txBody>
          <a:bodyPr wrap="square" rtlCol="0" anchor="ctr"/>
          <a:lstStyle/>
          <a:p>
            <a:pPr indent="0" marL="0">
              <a:buNone/>
            </a:pPr>
            <a:r>
              <a:rPr lang="en-US" sz="900" i="1" dirty="0">
                <a:solidFill>
                  <a:srgbClr val="5A6A85"/>
                </a:solidFill>
                <a:latin typeface="Calibri" pitchFamily="34" charset="0"/>
                <a:ea typeface="Calibri" pitchFamily="34" charset="-122"/>
                <a:cs typeface="Calibri" pitchFamily="34" charset="-120"/>
              </a:rPr>
              <a:t>Dashboard 2</a:t>
            </a:r>
            <a:endParaRPr lang="en-US" sz="900" dirty="0"/>
          </a:p>
        </p:txBody>
      </p:sp>
      <p:sp>
        <p:nvSpPr>
          <p:cNvPr id="17" name="Shape 15"/>
          <p:cNvSpPr/>
          <p:nvPr/>
        </p:nvSpPr>
        <p:spPr>
          <a:xfrm>
            <a:off x="320040" y="3218688"/>
            <a:ext cx="7772400" cy="841248"/>
          </a:xfrm>
          <a:prstGeom prst="rect">
            <a:avLst/>
          </a:prstGeom>
          <a:solidFill>
            <a:srgbClr val="F0F4F8"/>
          </a:solidFill>
          <a:ln w="12700">
            <a:solidFill>
              <a:srgbClr val="D0D8E8"/>
            </a:solidFill>
            <a:prstDash val="solid"/>
          </a:ln>
        </p:spPr>
      </p:sp>
      <p:sp>
        <p:nvSpPr>
          <p:cNvPr id="18" name="Shape 16"/>
          <p:cNvSpPr/>
          <p:nvPr/>
        </p:nvSpPr>
        <p:spPr>
          <a:xfrm>
            <a:off x="320040" y="3218688"/>
            <a:ext cx="54864" cy="841248"/>
          </a:xfrm>
          <a:prstGeom prst="rect">
            <a:avLst/>
          </a:prstGeom>
          <a:solidFill>
            <a:srgbClr val="C8A84B"/>
          </a:solidFill>
          <a:ln w="12700">
            <a:solidFill>
              <a:srgbClr val="C8A84B"/>
            </a:solidFill>
            <a:prstDash val="solid"/>
          </a:ln>
        </p:spPr>
      </p:sp>
      <p:sp>
        <p:nvSpPr>
          <p:cNvPr id="19" name="Text 17"/>
          <p:cNvSpPr/>
          <p:nvPr/>
        </p:nvSpPr>
        <p:spPr>
          <a:xfrm>
            <a:off x="502920" y="3310128"/>
            <a:ext cx="457200" cy="274320"/>
          </a:xfrm>
          <a:prstGeom prst="rect">
            <a:avLst/>
          </a:prstGeom>
          <a:noFill/>
          <a:ln/>
        </p:spPr>
        <p:txBody>
          <a:bodyPr wrap="square" rtlCol="0" anchor="ctr"/>
          <a:lstStyle/>
          <a:p>
            <a:pPr indent="0" marL="0">
              <a:buNone/>
            </a:pPr>
            <a:r>
              <a:rPr lang="en-US" sz="1400" b="1" dirty="0">
                <a:solidFill>
                  <a:srgbClr val="C8A84B"/>
                </a:solidFill>
                <a:latin typeface="Calibri" pitchFamily="34" charset="0"/>
                <a:ea typeface="Calibri" pitchFamily="34" charset="-122"/>
                <a:cs typeface="Calibri" pitchFamily="34" charset="-120"/>
              </a:rPr>
              <a:t>03</a:t>
            </a:r>
            <a:endParaRPr lang="en-US" sz="1400" dirty="0"/>
          </a:p>
        </p:txBody>
      </p:sp>
      <p:sp>
        <p:nvSpPr>
          <p:cNvPr id="20" name="Text 18"/>
          <p:cNvSpPr/>
          <p:nvPr/>
        </p:nvSpPr>
        <p:spPr>
          <a:xfrm>
            <a:off x="1005840" y="3310128"/>
            <a:ext cx="5943600" cy="457200"/>
          </a:xfrm>
          <a:prstGeom prst="rect">
            <a:avLst/>
          </a:prstGeom>
          <a:noFill/>
          <a:ln/>
        </p:spPr>
        <p:txBody>
          <a:bodyPr wrap="square" rtlCol="0" anchor="ctr"/>
          <a:lstStyle/>
          <a:p>
            <a:pPr indent="0" marL="0">
              <a:buNone/>
            </a:pPr>
            <a:r>
              <a:rPr lang="en-US" sz="1050" b="1" dirty="0">
                <a:solidFill>
                  <a:srgbClr val="0A1628"/>
                </a:solidFill>
                <a:latin typeface="Calibri" pitchFamily="34" charset="0"/>
                <a:ea typeface="Calibri" pitchFamily="34" charset="-122"/>
                <a:cs typeface="Calibri" pitchFamily="34" charset="-120"/>
              </a:rPr>
              <a:t>Which customers are closest to being lost permanently — the Point of No Return?</a:t>
            </a:r>
            <a:endParaRPr lang="en-US" sz="1050" dirty="0"/>
          </a:p>
        </p:txBody>
      </p:sp>
      <p:sp>
        <p:nvSpPr>
          <p:cNvPr id="21" name="Text 19"/>
          <p:cNvSpPr/>
          <p:nvPr/>
        </p:nvSpPr>
        <p:spPr>
          <a:xfrm>
            <a:off x="7040880" y="3328416"/>
            <a:ext cx="914400" cy="274320"/>
          </a:xfrm>
          <a:prstGeom prst="rect">
            <a:avLst/>
          </a:prstGeom>
          <a:noFill/>
          <a:ln/>
        </p:spPr>
        <p:txBody>
          <a:bodyPr wrap="square" rtlCol="0" anchor="ctr"/>
          <a:lstStyle/>
          <a:p>
            <a:pPr indent="0" marL="0">
              <a:buNone/>
            </a:pPr>
            <a:r>
              <a:rPr lang="en-US" sz="900" i="1" dirty="0">
                <a:solidFill>
                  <a:srgbClr val="5A6A85"/>
                </a:solidFill>
                <a:latin typeface="Calibri" pitchFamily="34" charset="0"/>
                <a:ea typeface="Calibri" pitchFamily="34" charset="-122"/>
                <a:cs typeface="Calibri" pitchFamily="34" charset="-120"/>
              </a:rPr>
              <a:t>Dashboard 3</a:t>
            </a:r>
            <a:endParaRPr lang="en-US" sz="900" dirty="0"/>
          </a:p>
        </p:txBody>
      </p:sp>
      <p:sp>
        <p:nvSpPr>
          <p:cNvPr id="22" name="Shape 20"/>
          <p:cNvSpPr/>
          <p:nvPr/>
        </p:nvSpPr>
        <p:spPr>
          <a:xfrm>
            <a:off x="320040" y="4187952"/>
            <a:ext cx="7772400" cy="841248"/>
          </a:xfrm>
          <a:prstGeom prst="rect">
            <a:avLst/>
          </a:prstGeom>
          <a:solidFill>
            <a:srgbClr val="FFFFFF"/>
          </a:solidFill>
          <a:ln w="12700">
            <a:solidFill>
              <a:srgbClr val="D0D8E8"/>
            </a:solidFill>
            <a:prstDash val="solid"/>
          </a:ln>
        </p:spPr>
      </p:sp>
      <p:sp>
        <p:nvSpPr>
          <p:cNvPr id="23" name="Shape 21"/>
          <p:cNvSpPr/>
          <p:nvPr/>
        </p:nvSpPr>
        <p:spPr>
          <a:xfrm>
            <a:off x="320040" y="4187952"/>
            <a:ext cx="54864" cy="841248"/>
          </a:xfrm>
          <a:prstGeom prst="rect">
            <a:avLst/>
          </a:prstGeom>
          <a:solidFill>
            <a:srgbClr val="C8A84B"/>
          </a:solidFill>
          <a:ln w="12700">
            <a:solidFill>
              <a:srgbClr val="C8A84B"/>
            </a:solidFill>
            <a:prstDash val="solid"/>
          </a:ln>
        </p:spPr>
      </p:sp>
      <p:sp>
        <p:nvSpPr>
          <p:cNvPr id="24" name="Text 22"/>
          <p:cNvSpPr/>
          <p:nvPr/>
        </p:nvSpPr>
        <p:spPr>
          <a:xfrm>
            <a:off x="502920" y="4279392"/>
            <a:ext cx="457200" cy="274320"/>
          </a:xfrm>
          <a:prstGeom prst="rect">
            <a:avLst/>
          </a:prstGeom>
          <a:noFill/>
          <a:ln/>
        </p:spPr>
        <p:txBody>
          <a:bodyPr wrap="square" rtlCol="0" anchor="ctr"/>
          <a:lstStyle/>
          <a:p>
            <a:pPr indent="0" marL="0">
              <a:buNone/>
            </a:pPr>
            <a:r>
              <a:rPr lang="en-US" sz="1400" b="1" dirty="0">
                <a:solidFill>
                  <a:srgbClr val="C8A84B"/>
                </a:solidFill>
                <a:latin typeface="Calibri" pitchFamily="34" charset="0"/>
                <a:ea typeface="Calibri" pitchFamily="34" charset="-122"/>
                <a:cs typeface="Calibri" pitchFamily="34" charset="-120"/>
              </a:rPr>
              <a:t>04</a:t>
            </a:r>
            <a:endParaRPr lang="en-US" sz="1400" dirty="0"/>
          </a:p>
        </p:txBody>
      </p:sp>
      <p:sp>
        <p:nvSpPr>
          <p:cNvPr id="25" name="Text 23"/>
          <p:cNvSpPr/>
          <p:nvPr/>
        </p:nvSpPr>
        <p:spPr>
          <a:xfrm>
            <a:off x="1005840" y="4279392"/>
            <a:ext cx="5943600" cy="457200"/>
          </a:xfrm>
          <a:prstGeom prst="rect">
            <a:avLst/>
          </a:prstGeom>
          <a:noFill/>
          <a:ln/>
        </p:spPr>
        <p:txBody>
          <a:bodyPr wrap="square" rtlCol="0" anchor="ctr"/>
          <a:lstStyle/>
          <a:p>
            <a:pPr indent="0" marL="0">
              <a:buNone/>
            </a:pPr>
            <a:r>
              <a:rPr lang="en-US" sz="1050" b="1" dirty="0">
                <a:solidFill>
                  <a:srgbClr val="0A1628"/>
                </a:solidFill>
                <a:latin typeface="Calibri" pitchFamily="34" charset="0"/>
                <a:ea typeface="Calibri" pitchFamily="34" charset="-122"/>
                <a:cs typeface="Calibri" pitchFamily="34" charset="-120"/>
              </a:rPr>
              <a:t>Where are competitors gaining ground — and how actively are they targeting customers?</a:t>
            </a:r>
            <a:endParaRPr lang="en-US" sz="1050" dirty="0"/>
          </a:p>
        </p:txBody>
      </p:sp>
      <p:sp>
        <p:nvSpPr>
          <p:cNvPr id="26" name="Text 24"/>
          <p:cNvSpPr/>
          <p:nvPr/>
        </p:nvSpPr>
        <p:spPr>
          <a:xfrm>
            <a:off x="7040880" y="4297680"/>
            <a:ext cx="914400" cy="274320"/>
          </a:xfrm>
          <a:prstGeom prst="rect">
            <a:avLst/>
          </a:prstGeom>
          <a:noFill/>
          <a:ln/>
        </p:spPr>
        <p:txBody>
          <a:bodyPr wrap="square" rtlCol="0" anchor="ctr"/>
          <a:lstStyle/>
          <a:p>
            <a:pPr indent="0" marL="0">
              <a:buNone/>
            </a:pPr>
            <a:r>
              <a:rPr lang="en-US" sz="900" i="1" dirty="0">
                <a:solidFill>
                  <a:srgbClr val="5A6A85"/>
                </a:solidFill>
                <a:latin typeface="Calibri" pitchFamily="34" charset="0"/>
                <a:ea typeface="Calibri" pitchFamily="34" charset="-122"/>
                <a:cs typeface="Calibri" pitchFamily="34" charset="-120"/>
              </a:rPr>
              <a:t>Dashboard 4</a:t>
            </a:r>
            <a:endParaRPr lang="en-US" sz="900" dirty="0"/>
          </a:p>
        </p:txBody>
      </p:sp>
      <p:sp>
        <p:nvSpPr>
          <p:cNvPr id="27" name="Shape 25"/>
          <p:cNvSpPr/>
          <p:nvPr/>
        </p:nvSpPr>
        <p:spPr>
          <a:xfrm>
            <a:off x="320040" y="5157216"/>
            <a:ext cx="7772400" cy="841248"/>
          </a:xfrm>
          <a:prstGeom prst="rect">
            <a:avLst/>
          </a:prstGeom>
          <a:solidFill>
            <a:srgbClr val="F0F4F8"/>
          </a:solidFill>
          <a:ln w="12700">
            <a:solidFill>
              <a:srgbClr val="D0D8E8"/>
            </a:solidFill>
            <a:prstDash val="solid"/>
          </a:ln>
        </p:spPr>
      </p:sp>
      <p:sp>
        <p:nvSpPr>
          <p:cNvPr id="28" name="Shape 26"/>
          <p:cNvSpPr/>
          <p:nvPr/>
        </p:nvSpPr>
        <p:spPr>
          <a:xfrm>
            <a:off x="320040" y="5157216"/>
            <a:ext cx="54864" cy="841248"/>
          </a:xfrm>
          <a:prstGeom prst="rect">
            <a:avLst/>
          </a:prstGeom>
          <a:solidFill>
            <a:srgbClr val="C8A84B"/>
          </a:solidFill>
          <a:ln w="12700">
            <a:solidFill>
              <a:srgbClr val="C8A84B"/>
            </a:solidFill>
            <a:prstDash val="solid"/>
          </a:ln>
        </p:spPr>
      </p:sp>
      <p:sp>
        <p:nvSpPr>
          <p:cNvPr id="29" name="Text 27"/>
          <p:cNvSpPr/>
          <p:nvPr/>
        </p:nvSpPr>
        <p:spPr>
          <a:xfrm>
            <a:off x="502920" y="5248656"/>
            <a:ext cx="457200" cy="274320"/>
          </a:xfrm>
          <a:prstGeom prst="rect">
            <a:avLst/>
          </a:prstGeom>
          <a:noFill/>
          <a:ln/>
        </p:spPr>
        <p:txBody>
          <a:bodyPr wrap="square" rtlCol="0" anchor="ctr"/>
          <a:lstStyle/>
          <a:p>
            <a:pPr indent="0" marL="0">
              <a:buNone/>
            </a:pPr>
            <a:r>
              <a:rPr lang="en-US" sz="1400" b="1" dirty="0">
                <a:solidFill>
                  <a:srgbClr val="C8A84B"/>
                </a:solidFill>
                <a:latin typeface="Calibri" pitchFamily="34" charset="0"/>
                <a:ea typeface="Calibri" pitchFamily="34" charset="-122"/>
                <a:cs typeface="Calibri" pitchFamily="34" charset="-120"/>
              </a:rPr>
              <a:t>05</a:t>
            </a:r>
            <a:endParaRPr lang="en-US" sz="1400" dirty="0"/>
          </a:p>
        </p:txBody>
      </p:sp>
      <p:sp>
        <p:nvSpPr>
          <p:cNvPr id="30" name="Text 28"/>
          <p:cNvSpPr/>
          <p:nvPr/>
        </p:nvSpPr>
        <p:spPr>
          <a:xfrm>
            <a:off x="1005840" y="5248656"/>
            <a:ext cx="5943600" cy="457200"/>
          </a:xfrm>
          <a:prstGeom prst="rect">
            <a:avLst/>
          </a:prstGeom>
          <a:noFill/>
          <a:ln/>
        </p:spPr>
        <p:txBody>
          <a:bodyPr wrap="square" rtlCol="0" anchor="ctr"/>
          <a:lstStyle/>
          <a:p>
            <a:pPr indent="0" marL="0">
              <a:buNone/>
            </a:pPr>
            <a:r>
              <a:rPr lang="en-US" sz="1050" b="1" dirty="0">
                <a:solidFill>
                  <a:srgbClr val="0A1628"/>
                </a:solidFill>
                <a:latin typeface="Calibri" pitchFamily="34" charset="0"/>
                <a:ea typeface="Calibri" pitchFamily="34" charset="-122"/>
                <a:cs typeface="Calibri" pitchFamily="34" charset="-120"/>
              </a:rPr>
              <a:t>What is the most viable recovery action AfriTech can take in the next 30 days?</a:t>
            </a:r>
            <a:endParaRPr lang="en-US" sz="1050" dirty="0"/>
          </a:p>
        </p:txBody>
      </p:sp>
      <p:sp>
        <p:nvSpPr>
          <p:cNvPr id="31" name="Text 29"/>
          <p:cNvSpPr/>
          <p:nvPr/>
        </p:nvSpPr>
        <p:spPr>
          <a:xfrm>
            <a:off x="7040880" y="5266944"/>
            <a:ext cx="914400" cy="274320"/>
          </a:xfrm>
          <a:prstGeom prst="rect">
            <a:avLst/>
          </a:prstGeom>
          <a:noFill/>
          <a:ln/>
        </p:spPr>
        <p:txBody>
          <a:bodyPr wrap="square" rtlCol="0" anchor="ctr"/>
          <a:lstStyle/>
          <a:p>
            <a:pPr indent="0" marL="0">
              <a:buNone/>
            </a:pPr>
            <a:r>
              <a:rPr lang="en-US" sz="900" i="1" dirty="0">
                <a:solidFill>
                  <a:srgbClr val="5A6A85"/>
                </a:solidFill>
                <a:latin typeface="Calibri" pitchFamily="34" charset="0"/>
                <a:ea typeface="Calibri" pitchFamily="34" charset="-122"/>
                <a:cs typeface="Calibri" pitchFamily="34" charset="-120"/>
              </a:rPr>
              <a:t>Dashboard 5</a:t>
            </a:r>
            <a:endParaRPr lang="en-US" sz="900" dirty="0"/>
          </a:p>
        </p:txBody>
      </p:sp>
      <p:sp>
        <p:nvSpPr>
          <p:cNvPr id="32" name="Shape 30"/>
          <p:cNvSpPr/>
          <p:nvPr/>
        </p:nvSpPr>
        <p:spPr>
          <a:xfrm>
            <a:off x="8412480" y="1234440"/>
            <a:ext cx="3520440" cy="5074920"/>
          </a:xfrm>
          <a:prstGeom prst="rect">
            <a:avLst/>
          </a:prstGeom>
          <a:solidFill>
            <a:srgbClr val="0A1628"/>
          </a:solidFill>
          <a:ln w="12700">
            <a:solidFill>
              <a:srgbClr val="0A1628"/>
            </a:solidFill>
            <a:prstDash val="solid"/>
          </a:ln>
        </p:spPr>
      </p:sp>
      <p:sp>
        <p:nvSpPr>
          <p:cNvPr id="33" name="Text 31"/>
          <p:cNvSpPr/>
          <p:nvPr/>
        </p:nvSpPr>
        <p:spPr>
          <a:xfrm>
            <a:off x="8595360" y="1371600"/>
            <a:ext cx="3200400" cy="256032"/>
          </a:xfrm>
          <a:prstGeom prst="rect">
            <a:avLst/>
          </a:prstGeom>
          <a:noFill/>
          <a:ln/>
        </p:spPr>
        <p:txBody>
          <a:bodyPr wrap="square" rtlCol="0" anchor="ctr"/>
          <a:lstStyle/>
          <a:p>
            <a:pPr algn="ctr" indent="0" marL="0">
              <a:buNone/>
            </a:pPr>
            <a:r>
              <a:rPr lang="en-US" sz="900" b="1" spc="200" kern="0" dirty="0">
                <a:solidFill>
                  <a:srgbClr val="C8A84B"/>
                </a:solidFill>
                <a:latin typeface="Calibri" pitchFamily="34" charset="0"/>
                <a:ea typeface="Calibri" pitchFamily="34" charset="-122"/>
                <a:cs typeface="Calibri" pitchFamily="34" charset="-120"/>
              </a:rPr>
              <a:t>METHODOLOGY</a:t>
            </a:r>
            <a:endParaRPr lang="en-US" sz="900" dirty="0"/>
          </a:p>
        </p:txBody>
      </p:sp>
      <p:sp>
        <p:nvSpPr>
          <p:cNvPr id="34" name="Shape 32"/>
          <p:cNvSpPr/>
          <p:nvPr/>
        </p:nvSpPr>
        <p:spPr>
          <a:xfrm>
            <a:off x="8595360" y="1755648"/>
            <a:ext cx="3154680" cy="749808"/>
          </a:xfrm>
          <a:prstGeom prst="rect">
            <a:avLst/>
          </a:prstGeom>
          <a:solidFill>
            <a:srgbClr val="0D1F35"/>
          </a:solidFill>
          <a:ln w="12700">
            <a:solidFill>
              <a:srgbClr val="1A2D45"/>
            </a:solidFill>
            <a:prstDash val="solid"/>
          </a:ln>
        </p:spPr>
      </p:sp>
      <p:sp>
        <p:nvSpPr>
          <p:cNvPr id="35" name="Text 33"/>
          <p:cNvSpPr/>
          <p:nvPr/>
        </p:nvSpPr>
        <p:spPr>
          <a:xfrm>
            <a:off x="8732520" y="1828800"/>
            <a:ext cx="365760" cy="274320"/>
          </a:xfrm>
          <a:prstGeom prst="rect">
            <a:avLst/>
          </a:prstGeom>
          <a:noFill/>
          <a:ln/>
        </p:spPr>
        <p:txBody>
          <a:bodyPr wrap="square" rtlCol="0" anchor="ctr"/>
          <a:lstStyle/>
          <a:p>
            <a:pPr indent="0" marL="0">
              <a:buNone/>
            </a:pPr>
            <a:r>
              <a:rPr lang="en-US" sz="1400" b="1" dirty="0">
                <a:solidFill>
                  <a:srgbClr val="C8A84B"/>
                </a:solidFill>
                <a:latin typeface="Calibri" pitchFamily="34" charset="0"/>
                <a:ea typeface="Calibri" pitchFamily="34" charset="-122"/>
                <a:cs typeface="Calibri" pitchFamily="34" charset="-120"/>
              </a:rPr>
              <a:t>1</a:t>
            </a:r>
            <a:endParaRPr lang="en-US" sz="1400" dirty="0"/>
          </a:p>
        </p:txBody>
      </p:sp>
      <p:sp>
        <p:nvSpPr>
          <p:cNvPr id="36" name="Text 34"/>
          <p:cNvSpPr/>
          <p:nvPr/>
        </p:nvSpPr>
        <p:spPr>
          <a:xfrm>
            <a:off x="9144000" y="1810512"/>
            <a:ext cx="2468880" cy="256032"/>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Brief</a:t>
            </a:r>
            <a:endParaRPr lang="en-US" sz="1100" dirty="0"/>
          </a:p>
        </p:txBody>
      </p:sp>
      <p:sp>
        <p:nvSpPr>
          <p:cNvPr id="37" name="Text 35"/>
          <p:cNvSpPr/>
          <p:nvPr/>
        </p:nvSpPr>
        <p:spPr>
          <a:xfrm>
            <a:off x="9144000" y="2066544"/>
            <a:ext cx="2468880" cy="274320"/>
          </a:xfrm>
          <a:prstGeom prst="rect">
            <a:avLst/>
          </a:prstGeom>
          <a:noFill/>
          <a:ln/>
        </p:spPr>
        <p:txBody>
          <a:bodyPr wrap="square" rtlCol="0" anchor="ctr"/>
          <a:lstStyle/>
          <a:p>
            <a:pPr indent="0" marL="0">
              <a:buNone/>
            </a:pPr>
            <a:r>
              <a:rPr lang="en-US" sz="900" i="1" dirty="0">
                <a:solidFill>
                  <a:srgbClr val="8899BB"/>
                </a:solidFill>
                <a:latin typeface="Calibri" pitchFamily="34" charset="0"/>
                <a:ea typeface="Calibri" pitchFamily="34" charset="-122"/>
                <a:cs typeface="Calibri" pitchFamily="34" charset="-120"/>
              </a:rPr>
              <a:t>Define problem &amp; objectives</a:t>
            </a:r>
            <a:endParaRPr lang="en-US" sz="900" dirty="0"/>
          </a:p>
        </p:txBody>
      </p:sp>
      <p:sp>
        <p:nvSpPr>
          <p:cNvPr id="38" name="Text 36"/>
          <p:cNvSpPr/>
          <p:nvPr/>
        </p:nvSpPr>
        <p:spPr>
          <a:xfrm>
            <a:off x="9966960" y="2487168"/>
            <a:ext cx="457200" cy="182880"/>
          </a:xfrm>
          <a:prstGeom prst="rect">
            <a:avLst/>
          </a:prstGeom>
          <a:noFill/>
          <a:ln/>
        </p:spPr>
        <p:txBody>
          <a:bodyPr wrap="square" rtlCol="0" anchor="ctr"/>
          <a:lstStyle/>
          <a:p>
            <a:pPr algn="ctr" indent="0" marL="0">
              <a:buNone/>
            </a:pPr>
            <a:r>
              <a:rPr lang="en-US" sz="1000" dirty="0">
                <a:solidFill>
                  <a:srgbClr val="C8A84B"/>
                </a:solidFill>
                <a:latin typeface="Calibri" pitchFamily="34" charset="0"/>
                <a:ea typeface="Calibri" pitchFamily="34" charset="-122"/>
                <a:cs typeface="Calibri" pitchFamily="34" charset="-120"/>
              </a:rPr>
              <a:t>↓</a:t>
            </a:r>
            <a:endParaRPr lang="en-US" sz="1000" dirty="0"/>
          </a:p>
        </p:txBody>
      </p:sp>
      <p:sp>
        <p:nvSpPr>
          <p:cNvPr id="39" name="Shape 37"/>
          <p:cNvSpPr/>
          <p:nvPr/>
        </p:nvSpPr>
        <p:spPr>
          <a:xfrm>
            <a:off x="8595360" y="2633472"/>
            <a:ext cx="3154680" cy="749808"/>
          </a:xfrm>
          <a:prstGeom prst="rect">
            <a:avLst/>
          </a:prstGeom>
          <a:solidFill>
            <a:srgbClr val="0D1F35"/>
          </a:solidFill>
          <a:ln w="12700">
            <a:solidFill>
              <a:srgbClr val="1A2D45"/>
            </a:solidFill>
            <a:prstDash val="solid"/>
          </a:ln>
        </p:spPr>
      </p:sp>
      <p:sp>
        <p:nvSpPr>
          <p:cNvPr id="40" name="Text 38"/>
          <p:cNvSpPr/>
          <p:nvPr/>
        </p:nvSpPr>
        <p:spPr>
          <a:xfrm>
            <a:off x="8732520" y="2706624"/>
            <a:ext cx="365760" cy="274320"/>
          </a:xfrm>
          <a:prstGeom prst="rect">
            <a:avLst/>
          </a:prstGeom>
          <a:noFill/>
          <a:ln/>
        </p:spPr>
        <p:txBody>
          <a:bodyPr wrap="square" rtlCol="0" anchor="ctr"/>
          <a:lstStyle/>
          <a:p>
            <a:pPr indent="0" marL="0">
              <a:buNone/>
            </a:pPr>
            <a:r>
              <a:rPr lang="en-US" sz="1400" b="1" dirty="0">
                <a:solidFill>
                  <a:srgbClr val="C8A84B"/>
                </a:solidFill>
                <a:latin typeface="Calibri" pitchFamily="34" charset="0"/>
                <a:ea typeface="Calibri" pitchFamily="34" charset="-122"/>
                <a:cs typeface="Calibri" pitchFamily="34" charset="-120"/>
              </a:rPr>
              <a:t>2</a:t>
            </a:r>
            <a:endParaRPr lang="en-US" sz="1400" dirty="0"/>
          </a:p>
        </p:txBody>
      </p:sp>
      <p:sp>
        <p:nvSpPr>
          <p:cNvPr id="41" name="Text 39"/>
          <p:cNvSpPr/>
          <p:nvPr/>
        </p:nvSpPr>
        <p:spPr>
          <a:xfrm>
            <a:off x="9144000" y="2688336"/>
            <a:ext cx="2468880" cy="256032"/>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Data</a:t>
            </a:r>
            <a:endParaRPr lang="en-US" sz="1100" dirty="0"/>
          </a:p>
        </p:txBody>
      </p:sp>
      <p:sp>
        <p:nvSpPr>
          <p:cNvPr id="42" name="Text 40"/>
          <p:cNvSpPr/>
          <p:nvPr/>
        </p:nvSpPr>
        <p:spPr>
          <a:xfrm>
            <a:off x="9144000" y="2944368"/>
            <a:ext cx="2468880" cy="274320"/>
          </a:xfrm>
          <a:prstGeom prst="rect">
            <a:avLst/>
          </a:prstGeom>
          <a:noFill/>
          <a:ln/>
        </p:spPr>
        <p:txBody>
          <a:bodyPr wrap="square" rtlCol="0" anchor="ctr"/>
          <a:lstStyle/>
          <a:p>
            <a:pPr indent="0" marL="0">
              <a:buNone/>
            </a:pPr>
            <a:r>
              <a:rPr lang="en-US" sz="900" i="1" dirty="0">
                <a:solidFill>
                  <a:srgbClr val="8899BB"/>
                </a:solidFill>
                <a:latin typeface="Calibri" pitchFamily="34" charset="0"/>
                <a:ea typeface="Calibri" pitchFamily="34" charset="-122"/>
                <a:cs typeface="Calibri" pitchFamily="34" charset="-120"/>
              </a:rPr>
              <a:t>Power Query → SQL</a:t>
            </a:r>
            <a:endParaRPr lang="en-US" sz="900" dirty="0"/>
          </a:p>
        </p:txBody>
      </p:sp>
      <p:sp>
        <p:nvSpPr>
          <p:cNvPr id="43" name="Text 41"/>
          <p:cNvSpPr/>
          <p:nvPr/>
        </p:nvSpPr>
        <p:spPr>
          <a:xfrm>
            <a:off x="9966960" y="3364992"/>
            <a:ext cx="457200" cy="182880"/>
          </a:xfrm>
          <a:prstGeom prst="rect">
            <a:avLst/>
          </a:prstGeom>
          <a:noFill/>
          <a:ln/>
        </p:spPr>
        <p:txBody>
          <a:bodyPr wrap="square" rtlCol="0" anchor="ctr"/>
          <a:lstStyle/>
          <a:p>
            <a:pPr algn="ctr" indent="0" marL="0">
              <a:buNone/>
            </a:pPr>
            <a:r>
              <a:rPr lang="en-US" sz="1000" dirty="0">
                <a:solidFill>
                  <a:srgbClr val="C8A84B"/>
                </a:solidFill>
                <a:latin typeface="Calibri" pitchFamily="34" charset="0"/>
                <a:ea typeface="Calibri" pitchFamily="34" charset="-122"/>
                <a:cs typeface="Calibri" pitchFamily="34" charset="-120"/>
              </a:rPr>
              <a:t>↓</a:t>
            </a:r>
            <a:endParaRPr lang="en-US" sz="1000" dirty="0"/>
          </a:p>
        </p:txBody>
      </p:sp>
      <p:sp>
        <p:nvSpPr>
          <p:cNvPr id="44" name="Shape 42"/>
          <p:cNvSpPr/>
          <p:nvPr/>
        </p:nvSpPr>
        <p:spPr>
          <a:xfrm>
            <a:off x="8595360" y="3511296"/>
            <a:ext cx="3154680" cy="749808"/>
          </a:xfrm>
          <a:prstGeom prst="rect">
            <a:avLst/>
          </a:prstGeom>
          <a:solidFill>
            <a:srgbClr val="0D1F35"/>
          </a:solidFill>
          <a:ln w="12700">
            <a:solidFill>
              <a:srgbClr val="1A2D45"/>
            </a:solidFill>
            <a:prstDash val="solid"/>
          </a:ln>
        </p:spPr>
      </p:sp>
      <p:sp>
        <p:nvSpPr>
          <p:cNvPr id="45" name="Text 43"/>
          <p:cNvSpPr/>
          <p:nvPr/>
        </p:nvSpPr>
        <p:spPr>
          <a:xfrm>
            <a:off x="8732520" y="3584448"/>
            <a:ext cx="365760" cy="274320"/>
          </a:xfrm>
          <a:prstGeom prst="rect">
            <a:avLst/>
          </a:prstGeom>
          <a:noFill/>
          <a:ln/>
        </p:spPr>
        <p:txBody>
          <a:bodyPr wrap="square" rtlCol="0" anchor="ctr"/>
          <a:lstStyle/>
          <a:p>
            <a:pPr indent="0" marL="0">
              <a:buNone/>
            </a:pPr>
            <a:r>
              <a:rPr lang="en-US" sz="1400" b="1" dirty="0">
                <a:solidFill>
                  <a:srgbClr val="C8A84B"/>
                </a:solidFill>
                <a:latin typeface="Calibri" pitchFamily="34" charset="0"/>
                <a:ea typeface="Calibri" pitchFamily="34" charset="-122"/>
                <a:cs typeface="Calibri" pitchFamily="34" charset="-120"/>
              </a:rPr>
              <a:t>3</a:t>
            </a:r>
            <a:endParaRPr lang="en-US" sz="1400" dirty="0"/>
          </a:p>
        </p:txBody>
      </p:sp>
      <p:sp>
        <p:nvSpPr>
          <p:cNvPr id="46" name="Text 44"/>
          <p:cNvSpPr/>
          <p:nvPr/>
        </p:nvSpPr>
        <p:spPr>
          <a:xfrm>
            <a:off x="9144000" y="3566160"/>
            <a:ext cx="2468880" cy="256032"/>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Analysis</a:t>
            </a:r>
            <a:endParaRPr lang="en-US" sz="1100" dirty="0"/>
          </a:p>
        </p:txBody>
      </p:sp>
      <p:sp>
        <p:nvSpPr>
          <p:cNvPr id="47" name="Text 45"/>
          <p:cNvSpPr/>
          <p:nvPr/>
        </p:nvSpPr>
        <p:spPr>
          <a:xfrm>
            <a:off x="9144000" y="3822192"/>
            <a:ext cx="2468880" cy="274320"/>
          </a:xfrm>
          <a:prstGeom prst="rect">
            <a:avLst/>
          </a:prstGeom>
          <a:noFill/>
          <a:ln/>
        </p:spPr>
        <p:txBody>
          <a:bodyPr wrap="square" rtlCol="0" anchor="ctr"/>
          <a:lstStyle/>
          <a:p>
            <a:pPr indent="0" marL="0">
              <a:buNone/>
            </a:pPr>
            <a:r>
              <a:rPr lang="en-US" sz="900" i="1" dirty="0">
                <a:solidFill>
                  <a:srgbClr val="8899BB"/>
                </a:solidFill>
                <a:latin typeface="Calibri" pitchFamily="34" charset="0"/>
                <a:ea typeface="Calibri" pitchFamily="34" charset="-122"/>
                <a:cs typeface="Calibri" pitchFamily="34" charset="-120"/>
              </a:rPr>
              <a:t>5 dashboard workstreams</a:t>
            </a:r>
            <a:endParaRPr lang="en-US" sz="900" dirty="0"/>
          </a:p>
        </p:txBody>
      </p:sp>
      <p:sp>
        <p:nvSpPr>
          <p:cNvPr id="48" name="Text 46"/>
          <p:cNvSpPr/>
          <p:nvPr/>
        </p:nvSpPr>
        <p:spPr>
          <a:xfrm>
            <a:off x="9966960" y="4242816"/>
            <a:ext cx="457200" cy="182880"/>
          </a:xfrm>
          <a:prstGeom prst="rect">
            <a:avLst/>
          </a:prstGeom>
          <a:noFill/>
          <a:ln/>
        </p:spPr>
        <p:txBody>
          <a:bodyPr wrap="square" rtlCol="0" anchor="ctr"/>
          <a:lstStyle/>
          <a:p>
            <a:pPr algn="ctr" indent="0" marL="0">
              <a:buNone/>
            </a:pPr>
            <a:r>
              <a:rPr lang="en-US" sz="1000" dirty="0">
                <a:solidFill>
                  <a:srgbClr val="C8A84B"/>
                </a:solidFill>
                <a:latin typeface="Calibri" pitchFamily="34" charset="0"/>
                <a:ea typeface="Calibri" pitchFamily="34" charset="-122"/>
                <a:cs typeface="Calibri" pitchFamily="34" charset="-120"/>
              </a:rPr>
              <a:t>↓</a:t>
            </a:r>
            <a:endParaRPr lang="en-US" sz="1000" dirty="0"/>
          </a:p>
        </p:txBody>
      </p:sp>
      <p:sp>
        <p:nvSpPr>
          <p:cNvPr id="49" name="Shape 47"/>
          <p:cNvSpPr/>
          <p:nvPr/>
        </p:nvSpPr>
        <p:spPr>
          <a:xfrm>
            <a:off x="8595360" y="4389120"/>
            <a:ext cx="3154680" cy="749808"/>
          </a:xfrm>
          <a:prstGeom prst="rect">
            <a:avLst/>
          </a:prstGeom>
          <a:solidFill>
            <a:srgbClr val="0D1F35"/>
          </a:solidFill>
          <a:ln w="12700">
            <a:solidFill>
              <a:srgbClr val="1A2D45"/>
            </a:solidFill>
            <a:prstDash val="solid"/>
          </a:ln>
        </p:spPr>
      </p:sp>
      <p:sp>
        <p:nvSpPr>
          <p:cNvPr id="50" name="Text 48"/>
          <p:cNvSpPr/>
          <p:nvPr/>
        </p:nvSpPr>
        <p:spPr>
          <a:xfrm>
            <a:off x="8732520" y="4462272"/>
            <a:ext cx="365760" cy="274320"/>
          </a:xfrm>
          <a:prstGeom prst="rect">
            <a:avLst/>
          </a:prstGeom>
          <a:noFill/>
          <a:ln/>
        </p:spPr>
        <p:txBody>
          <a:bodyPr wrap="square" rtlCol="0" anchor="ctr"/>
          <a:lstStyle/>
          <a:p>
            <a:pPr indent="0" marL="0">
              <a:buNone/>
            </a:pPr>
            <a:r>
              <a:rPr lang="en-US" sz="1400" b="1" dirty="0">
                <a:solidFill>
                  <a:srgbClr val="C8A84B"/>
                </a:solidFill>
                <a:latin typeface="Calibri" pitchFamily="34" charset="0"/>
                <a:ea typeface="Calibri" pitchFamily="34" charset="-122"/>
                <a:cs typeface="Calibri" pitchFamily="34" charset="-120"/>
              </a:rPr>
              <a:t>4</a:t>
            </a:r>
            <a:endParaRPr lang="en-US" sz="1400" dirty="0"/>
          </a:p>
        </p:txBody>
      </p:sp>
      <p:sp>
        <p:nvSpPr>
          <p:cNvPr id="51" name="Text 49"/>
          <p:cNvSpPr/>
          <p:nvPr/>
        </p:nvSpPr>
        <p:spPr>
          <a:xfrm>
            <a:off x="9144000" y="4443984"/>
            <a:ext cx="2468880" cy="256032"/>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Recommend</a:t>
            </a:r>
            <a:endParaRPr lang="en-US" sz="1100" dirty="0"/>
          </a:p>
        </p:txBody>
      </p:sp>
      <p:sp>
        <p:nvSpPr>
          <p:cNvPr id="52" name="Text 50"/>
          <p:cNvSpPr/>
          <p:nvPr/>
        </p:nvSpPr>
        <p:spPr>
          <a:xfrm>
            <a:off x="9144000" y="4700016"/>
            <a:ext cx="2468880" cy="274320"/>
          </a:xfrm>
          <a:prstGeom prst="rect">
            <a:avLst/>
          </a:prstGeom>
          <a:noFill/>
          <a:ln/>
        </p:spPr>
        <p:txBody>
          <a:bodyPr wrap="square" rtlCol="0" anchor="ctr"/>
          <a:lstStyle/>
          <a:p>
            <a:pPr indent="0" marL="0">
              <a:buNone/>
            </a:pPr>
            <a:r>
              <a:rPr lang="en-US" sz="900" i="1" dirty="0">
                <a:solidFill>
                  <a:srgbClr val="8899BB"/>
                </a:solidFill>
                <a:latin typeface="Calibri" pitchFamily="34" charset="0"/>
                <a:ea typeface="Calibri" pitchFamily="34" charset="-122"/>
                <a:cs typeface="Calibri" pitchFamily="34" charset="-120"/>
              </a:rPr>
              <a:t>Prioritised actions</a:t>
            </a:r>
            <a:endParaRPr lang="en-US" sz="900" dirty="0"/>
          </a:p>
        </p:txBody>
      </p:sp>
      <p:sp>
        <p:nvSpPr>
          <p:cNvPr id="53" name="Text 51"/>
          <p:cNvSpPr/>
          <p:nvPr/>
        </p:nvSpPr>
        <p:spPr>
          <a:xfrm>
            <a:off x="9966960" y="5120640"/>
            <a:ext cx="457200" cy="182880"/>
          </a:xfrm>
          <a:prstGeom prst="rect">
            <a:avLst/>
          </a:prstGeom>
          <a:noFill/>
          <a:ln/>
        </p:spPr>
        <p:txBody>
          <a:bodyPr wrap="square" rtlCol="0" anchor="ctr"/>
          <a:lstStyle/>
          <a:p>
            <a:pPr algn="ctr" indent="0" marL="0">
              <a:buNone/>
            </a:pPr>
            <a:r>
              <a:rPr lang="en-US" sz="1000" dirty="0">
                <a:solidFill>
                  <a:srgbClr val="C8A84B"/>
                </a:solidFill>
                <a:latin typeface="Calibri" pitchFamily="34" charset="0"/>
                <a:ea typeface="Calibri" pitchFamily="34" charset="-122"/>
                <a:cs typeface="Calibri" pitchFamily="34" charset="-120"/>
              </a:rPr>
              <a:t>↓</a:t>
            </a:r>
            <a:endParaRPr lang="en-US" sz="1000" dirty="0"/>
          </a:p>
        </p:txBody>
      </p:sp>
      <p:sp>
        <p:nvSpPr>
          <p:cNvPr id="54" name="Shape 52"/>
          <p:cNvSpPr/>
          <p:nvPr/>
        </p:nvSpPr>
        <p:spPr>
          <a:xfrm>
            <a:off x="8595360" y="5266944"/>
            <a:ext cx="3154680" cy="749808"/>
          </a:xfrm>
          <a:prstGeom prst="rect">
            <a:avLst/>
          </a:prstGeom>
          <a:solidFill>
            <a:srgbClr val="0D1F35"/>
          </a:solidFill>
          <a:ln w="12700">
            <a:solidFill>
              <a:srgbClr val="1A2D45"/>
            </a:solidFill>
            <a:prstDash val="solid"/>
          </a:ln>
        </p:spPr>
      </p:sp>
      <p:sp>
        <p:nvSpPr>
          <p:cNvPr id="55" name="Text 53"/>
          <p:cNvSpPr/>
          <p:nvPr/>
        </p:nvSpPr>
        <p:spPr>
          <a:xfrm>
            <a:off x="8732520" y="5340096"/>
            <a:ext cx="365760" cy="274320"/>
          </a:xfrm>
          <a:prstGeom prst="rect">
            <a:avLst/>
          </a:prstGeom>
          <a:noFill/>
          <a:ln/>
        </p:spPr>
        <p:txBody>
          <a:bodyPr wrap="square" rtlCol="0" anchor="ctr"/>
          <a:lstStyle/>
          <a:p>
            <a:pPr indent="0" marL="0">
              <a:buNone/>
            </a:pPr>
            <a:r>
              <a:rPr lang="en-US" sz="1400" b="1" dirty="0">
                <a:solidFill>
                  <a:srgbClr val="C8A84B"/>
                </a:solidFill>
                <a:latin typeface="Calibri" pitchFamily="34" charset="0"/>
                <a:ea typeface="Calibri" pitchFamily="34" charset="-122"/>
                <a:cs typeface="Calibri" pitchFamily="34" charset="-120"/>
              </a:rPr>
              <a:t>5</a:t>
            </a:r>
            <a:endParaRPr lang="en-US" sz="1400" dirty="0"/>
          </a:p>
        </p:txBody>
      </p:sp>
      <p:sp>
        <p:nvSpPr>
          <p:cNvPr id="56" name="Text 54"/>
          <p:cNvSpPr/>
          <p:nvPr/>
        </p:nvSpPr>
        <p:spPr>
          <a:xfrm>
            <a:off x="9144000" y="5321808"/>
            <a:ext cx="2468880" cy="256032"/>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Impact</a:t>
            </a:r>
            <a:endParaRPr lang="en-US" sz="1100" dirty="0"/>
          </a:p>
        </p:txBody>
      </p:sp>
      <p:sp>
        <p:nvSpPr>
          <p:cNvPr id="57" name="Text 55"/>
          <p:cNvSpPr/>
          <p:nvPr/>
        </p:nvSpPr>
        <p:spPr>
          <a:xfrm>
            <a:off x="9144000" y="5577840"/>
            <a:ext cx="2468880" cy="274320"/>
          </a:xfrm>
          <a:prstGeom prst="rect">
            <a:avLst/>
          </a:prstGeom>
          <a:noFill/>
          <a:ln/>
        </p:spPr>
        <p:txBody>
          <a:bodyPr wrap="square" rtlCol="0" anchor="ctr"/>
          <a:lstStyle/>
          <a:p>
            <a:pPr indent="0" marL="0">
              <a:buNone/>
            </a:pPr>
            <a:r>
              <a:rPr lang="en-US" sz="900" i="1" dirty="0">
                <a:solidFill>
                  <a:srgbClr val="8899BB"/>
                </a:solidFill>
                <a:latin typeface="Calibri" pitchFamily="34" charset="0"/>
                <a:ea typeface="Calibri" pitchFamily="34" charset="-122"/>
                <a:cs typeface="Calibri" pitchFamily="34" charset="-120"/>
              </a:rPr>
              <a:t>Quantify cost of inaction</a:t>
            </a:r>
            <a:endParaRPr lang="en-US" sz="900" dirty="0"/>
          </a:p>
        </p:txBody>
      </p:sp>
      <p:sp>
        <p:nvSpPr>
          <p:cNvPr id="58" name="Shape 56"/>
          <p:cNvSpPr/>
          <p:nvPr/>
        </p:nvSpPr>
        <p:spPr>
          <a:xfrm>
            <a:off x="320040" y="6053328"/>
            <a:ext cx="7772400" cy="320040"/>
          </a:xfrm>
          <a:prstGeom prst="rect">
            <a:avLst/>
          </a:prstGeom>
          <a:solidFill>
            <a:srgbClr val="FDF8EC"/>
          </a:solidFill>
          <a:ln w="12700">
            <a:solidFill>
              <a:srgbClr val="C8A84B"/>
            </a:solidFill>
            <a:prstDash val="solid"/>
          </a:ln>
        </p:spPr>
      </p:sp>
      <p:sp>
        <p:nvSpPr>
          <p:cNvPr id="59" name="Text 57"/>
          <p:cNvSpPr/>
          <p:nvPr/>
        </p:nvSpPr>
        <p:spPr>
          <a:xfrm>
            <a:off x="457200" y="6108192"/>
            <a:ext cx="1097280" cy="201168"/>
          </a:xfrm>
          <a:prstGeom prst="rect">
            <a:avLst/>
          </a:prstGeom>
          <a:noFill/>
          <a:ln/>
        </p:spPr>
        <p:txBody>
          <a:bodyPr wrap="square" rtlCol="0" anchor="ctr"/>
          <a:lstStyle/>
          <a:p>
            <a:pPr indent="0" marL="0">
              <a:buNone/>
            </a:pPr>
            <a:r>
              <a:rPr lang="en-US" sz="900" b="1" dirty="0">
                <a:solidFill>
                  <a:srgbClr val="D4820A"/>
                </a:solidFill>
                <a:latin typeface="Calibri" pitchFamily="34" charset="0"/>
                <a:ea typeface="Calibri" pitchFamily="34" charset="-122"/>
                <a:cs typeface="Calibri" pitchFamily="34" charset="-120"/>
              </a:rPr>
              <a:t>Tools used:</a:t>
            </a:r>
            <a:endParaRPr lang="en-US" sz="900" dirty="0"/>
          </a:p>
        </p:txBody>
      </p:sp>
      <p:sp>
        <p:nvSpPr>
          <p:cNvPr id="60" name="Text 58"/>
          <p:cNvSpPr/>
          <p:nvPr/>
        </p:nvSpPr>
        <p:spPr>
          <a:xfrm>
            <a:off x="1645920" y="6108192"/>
            <a:ext cx="6217920" cy="201168"/>
          </a:xfrm>
          <a:prstGeom prst="rect">
            <a:avLst/>
          </a:prstGeom>
          <a:noFill/>
          <a:ln/>
        </p:spPr>
        <p:txBody>
          <a:bodyPr wrap="square" rtlCol="0" anchor="ctr"/>
          <a:lstStyle/>
          <a:p>
            <a:pPr indent="0" marL="0">
              <a:buNone/>
            </a:pPr>
            <a:r>
              <a:rPr lang="en-US" sz="900" dirty="0">
                <a:solidFill>
                  <a:srgbClr val="2A2820"/>
                </a:solidFill>
                <a:latin typeface="Calibri" pitchFamily="34" charset="0"/>
                <a:ea typeface="Calibri" pitchFamily="34" charset="-122"/>
                <a:cs typeface="Calibri" pitchFamily="34" charset="-120"/>
              </a:rPr>
              <a:t>Power Query  ·  PostgreSQL  ·  Power BI  ·  Excel  ·  DAX  ·  Python  ·  SQL</a:t>
            </a:r>
            <a:endParaRPr lang="en-US" sz="900" dirty="0"/>
          </a:p>
        </p:txBody>
      </p:sp>
      <p:sp>
        <p:nvSpPr>
          <p:cNvPr id="61" name="Shape 59"/>
          <p:cNvSpPr/>
          <p:nvPr/>
        </p:nvSpPr>
        <p:spPr>
          <a:xfrm>
            <a:off x="0" y="6537960"/>
            <a:ext cx="12161520" cy="320040"/>
          </a:xfrm>
          <a:prstGeom prst="rect">
            <a:avLst/>
          </a:prstGeom>
          <a:solidFill>
            <a:srgbClr val="0A1628"/>
          </a:solidFill>
          <a:ln w="12700">
            <a:solidFill>
              <a:srgbClr val="0A1628"/>
            </a:solidFill>
            <a:prstDash val="solid"/>
          </a:ln>
        </p:spPr>
      </p:sp>
      <p:sp>
        <p:nvSpPr>
          <p:cNvPr id="62" name="Text 60"/>
          <p:cNvSpPr/>
          <p:nvPr/>
        </p:nvSpPr>
        <p:spPr>
          <a:xfrm>
            <a:off x="365760" y="6565392"/>
            <a:ext cx="9144000" cy="256032"/>
          </a:xfrm>
          <a:prstGeom prst="rect">
            <a:avLst/>
          </a:prstGeom>
          <a:noFill/>
          <a:ln/>
        </p:spPr>
        <p:txBody>
          <a:bodyPr wrap="square" rtlCol="0" anchor="ctr"/>
          <a:lstStyle/>
          <a:p>
            <a:pPr indent="0" marL="0">
              <a:buNone/>
            </a:pPr>
            <a:r>
              <a:rPr lang="en-US" sz="750" dirty="0">
                <a:solidFill>
                  <a:srgbClr val="8899BB"/>
                </a:solidFill>
                <a:latin typeface="Calibri" pitchFamily="34" charset="0"/>
                <a:ea typeface="Calibri" pitchFamily="34" charset="-122"/>
                <a:cs typeface="Calibri" pitchFamily="34" charset="-120"/>
              </a:rPr>
              <a:t>Samuel Ahinakwa  |  Finance &amp; Analytics Professional  |  BSc · MSc · ICAG Finalist  |  Confidential</a:t>
            </a:r>
            <a:endParaRPr lang="en-US" sz="750" dirty="0"/>
          </a:p>
        </p:txBody>
      </p:sp>
      <p:sp>
        <p:nvSpPr>
          <p:cNvPr id="63" name="Text 61"/>
          <p:cNvSpPr/>
          <p:nvPr/>
        </p:nvSpPr>
        <p:spPr>
          <a:xfrm>
            <a:off x="11338560" y="6565392"/>
            <a:ext cx="731520" cy="256032"/>
          </a:xfrm>
          <a:prstGeom prst="rect">
            <a:avLst/>
          </a:prstGeom>
          <a:noFill/>
          <a:ln/>
        </p:spPr>
        <p:txBody>
          <a:bodyPr wrap="square" rtlCol="0" anchor="ctr"/>
          <a:lstStyle/>
          <a:p>
            <a:pPr algn="r" indent="0" marL="0">
              <a:buNone/>
            </a:pPr>
            <a:r>
              <a:rPr lang="en-US" sz="800" dirty="0">
                <a:solidFill>
                  <a:srgbClr val="C8A84B"/>
                </a:solidFill>
                <a:latin typeface="Calibri" pitchFamily="34" charset="0"/>
                <a:ea typeface="Calibri" pitchFamily="34" charset="-122"/>
                <a:cs typeface="Calibri" pitchFamily="34" charset="-120"/>
              </a:rPr>
              <a:t>4 / 26</a:t>
            </a:r>
            <a:endParaRPr lang="en-US" sz="800" dirty="0"/>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1051560"/>
          </a:xfrm>
          <a:prstGeom prst="rect">
            <a:avLst/>
          </a:prstGeom>
          <a:solidFill>
            <a:srgbClr val="0A1628"/>
          </a:solidFill>
          <a:ln w="12700">
            <a:solidFill>
              <a:srgbClr val="0A1628"/>
            </a:solidFill>
            <a:prstDash val="solid"/>
          </a:ln>
        </p:spPr>
      </p:sp>
      <p:sp>
        <p:nvSpPr>
          <p:cNvPr id="3" name="Shape 1"/>
          <p:cNvSpPr/>
          <p:nvPr/>
        </p:nvSpPr>
        <p:spPr>
          <a:xfrm>
            <a:off x="0" y="1051560"/>
            <a:ext cx="12161520" cy="36576"/>
          </a:xfrm>
          <a:prstGeom prst="rect">
            <a:avLst/>
          </a:prstGeom>
          <a:solidFill>
            <a:srgbClr val="C8A84B"/>
          </a:solidFill>
          <a:ln w="12700">
            <a:solidFill>
              <a:srgbClr val="C8A84B"/>
            </a:solidFill>
            <a:prstDash val="solid"/>
          </a:ln>
        </p:spPr>
      </p:sp>
      <p:sp>
        <p:nvSpPr>
          <p:cNvPr id="4" name="Text 2"/>
          <p:cNvSpPr/>
          <p:nvPr/>
        </p:nvSpPr>
        <p:spPr>
          <a:xfrm>
            <a:off x="365760" y="64008"/>
            <a:ext cx="4572000" cy="228600"/>
          </a:xfrm>
          <a:prstGeom prst="rect">
            <a:avLst/>
          </a:prstGeom>
          <a:noFill/>
          <a:ln/>
        </p:spPr>
        <p:txBody>
          <a:bodyPr wrap="square" rtlCol="0" anchor="ctr"/>
          <a:lstStyle/>
          <a:p>
            <a:pPr indent="0" marL="0">
              <a:buNone/>
            </a:pPr>
            <a:r>
              <a:rPr lang="en-US" sz="800" b="1" spc="200" kern="0" dirty="0">
                <a:solidFill>
                  <a:srgbClr val="C8A84B"/>
                </a:solidFill>
                <a:latin typeface="Calibri" pitchFamily="34" charset="0"/>
                <a:ea typeface="Calibri" pitchFamily="34" charset="-122"/>
                <a:cs typeface="Calibri" pitchFamily="34" charset="-120"/>
              </a:rPr>
              <a:t>KEY FINDINGS</a:t>
            </a:r>
            <a:endParaRPr lang="en-US" sz="800" dirty="0"/>
          </a:p>
        </p:txBody>
      </p:sp>
      <p:sp>
        <p:nvSpPr>
          <p:cNvPr id="5" name="Text 3"/>
          <p:cNvSpPr/>
          <p:nvPr/>
        </p:nvSpPr>
        <p:spPr>
          <a:xfrm>
            <a:off x="365760" y="256032"/>
            <a:ext cx="9601200" cy="566928"/>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Five Findings. One Connected Story.</a:t>
            </a:r>
            <a:endParaRPr lang="en-US" sz="2600" dirty="0"/>
          </a:p>
        </p:txBody>
      </p:sp>
      <p:sp>
        <p:nvSpPr>
          <p:cNvPr id="6" name="Text 4"/>
          <p:cNvSpPr/>
          <p:nvPr/>
        </p:nvSpPr>
        <p:spPr>
          <a:xfrm>
            <a:off x="365760" y="795528"/>
            <a:ext cx="10058400" cy="228600"/>
          </a:xfrm>
          <a:prstGeom prst="rect">
            <a:avLst/>
          </a:prstGeom>
          <a:noFill/>
          <a:ln/>
        </p:spPr>
        <p:txBody>
          <a:bodyPr wrap="square" rtlCol="0" anchor="ctr"/>
          <a:lstStyle/>
          <a:p>
            <a:pPr indent="0" marL="0">
              <a:buNone/>
            </a:pPr>
            <a:r>
              <a:rPr lang="en-US" sz="1050" i="1" dirty="0">
                <a:solidFill>
                  <a:srgbClr val="8899BB"/>
                </a:solidFill>
                <a:latin typeface="Calibri" pitchFamily="34" charset="0"/>
                <a:ea typeface="Calibri" pitchFamily="34" charset="-122"/>
                <a:cs typeface="Calibri" pitchFamily="34" charset="-120"/>
              </a:rPr>
              <a:t>Each finding compounds the next — the damage is systemic, not isolated.</a:t>
            </a:r>
            <a:endParaRPr lang="en-US" sz="1050" dirty="0"/>
          </a:p>
        </p:txBody>
      </p:sp>
      <p:sp>
        <p:nvSpPr>
          <p:cNvPr id="7" name="Shape 5"/>
          <p:cNvSpPr/>
          <p:nvPr/>
        </p:nvSpPr>
        <p:spPr>
          <a:xfrm>
            <a:off x="320040" y="1234440"/>
            <a:ext cx="2194560" cy="2194560"/>
          </a:xfrm>
          <a:prstGeom prst="rect">
            <a:avLst/>
          </a:prstGeom>
          <a:solidFill>
            <a:srgbClr val="FEF2F2"/>
          </a:solidFill>
          <a:ln w="12700">
            <a:solidFill>
              <a:srgbClr val="C0392B"/>
            </a:solidFill>
            <a:prstDash val="solid"/>
          </a:ln>
        </p:spPr>
      </p:sp>
      <p:sp>
        <p:nvSpPr>
          <p:cNvPr id="8" name="Shape 6"/>
          <p:cNvSpPr/>
          <p:nvPr/>
        </p:nvSpPr>
        <p:spPr>
          <a:xfrm>
            <a:off x="320040" y="1234440"/>
            <a:ext cx="2194560" cy="45720"/>
          </a:xfrm>
          <a:prstGeom prst="rect">
            <a:avLst/>
          </a:prstGeom>
          <a:solidFill>
            <a:srgbClr val="C0392B"/>
          </a:solidFill>
          <a:ln w="12700">
            <a:solidFill>
              <a:srgbClr val="C0392B"/>
            </a:solidFill>
            <a:prstDash val="solid"/>
          </a:ln>
        </p:spPr>
      </p:sp>
      <p:sp>
        <p:nvSpPr>
          <p:cNvPr id="9" name="Text 7"/>
          <p:cNvSpPr/>
          <p:nvPr/>
        </p:nvSpPr>
        <p:spPr>
          <a:xfrm>
            <a:off x="429768" y="1307592"/>
            <a:ext cx="457200" cy="256032"/>
          </a:xfrm>
          <a:prstGeom prst="rect">
            <a:avLst/>
          </a:prstGeom>
          <a:noFill/>
          <a:ln/>
        </p:spPr>
        <p:txBody>
          <a:bodyPr wrap="square" rtlCol="0" anchor="ctr"/>
          <a:lstStyle/>
          <a:p>
            <a:pPr indent="0" marL="0">
              <a:buNone/>
            </a:pPr>
            <a:r>
              <a:rPr lang="en-US" sz="1100" b="1" dirty="0">
                <a:solidFill>
                  <a:srgbClr val="C0392B"/>
                </a:solidFill>
                <a:latin typeface="Calibri" pitchFamily="34" charset="0"/>
                <a:ea typeface="Calibri" pitchFamily="34" charset="-122"/>
                <a:cs typeface="Calibri" pitchFamily="34" charset="-120"/>
              </a:rPr>
              <a:t>F1</a:t>
            </a:r>
            <a:endParaRPr lang="en-US" sz="1100" dirty="0"/>
          </a:p>
        </p:txBody>
      </p:sp>
      <p:sp>
        <p:nvSpPr>
          <p:cNvPr id="10" name="Text 8"/>
          <p:cNvSpPr/>
          <p:nvPr/>
        </p:nvSpPr>
        <p:spPr>
          <a:xfrm>
            <a:off x="429768" y="1600200"/>
            <a:ext cx="1975104" cy="320040"/>
          </a:xfrm>
          <a:prstGeom prst="rect">
            <a:avLst/>
          </a:prstGeom>
          <a:noFill/>
          <a:ln/>
        </p:spPr>
        <p:txBody>
          <a:bodyPr wrap="square" rtlCol="0" anchor="ctr"/>
          <a:lstStyle/>
          <a:p>
            <a:pPr algn="ctr" indent="0" marL="0">
              <a:buNone/>
            </a:pPr>
            <a:r>
              <a:rPr lang="en-US" sz="1200" b="1" dirty="0">
                <a:solidFill>
                  <a:srgbClr val="0A1628"/>
                </a:solidFill>
                <a:latin typeface="Calibri" pitchFamily="34" charset="0"/>
                <a:ea typeface="Calibri" pitchFamily="34" charset="-122"/>
                <a:cs typeface="Calibri" pitchFamily="34" charset="-120"/>
              </a:rPr>
              <a:t>Sentiment Collapsed</a:t>
            </a:r>
            <a:endParaRPr lang="en-US" sz="1200" dirty="0"/>
          </a:p>
        </p:txBody>
      </p:sp>
      <p:sp>
        <p:nvSpPr>
          <p:cNvPr id="11" name="Text 9"/>
          <p:cNvSpPr/>
          <p:nvPr/>
        </p:nvSpPr>
        <p:spPr>
          <a:xfrm>
            <a:off x="429768" y="2011680"/>
            <a:ext cx="1975104" cy="292608"/>
          </a:xfrm>
          <a:prstGeom prst="rect">
            <a:avLst/>
          </a:prstGeom>
          <a:noFill/>
          <a:ln/>
        </p:spPr>
        <p:txBody>
          <a:bodyPr wrap="square" rtlCol="0" anchor="ctr"/>
          <a:lstStyle/>
          <a:p>
            <a:pPr algn="ctr" indent="0" marL="0">
              <a:buNone/>
            </a:pPr>
            <a:r>
              <a:rPr lang="en-US" sz="1400" b="1" dirty="0">
                <a:solidFill>
                  <a:srgbClr val="C0392B"/>
                </a:solidFill>
                <a:latin typeface="Calibri" pitchFamily="34" charset="0"/>
                <a:ea typeface="Calibri" pitchFamily="34" charset="-122"/>
                <a:cs typeface="Calibri" pitchFamily="34" charset="-120"/>
              </a:rPr>
              <a:t>NPS: −46.23</a:t>
            </a:r>
            <a:endParaRPr lang="en-US" sz="1400" dirty="0"/>
          </a:p>
        </p:txBody>
      </p:sp>
      <p:sp>
        <p:nvSpPr>
          <p:cNvPr id="12" name="Text 10"/>
          <p:cNvSpPr/>
          <p:nvPr/>
        </p:nvSpPr>
        <p:spPr>
          <a:xfrm>
            <a:off x="429768" y="2331720"/>
            <a:ext cx="1975104" cy="256032"/>
          </a:xfrm>
          <a:prstGeom prst="rect">
            <a:avLst/>
          </a:prstGeom>
          <a:noFill/>
          <a:ln/>
        </p:spPr>
        <p:txBody>
          <a:bodyPr wrap="square" rtlCol="0" anchor="ctr"/>
          <a:lstStyle/>
          <a:p>
            <a:pPr algn="ctr" indent="0" marL="0">
              <a:buNone/>
            </a:pPr>
            <a:r>
              <a:rPr lang="en-US" sz="900" dirty="0">
                <a:solidFill>
                  <a:srgbClr val="5A6A85"/>
                </a:solidFill>
                <a:latin typeface="Calibri" pitchFamily="34" charset="0"/>
                <a:ea typeface="Calibri" pitchFamily="34" charset="-122"/>
                <a:cs typeface="Calibri" pitchFamily="34" charset="-120"/>
              </a:rPr>
              <a:t>Industry: +40 to +55</a:t>
            </a:r>
            <a:endParaRPr lang="en-US" sz="900" dirty="0"/>
          </a:p>
        </p:txBody>
      </p:sp>
      <p:sp>
        <p:nvSpPr>
          <p:cNvPr id="13" name="Text 11"/>
          <p:cNvSpPr/>
          <p:nvPr/>
        </p:nvSpPr>
        <p:spPr>
          <a:xfrm>
            <a:off x="429768" y="2606040"/>
            <a:ext cx="1975104" cy="256032"/>
          </a:xfrm>
          <a:prstGeom prst="rect">
            <a:avLst/>
          </a:prstGeom>
          <a:noFill/>
          <a:ln/>
        </p:spPr>
        <p:txBody>
          <a:bodyPr wrap="square" rtlCol="0" anchor="ctr"/>
          <a:lstStyle/>
          <a:p>
            <a:pPr algn="ctr" indent="0" marL="0">
              <a:buNone/>
            </a:pPr>
            <a:r>
              <a:rPr lang="en-US" sz="900" b="1" dirty="0">
                <a:solidFill>
                  <a:srgbClr val="C0392B"/>
                </a:solidFill>
                <a:latin typeface="Calibri" pitchFamily="34" charset="0"/>
                <a:ea typeface="Calibri" pitchFamily="34" charset="-122"/>
                <a:cs typeface="Calibri" pitchFamily="34" charset="-120"/>
              </a:rPr>
              <a:t>Gap: 86 points</a:t>
            </a:r>
            <a:endParaRPr lang="en-US" sz="900" dirty="0"/>
          </a:p>
        </p:txBody>
      </p:sp>
      <p:sp>
        <p:nvSpPr>
          <p:cNvPr id="14" name="Shape 12"/>
          <p:cNvSpPr/>
          <p:nvPr/>
        </p:nvSpPr>
        <p:spPr>
          <a:xfrm>
            <a:off x="2624328" y="1234440"/>
            <a:ext cx="2194560" cy="2194560"/>
          </a:xfrm>
          <a:prstGeom prst="rect">
            <a:avLst/>
          </a:prstGeom>
          <a:solidFill>
            <a:srgbClr val="FEF2F2"/>
          </a:solidFill>
          <a:ln w="12700">
            <a:solidFill>
              <a:srgbClr val="C0392B"/>
            </a:solidFill>
            <a:prstDash val="solid"/>
          </a:ln>
        </p:spPr>
      </p:sp>
      <p:sp>
        <p:nvSpPr>
          <p:cNvPr id="15" name="Shape 13"/>
          <p:cNvSpPr/>
          <p:nvPr/>
        </p:nvSpPr>
        <p:spPr>
          <a:xfrm>
            <a:off x="2624328" y="1234440"/>
            <a:ext cx="2194560" cy="45720"/>
          </a:xfrm>
          <a:prstGeom prst="rect">
            <a:avLst/>
          </a:prstGeom>
          <a:solidFill>
            <a:srgbClr val="C0392B"/>
          </a:solidFill>
          <a:ln w="12700">
            <a:solidFill>
              <a:srgbClr val="C0392B"/>
            </a:solidFill>
            <a:prstDash val="solid"/>
          </a:ln>
        </p:spPr>
      </p:sp>
      <p:sp>
        <p:nvSpPr>
          <p:cNvPr id="16" name="Text 14"/>
          <p:cNvSpPr/>
          <p:nvPr/>
        </p:nvSpPr>
        <p:spPr>
          <a:xfrm>
            <a:off x="2734056" y="1307592"/>
            <a:ext cx="457200" cy="256032"/>
          </a:xfrm>
          <a:prstGeom prst="rect">
            <a:avLst/>
          </a:prstGeom>
          <a:noFill/>
          <a:ln/>
        </p:spPr>
        <p:txBody>
          <a:bodyPr wrap="square" rtlCol="0" anchor="ctr"/>
          <a:lstStyle/>
          <a:p>
            <a:pPr indent="0" marL="0">
              <a:buNone/>
            </a:pPr>
            <a:r>
              <a:rPr lang="en-US" sz="1100" b="1" dirty="0">
                <a:solidFill>
                  <a:srgbClr val="C0392B"/>
                </a:solidFill>
                <a:latin typeface="Calibri" pitchFamily="34" charset="0"/>
                <a:ea typeface="Calibri" pitchFamily="34" charset="-122"/>
                <a:cs typeface="Calibri" pitchFamily="34" charset="-120"/>
              </a:rPr>
              <a:t>F2</a:t>
            </a:r>
            <a:endParaRPr lang="en-US" sz="1100" dirty="0"/>
          </a:p>
        </p:txBody>
      </p:sp>
      <p:sp>
        <p:nvSpPr>
          <p:cNvPr id="17" name="Text 15"/>
          <p:cNvSpPr/>
          <p:nvPr/>
        </p:nvSpPr>
        <p:spPr>
          <a:xfrm>
            <a:off x="2734056" y="1600200"/>
            <a:ext cx="1975104" cy="320040"/>
          </a:xfrm>
          <a:prstGeom prst="rect">
            <a:avLst/>
          </a:prstGeom>
          <a:noFill/>
          <a:ln/>
        </p:spPr>
        <p:txBody>
          <a:bodyPr wrap="square" rtlCol="0" anchor="ctr"/>
          <a:lstStyle/>
          <a:p>
            <a:pPr algn="ctr" indent="0" marL="0">
              <a:buNone/>
            </a:pPr>
            <a:r>
              <a:rPr lang="en-US" sz="1200" b="1" dirty="0">
                <a:solidFill>
                  <a:srgbClr val="0A1628"/>
                </a:solidFill>
                <a:latin typeface="Calibri" pitchFamily="34" charset="0"/>
                <a:ea typeface="Calibri" pitchFamily="34" charset="-122"/>
                <a:cs typeface="Calibri" pitchFamily="34" charset="-120"/>
              </a:rPr>
              <a:t>Revenue Exposed</a:t>
            </a:r>
            <a:endParaRPr lang="en-US" sz="1200" dirty="0"/>
          </a:p>
        </p:txBody>
      </p:sp>
      <p:sp>
        <p:nvSpPr>
          <p:cNvPr id="18" name="Text 16"/>
          <p:cNvSpPr/>
          <p:nvPr/>
        </p:nvSpPr>
        <p:spPr>
          <a:xfrm>
            <a:off x="2734056" y="2011680"/>
            <a:ext cx="1975104" cy="292608"/>
          </a:xfrm>
          <a:prstGeom prst="rect">
            <a:avLst/>
          </a:prstGeom>
          <a:noFill/>
          <a:ln/>
        </p:spPr>
        <p:txBody>
          <a:bodyPr wrap="square" rtlCol="0" anchor="ctr"/>
          <a:lstStyle/>
          <a:p>
            <a:pPr algn="ctr" indent="0" marL="0">
              <a:buNone/>
            </a:pPr>
            <a:r>
              <a:rPr lang="en-US" sz="1400" b="1" dirty="0">
                <a:solidFill>
                  <a:srgbClr val="C0392B"/>
                </a:solidFill>
                <a:latin typeface="Calibri" pitchFamily="34" charset="0"/>
                <a:ea typeface="Calibri" pitchFamily="34" charset="-122"/>
                <a:cs typeface="Calibri" pitchFamily="34" charset="-120"/>
              </a:rPr>
              <a:t>$37.2M at risk</a:t>
            </a:r>
            <a:endParaRPr lang="en-US" sz="1400" dirty="0"/>
          </a:p>
        </p:txBody>
      </p:sp>
      <p:sp>
        <p:nvSpPr>
          <p:cNvPr id="19" name="Text 17"/>
          <p:cNvSpPr/>
          <p:nvPr/>
        </p:nvSpPr>
        <p:spPr>
          <a:xfrm>
            <a:off x="2734056" y="2331720"/>
            <a:ext cx="1975104" cy="256032"/>
          </a:xfrm>
          <a:prstGeom prst="rect">
            <a:avLst/>
          </a:prstGeom>
          <a:noFill/>
          <a:ln/>
        </p:spPr>
        <p:txBody>
          <a:bodyPr wrap="square" rtlCol="0" anchor="ctr"/>
          <a:lstStyle/>
          <a:p>
            <a:pPr algn="ctr" indent="0" marL="0">
              <a:buNone/>
            </a:pPr>
            <a:r>
              <a:rPr lang="en-US" sz="900" dirty="0">
                <a:solidFill>
                  <a:srgbClr val="5A6A85"/>
                </a:solidFill>
                <a:latin typeface="Calibri" pitchFamily="34" charset="0"/>
                <a:ea typeface="Calibri" pitchFamily="34" charset="-122"/>
                <a:cs typeface="Calibri" pitchFamily="34" charset="-120"/>
              </a:rPr>
              <a:t>64.6% of total</a:t>
            </a:r>
            <a:endParaRPr lang="en-US" sz="900" dirty="0"/>
          </a:p>
        </p:txBody>
      </p:sp>
      <p:sp>
        <p:nvSpPr>
          <p:cNvPr id="20" name="Text 18"/>
          <p:cNvSpPr/>
          <p:nvPr/>
        </p:nvSpPr>
        <p:spPr>
          <a:xfrm>
            <a:off x="2734056" y="2606040"/>
            <a:ext cx="1975104" cy="256032"/>
          </a:xfrm>
          <a:prstGeom prst="rect">
            <a:avLst/>
          </a:prstGeom>
          <a:noFill/>
          <a:ln/>
        </p:spPr>
        <p:txBody>
          <a:bodyPr wrap="square" rtlCol="0" anchor="ctr"/>
          <a:lstStyle/>
          <a:p>
            <a:pPr algn="ctr" indent="0" marL="0">
              <a:buNone/>
            </a:pPr>
            <a:r>
              <a:rPr lang="en-US" sz="900" b="1" dirty="0">
                <a:solidFill>
                  <a:srgbClr val="C0392B"/>
                </a:solidFill>
                <a:latin typeface="Calibri" pitchFamily="34" charset="0"/>
                <a:ea typeface="Calibri" pitchFamily="34" charset="-122"/>
                <a:cs typeface="Calibri" pitchFamily="34" charset="-120"/>
              </a:rPr>
              <a:t>VIP: $15.7M</a:t>
            </a:r>
            <a:endParaRPr lang="en-US" sz="900" dirty="0"/>
          </a:p>
        </p:txBody>
      </p:sp>
      <p:sp>
        <p:nvSpPr>
          <p:cNvPr id="21" name="Shape 19"/>
          <p:cNvSpPr/>
          <p:nvPr/>
        </p:nvSpPr>
        <p:spPr>
          <a:xfrm>
            <a:off x="4928616" y="1234440"/>
            <a:ext cx="2194560" cy="2194560"/>
          </a:xfrm>
          <a:prstGeom prst="rect">
            <a:avLst/>
          </a:prstGeom>
          <a:solidFill>
            <a:srgbClr val="FFFBEB"/>
          </a:solidFill>
          <a:ln w="12700">
            <a:solidFill>
              <a:srgbClr val="D4820A"/>
            </a:solidFill>
            <a:prstDash val="solid"/>
          </a:ln>
        </p:spPr>
      </p:sp>
      <p:sp>
        <p:nvSpPr>
          <p:cNvPr id="22" name="Shape 20"/>
          <p:cNvSpPr/>
          <p:nvPr/>
        </p:nvSpPr>
        <p:spPr>
          <a:xfrm>
            <a:off x="4928616" y="1234440"/>
            <a:ext cx="2194560" cy="45720"/>
          </a:xfrm>
          <a:prstGeom prst="rect">
            <a:avLst/>
          </a:prstGeom>
          <a:solidFill>
            <a:srgbClr val="D4820A"/>
          </a:solidFill>
          <a:ln w="12700">
            <a:solidFill>
              <a:srgbClr val="D4820A"/>
            </a:solidFill>
            <a:prstDash val="solid"/>
          </a:ln>
        </p:spPr>
      </p:sp>
      <p:sp>
        <p:nvSpPr>
          <p:cNvPr id="23" name="Text 21"/>
          <p:cNvSpPr/>
          <p:nvPr/>
        </p:nvSpPr>
        <p:spPr>
          <a:xfrm>
            <a:off x="5038344" y="1307592"/>
            <a:ext cx="457200" cy="256032"/>
          </a:xfrm>
          <a:prstGeom prst="rect">
            <a:avLst/>
          </a:prstGeom>
          <a:noFill/>
          <a:ln/>
        </p:spPr>
        <p:txBody>
          <a:bodyPr wrap="square" rtlCol="0" anchor="ctr"/>
          <a:lstStyle/>
          <a:p>
            <a:pPr indent="0" marL="0">
              <a:buNone/>
            </a:pPr>
            <a:r>
              <a:rPr lang="en-US" sz="1100" b="1" dirty="0">
                <a:solidFill>
                  <a:srgbClr val="D4820A"/>
                </a:solidFill>
                <a:latin typeface="Calibri" pitchFamily="34" charset="0"/>
                <a:ea typeface="Calibri" pitchFamily="34" charset="-122"/>
                <a:cs typeface="Calibri" pitchFamily="34" charset="-120"/>
              </a:rPr>
              <a:t>F3</a:t>
            </a:r>
            <a:endParaRPr lang="en-US" sz="1100" dirty="0"/>
          </a:p>
        </p:txBody>
      </p:sp>
      <p:sp>
        <p:nvSpPr>
          <p:cNvPr id="24" name="Text 22"/>
          <p:cNvSpPr/>
          <p:nvPr/>
        </p:nvSpPr>
        <p:spPr>
          <a:xfrm>
            <a:off x="5038344" y="1600200"/>
            <a:ext cx="1975104" cy="320040"/>
          </a:xfrm>
          <a:prstGeom prst="rect">
            <a:avLst/>
          </a:prstGeom>
          <a:noFill/>
          <a:ln/>
        </p:spPr>
        <p:txBody>
          <a:bodyPr wrap="square" rtlCol="0" anchor="ctr"/>
          <a:lstStyle/>
          <a:p>
            <a:pPr algn="ctr" indent="0" marL="0">
              <a:buNone/>
            </a:pPr>
            <a:r>
              <a:rPr lang="en-US" sz="1200" b="1" dirty="0">
                <a:solidFill>
                  <a:srgbClr val="0A1628"/>
                </a:solidFill>
                <a:latin typeface="Calibri" pitchFamily="34" charset="0"/>
                <a:ea typeface="Calibri" pitchFamily="34" charset="-122"/>
                <a:cs typeface="Calibri" pitchFamily="34" charset="-120"/>
              </a:rPr>
              <a:t>Crisis Failing</a:t>
            </a:r>
            <a:endParaRPr lang="en-US" sz="1200" dirty="0"/>
          </a:p>
        </p:txBody>
      </p:sp>
      <p:sp>
        <p:nvSpPr>
          <p:cNvPr id="25" name="Text 23"/>
          <p:cNvSpPr/>
          <p:nvPr/>
        </p:nvSpPr>
        <p:spPr>
          <a:xfrm>
            <a:off x="5038344" y="2011680"/>
            <a:ext cx="1975104" cy="292608"/>
          </a:xfrm>
          <a:prstGeom prst="rect">
            <a:avLst/>
          </a:prstGeom>
          <a:noFill/>
          <a:ln/>
        </p:spPr>
        <p:txBody>
          <a:bodyPr wrap="square" rtlCol="0" anchor="ctr"/>
          <a:lstStyle/>
          <a:p>
            <a:pPr algn="ctr" indent="0" marL="0">
              <a:buNone/>
            </a:pPr>
            <a:r>
              <a:rPr lang="en-US" sz="1400" b="1" dirty="0">
                <a:solidFill>
                  <a:srgbClr val="D4820A"/>
                </a:solidFill>
                <a:latin typeface="Calibri" pitchFamily="34" charset="0"/>
                <a:ea typeface="Calibri" pitchFamily="34" charset="-122"/>
                <a:cs typeface="Calibri" pitchFamily="34" charset="-120"/>
              </a:rPr>
              <a:t>47.59% resolved</a:t>
            </a:r>
            <a:endParaRPr lang="en-US" sz="1400" dirty="0"/>
          </a:p>
        </p:txBody>
      </p:sp>
      <p:sp>
        <p:nvSpPr>
          <p:cNvPr id="26" name="Text 24"/>
          <p:cNvSpPr/>
          <p:nvPr/>
        </p:nvSpPr>
        <p:spPr>
          <a:xfrm>
            <a:off x="5038344" y="2331720"/>
            <a:ext cx="1975104" cy="256032"/>
          </a:xfrm>
          <a:prstGeom prst="rect">
            <a:avLst/>
          </a:prstGeom>
          <a:noFill/>
          <a:ln/>
        </p:spPr>
        <p:txBody>
          <a:bodyPr wrap="square" rtlCol="0" anchor="ctr"/>
          <a:lstStyle/>
          <a:p>
            <a:pPr algn="ctr" indent="0" marL="0">
              <a:buNone/>
            </a:pPr>
            <a:r>
              <a:rPr lang="en-US" sz="900" dirty="0">
                <a:solidFill>
                  <a:srgbClr val="5A6A85"/>
                </a:solidFill>
                <a:latin typeface="Calibri" pitchFamily="34" charset="0"/>
                <a:ea typeface="Calibri" pitchFamily="34" charset="-122"/>
                <a:cs typeface="Calibri" pitchFamily="34" charset="-120"/>
              </a:rPr>
              <a:t>80% standard</a:t>
            </a:r>
            <a:endParaRPr lang="en-US" sz="900" dirty="0"/>
          </a:p>
        </p:txBody>
      </p:sp>
      <p:sp>
        <p:nvSpPr>
          <p:cNvPr id="27" name="Text 25"/>
          <p:cNvSpPr/>
          <p:nvPr/>
        </p:nvSpPr>
        <p:spPr>
          <a:xfrm>
            <a:off x="5038344" y="2606040"/>
            <a:ext cx="1975104" cy="256032"/>
          </a:xfrm>
          <a:prstGeom prst="rect">
            <a:avLst/>
          </a:prstGeom>
          <a:noFill/>
          <a:ln/>
        </p:spPr>
        <p:txBody>
          <a:bodyPr wrap="square" rtlCol="0" anchor="ctr"/>
          <a:lstStyle/>
          <a:p>
            <a:pPr algn="ctr" indent="0" marL="0">
              <a:buNone/>
            </a:pPr>
            <a:r>
              <a:rPr lang="en-US" sz="900" b="1" dirty="0">
                <a:solidFill>
                  <a:srgbClr val="D4820A"/>
                </a:solidFill>
                <a:latin typeface="Calibri" pitchFamily="34" charset="0"/>
                <a:ea typeface="Calibri" pitchFamily="34" charset="-122"/>
                <a:cs typeface="Calibri" pitchFamily="34" charset="-120"/>
              </a:rPr>
              <a:t>Gap: 32.4 pts</a:t>
            </a:r>
            <a:endParaRPr lang="en-US" sz="900" dirty="0"/>
          </a:p>
        </p:txBody>
      </p:sp>
      <p:sp>
        <p:nvSpPr>
          <p:cNvPr id="28" name="Shape 26"/>
          <p:cNvSpPr/>
          <p:nvPr/>
        </p:nvSpPr>
        <p:spPr>
          <a:xfrm>
            <a:off x="7232904" y="1234440"/>
            <a:ext cx="2194560" cy="2194560"/>
          </a:xfrm>
          <a:prstGeom prst="rect">
            <a:avLst/>
          </a:prstGeom>
          <a:solidFill>
            <a:srgbClr val="FEF2F2"/>
          </a:solidFill>
          <a:ln w="12700">
            <a:solidFill>
              <a:srgbClr val="C0392B"/>
            </a:solidFill>
            <a:prstDash val="solid"/>
          </a:ln>
        </p:spPr>
      </p:sp>
      <p:sp>
        <p:nvSpPr>
          <p:cNvPr id="29" name="Shape 27"/>
          <p:cNvSpPr/>
          <p:nvPr/>
        </p:nvSpPr>
        <p:spPr>
          <a:xfrm>
            <a:off x="7232904" y="1234440"/>
            <a:ext cx="2194560" cy="45720"/>
          </a:xfrm>
          <a:prstGeom prst="rect">
            <a:avLst/>
          </a:prstGeom>
          <a:solidFill>
            <a:srgbClr val="C0392B"/>
          </a:solidFill>
          <a:ln w="12700">
            <a:solidFill>
              <a:srgbClr val="C0392B"/>
            </a:solidFill>
            <a:prstDash val="solid"/>
          </a:ln>
        </p:spPr>
      </p:sp>
      <p:sp>
        <p:nvSpPr>
          <p:cNvPr id="30" name="Text 28"/>
          <p:cNvSpPr/>
          <p:nvPr/>
        </p:nvSpPr>
        <p:spPr>
          <a:xfrm>
            <a:off x="7342632" y="1307592"/>
            <a:ext cx="457200" cy="256032"/>
          </a:xfrm>
          <a:prstGeom prst="rect">
            <a:avLst/>
          </a:prstGeom>
          <a:noFill/>
          <a:ln/>
        </p:spPr>
        <p:txBody>
          <a:bodyPr wrap="square" rtlCol="0" anchor="ctr"/>
          <a:lstStyle/>
          <a:p>
            <a:pPr indent="0" marL="0">
              <a:buNone/>
            </a:pPr>
            <a:r>
              <a:rPr lang="en-US" sz="1100" b="1" dirty="0">
                <a:solidFill>
                  <a:srgbClr val="C0392B"/>
                </a:solidFill>
                <a:latin typeface="Calibri" pitchFamily="34" charset="0"/>
                <a:ea typeface="Calibri" pitchFamily="34" charset="-122"/>
                <a:cs typeface="Calibri" pitchFamily="34" charset="-120"/>
              </a:rPr>
              <a:t>F4</a:t>
            </a:r>
            <a:endParaRPr lang="en-US" sz="1100" dirty="0"/>
          </a:p>
        </p:txBody>
      </p:sp>
      <p:sp>
        <p:nvSpPr>
          <p:cNvPr id="31" name="Text 29"/>
          <p:cNvSpPr/>
          <p:nvPr/>
        </p:nvSpPr>
        <p:spPr>
          <a:xfrm>
            <a:off x="7342632" y="1600200"/>
            <a:ext cx="1975104" cy="320040"/>
          </a:xfrm>
          <a:prstGeom prst="rect">
            <a:avLst/>
          </a:prstGeom>
          <a:noFill/>
          <a:ln/>
        </p:spPr>
        <p:txBody>
          <a:bodyPr wrap="square" rtlCol="0" anchor="ctr"/>
          <a:lstStyle/>
          <a:p>
            <a:pPr algn="ctr" indent="0" marL="0">
              <a:buNone/>
            </a:pPr>
            <a:r>
              <a:rPr lang="en-US" sz="1200" b="1" dirty="0">
                <a:solidFill>
                  <a:srgbClr val="0A1628"/>
                </a:solidFill>
                <a:latin typeface="Calibri" pitchFamily="34" charset="0"/>
                <a:ea typeface="Calibri" pitchFamily="34" charset="-122"/>
                <a:cs typeface="Calibri" pitchFamily="34" charset="-120"/>
              </a:rPr>
              <a:t>Competitors Inside</a:t>
            </a:r>
            <a:endParaRPr lang="en-US" sz="1200" dirty="0"/>
          </a:p>
        </p:txBody>
      </p:sp>
      <p:sp>
        <p:nvSpPr>
          <p:cNvPr id="32" name="Text 30"/>
          <p:cNvSpPr/>
          <p:nvPr/>
        </p:nvSpPr>
        <p:spPr>
          <a:xfrm>
            <a:off x="7342632" y="2011680"/>
            <a:ext cx="1975104" cy="292608"/>
          </a:xfrm>
          <a:prstGeom prst="rect">
            <a:avLst/>
          </a:prstGeom>
          <a:noFill/>
          <a:ln/>
        </p:spPr>
        <p:txBody>
          <a:bodyPr wrap="square" rtlCol="0" anchor="ctr"/>
          <a:lstStyle/>
          <a:p>
            <a:pPr algn="ctr" indent="0" marL="0">
              <a:buNone/>
            </a:pPr>
            <a:r>
              <a:rPr lang="en-US" sz="1400" b="1" dirty="0">
                <a:solidFill>
                  <a:srgbClr val="C0392B"/>
                </a:solidFill>
                <a:latin typeface="Calibri" pitchFamily="34" charset="0"/>
                <a:ea typeface="Calibri" pitchFamily="34" charset="-122"/>
                <a:cs typeface="Calibri" pitchFamily="34" charset="-120"/>
              </a:rPr>
              <a:t>36,870 mentions</a:t>
            </a:r>
            <a:endParaRPr lang="en-US" sz="1400" dirty="0"/>
          </a:p>
        </p:txBody>
      </p:sp>
      <p:sp>
        <p:nvSpPr>
          <p:cNvPr id="33" name="Text 31"/>
          <p:cNvSpPr/>
          <p:nvPr/>
        </p:nvSpPr>
        <p:spPr>
          <a:xfrm>
            <a:off x="7342632" y="2331720"/>
            <a:ext cx="1975104" cy="256032"/>
          </a:xfrm>
          <a:prstGeom prst="rect">
            <a:avLst/>
          </a:prstGeom>
          <a:noFill/>
          <a:ln/>
        </p:spPr>
        <p:txBody>
          <a:bodyPr wrap="square" rtlCol="0" anchor="ctr"/>
          <a:lstStyle/>
          <a:p>
            <a:pPr algn="ctr" indent="0" marL="0">
              <a:buNone/>
            </a:pPr>
            <a:r>
              <a:rPr lang="en-US" sz="900" dirty="0">
                <a:solidFill>
                  <a:srgbClr val="5A6A85"/>
                </a:solidFill>
                <a:latin typeface="Calibri" pitchFamily="34" charset="0"/>
                <a:ea typeface="Calibri" pitchFamily="34" charset="-122"/>
                <a:cs typeface="Calibri" pitchFamily="34" charset="-120"/>
              </a:rPr>
              <a:t>1 in 2 interactions</a:t>
            </a:r>
            <a:endParaRPr lang="en-US" sz="900" dirty="0"/>
          </a:p>
        </p:txBody>
      </p:sp>
      <p:sp>
        <p:nvSpPr>
          <p:cNvPr id="34" name="Text 32"/>
          <p:cNvSpPr/>
          <p:nvPr/>
        </p:nvSpPr>
        <p:spPr>
          <a:xfrm>
            <a:off x="7342632" y="2606040"/>
            <a:ext cx="1975104" cy="256032"/>
          </a:xfrm>
          <a:prstGeom prst="rect">
            <a:avLst/>
          </a:prstGeom>
          <a:noFill/>
          <a:ln/>
        </p:spPr>
        <p:txBody>
          <a:bodyPr wrap="square" rtlCol="0" anchor="ctr"/>
          <a:lstStyle/>
          <a:p>
            <a:pPr algn="ctr" indent="0" marL="0">
              <a:buNone/>
            </a:pPr>
            <a:r>
              <a:rPr lang="en-US" sz="900" b="1" dirty="0">
                <a:solidFill>
                  <a:srgbClr val="C0392B"/>
                </a:solidFill>
                <a:latin typeface="Calibri" pitchFamily="34" charset="0"/>
                <a:ea typeface="Calibri" pitchFamily="34" charset="-122"/>
                <a:cs typeface="Calibri" pitchFamily="34" charset="-120"/>
              </a:rPr>
              <a:t>Active evaluation</a:t>
            </a:r>
            <a:endParaRPr lang="en-US" sz="900" dirty="0"/>
          </a:p>
        </p:txBody>
      </p:sp>
      <p:sp>
        <p:nvSpPr>
          <p:cNvPr id="35" name="Shape 33"/>
          <p:cNvSpPr/>
          <p:nvPr/>
        </p:nvSpPr>
        <p:spPr>
          <a:xfrm>
            <a:off x="9537192" y="1234440"/>
            <a:ext cx="2194560" cy="2194560"/>
          </a:xfrm>
          <a:prstGeom prst="rect">
            <a:avLst/>
          </a:prstGeom>
          <a:solidFill>
            <a:srgbClr val="F0FDF4"/>
          </a:solidFill>
          <a:ln w="12700">
            <a:solidFill>
              <a:srgbClr val="1A6B3A"/>
            </a:solidFill>
            <a:prstDash val="solid"/>
          </a:ln>
        </p:spPr>
      </p:sp>
      <p:sp>
        <p:nvSpPr>
          <p:cNvPr id="36" name="Shape 34"/>
          <p:cNvSpPr/>
          <p:nvPr/>
        </p:nvSpPr>
        <p:spPr>
          <a:xfrm>
            <a:off x="9537192" y="1234440"/>
            <a:ext cx="2194560" cy="45720"/>
          </a:xfrm>
          <a:prstGeom prst="rect">
            <a:avLst/>
          </a:prstGeom>
          <a:solidFill>
            <a:srgbClr val="1A6B3A"/>
          </a:solidFill>
          <a:ln w="12700">
            <a:solidFill>
              <a:srgbClr val="1A6B3A"/>
            </a:solidFill>
            <a:prstDash val="solid"/>
          </a:ln>
        </p:spPr>
      </p:sp>
      <p:sp>
        <p:nvSpPr>
          <p:cNvPr id="37" name="Text 35"/>
          <p:cNvSpPr/>
          <p:nvPr/>
        </p:nvSpPr>
        <p:spPr>
          <a:xfrm>
            <a:off x="9646920" y="1307592"/>
            <a:ext cx="457200" cy="256032"/>
          </a:xfrm>
          <a:prstGeom prst="rect">
            <a:avLst/>
          </a:prstGeom>
          <a:noFill/>
          <a:ln/>
        </p:spPr>
        <p:txBody>
          <a:bodyPr wrap="square" rtlCol="0" anchor="ctr"/>
          <a:lstStyle/>
          <a:p>
            <a:pPr indent="0" marL="0">
              <a:buNone/>
            </a:pPr>
            <a:r>
              <a:rPr lang="en-US" sz="1100" b="1" dirty="0">
                <a:solidFill>
                  <a:srgbClr val="1A6B3A"/>
                </a:solidFill>
                <a:latin typeface="Calibri" pitchFamily="34" charset="0"/>
                <a:ea typeface="Calibri" pitchFamily="34" charset="-122"/>
                <a:cs typeface="Calibri" pitchFamily="34" charset="-120"/>
              </a:rPr>
              <a:t>F5</a:t>
            </a:r>
            <a:endParaRPr lang="en-US" sz="1100" dirty="0"/>
          </a:p>
        </p:txBody>
      </p:sp>
      <p:sp>
        <p:nvSpPr>
          <p:cNvPr id="38" name="Text 36"/>
          <p:cNvSpPr/>
          <p:nvPr/>
        </p:nvSpPr>
        <p:spPr>
          <a:xfrm>
            <a:off x="9646920" y="1600200"/>
            <a:ext cx="1975104" cy="320040"/>
          </a:xfrm>
          <a:prstGeom prst="rect">
            <a:avLst/>
          </a:prstGeom>
          <a:noFill/>
          <a:ln/>
        </p:spPr>
        <p:txBody>
          <a:bodyPr wrap="square" rtlCol="0" anchor="ctr"/>
          <a:lstStyle/>
          <a:p>
            <a:pPr algn="ctr" indent="0" marL="0">
              <a:buNone/>
            </a:pPr>
            <a:r>
              <a:rPr lang="en-US" sz="1200" b="1" dirty="0">
                <a:solidFill>
                  <a:srgbClr val="0A1628"/>
                </a:solidFill>
                <a:latin typeface="Calibri" pitchFamily="34" charset="0"/>
                <a:ea typeface="Calibri" pitchFamily="34" charset="-122"/>
                <a:cs typeface="Calibri" pitchFamily="34" charset="-120"/>
              </a:rPr>
              <a:t>Window Narrowing</a:t>
            </a:r>
            <a:endParaRPr lang="en-US" sz="1200" dirty="0"/>
          </a:p>
        </p:txBody>
      </p:sp>
      <p:sp>
        <p:nvSpPr>
          <p:cNvPr id="39" name="Text 37"/>
          <p:cNvSpPr/>
          <p:nvPr/>
        </p:nvSpPr>
        <p:spPr>
          <a:xfrm>
            <a:off x="9646920" y="2011680"/>
            <a:ext cx="1975104" cy="292608"/>
          </a:xfrm>
          <a:prstGeom prst="rect">
            <a:avLst/>
          </a:prstGeom>
          <a:noFill/>
          <a:ln/>
        </p:spPr>
        <p:txBody>
          <a:bodyPr wrap="square" rtlCol="0" anchor="ctr"/>
          <a:lstStyle/>
          <a:p>
            <a:pPr algn="ctr" indent="0" marL="0">
              <a:buNone/>
            </a:pPr>
            <a:r>
              <a:rPr lang="en-US" sz="1400" b="1" dirty="0">
                <a:solidFill>
                  <a:srgbClr val="1A6B3A"/>
                </a:solidFill>
                <a:latin typeface="Calibri" pitchFamily="34" charset="0"/>
                <a:ea typeface="Calibri" pitchFamily="34" charset="-122"/>
                <a:cs typeface="Calibri" pitchFamily="34" charset="-120"/>
              </a:rPr>
              <a:t>$633,911</a:t>
            </a:r>
            <a:endParaRPr lang="en-US" sz="1400" dirty="0"/>
          </a:p>
        </p:txBody>
      </p:sp>
      <p:sp>
        <p:nvSpPr>
          <p:cNvPr id="40" name="Text 38"/>
          <p:cNvSpPr/>
          <p:nvPr/>
        </p:nvSpPr>
        <p:spPr>
          <a:xfrm>
            <a:off x="9646920" y="2331720"/>
            <a:ext cx="1975104" cy="256032"/>
          </a:xfrm>
          <a:prstGeom prst="rect">
            <a:avLst/>
          </a:prstGeom>
          <a:noFill/>
          <a:ln/>
        </p:spPr>
        <p:txBody>
          <a:bodyPr wrap="square" rtlCol="0" anchor="ctr"/>
          <a:lstStyle/>
          <a:p>
            <a:pPr algn="ctr" indent="0" marL="0">
              <a:buNone/>
            </a:pPr>
            <a:r>
              <a:rPr lang="en-US" sz="900" dirty="0">
                <a:solidFill>
                  <a:srgbClr val="5A6A85"/>
                </a:solidFill>
                <a:latin typeface="Calibri" pitchFamily="34" charset="0"/>
                <a:ea typeface="Calibri" pitchFamily="34" charset="-122"/>
                <a:cs typeface="Calibri" pitchFamily="34" charset="-120"/>
              </a:rPr>
              <a:t>3,195 disengaged VIPs</a:t>
            </a:r>
            <a:endParaRPr lang="en-US" sz="900" dirty="0"/>
          </a:p>
        </p:txBody>
      </p:sp>
      <p:sp>
        <p:nvSpPr>
          <p:cNvPr id="41" name="Text 39"/>
          <p:cNvSpPr/>
          <p:nvPr/>
        </p:nvSpPr>
        <p:spPr>
          <a:xfrm>
            <a:off x="9646920" y="2606040"/>
            <a:ext cx="1975104" cy="256032"/>
          </a:xfrm>
          <a:prstGeom prst="rect">
            <a:avLst/>
          </a:prstGeom>
          <a:noFill/>
          <a:ln/>
        </p:spPr>
        <p:txBody>
          <a:bodyPr wrap="square" rtlCol="0" anchor="ctr"/>
          <a:lstStyle/>
          <a:p>
            <a:pPr algn="ctr" indent="0" marL="0">
              <a:buNone/>
            </a:pPr>
            <a:r>
              <a:rPr lang="en-US" sz="900" b="1" dirty="0">
                <a:solidFill>
                  <a:srgbClr val="1A6B3A"/>
                </a:solidFill>
                <a:latin typeface="Calibri" pitchFamily="34" charset="0"/>
                <a:ea typeface="Calibri" pitchFamily="34" charset="-122"/>
                <a:cs typeface="Calibri" pitchFamily="34" charset="-120"/>
              </a:rPr>
              <a:t>30-day opportunity</a:t>
            </a:r>
            <a:endParaRPr lang="en-US" sz="900" dirty="0"/>
          </a:p>
        </p:txBody>
      </p:sp>
      <p:sp>
        <p:nvSpPr>
          <p:cNvPr id="42" name="Shape 40"/>
          <p:cNvSpPr/>
          <p:nvPr/>
        </p:nvSpPr>
        <p:spPr>
          <a:xfrm>
            <a:off x="320040" y="3611880"/>
            <a:ext cx="5669280" cy="2514600"/>
          </a:xfrm>
          <a:prstGeom prst="rect">
            <a:avLst/>
          </a:prstGeom>
          <a:solidFill>
            <a:srgbClr val="F0F4F8"/>
          </a:solidFill>
          <a:ln w="12700">
            <a:solidFill>
              <a:srgbClr val="D0D8E8"/>
            </a:solidFill>
            <a:prstDash val="solid"/>
          </a:ln>
        </p:spPr>
      </p:sp>
      <p:sp>
        <p:nvSpPr>
          <p:cNvPr id="43" name="Text 41"/>
          <p:cNvSpPr/>
          <p:nvPr/>
        </p:nvSpPr>
        <p:spPr>
          <a:xfrm>
            <a:off x="457200" y="3721608"/>
            <a:ext cx="5394960" cy="228600"/>
          </a:xfrm>
          <a:prstGeom prst="rect">
            <a:avLst/>
          </a:prstGeom>
          <a:noFill/>
          <a:ln/>
        </p:spPr>
        <p:txBody>
          <a:bodyPr wrap="square" rtlCol="0" anchor="ctr"/>
          <a:lstStyle/>
          <a:p>
            <a:pPr indent="0" marL="0">
              <a:buNone/>
            </a:pPr>
            <a:r>
              <a:rPr lang="en-US" sz="850" b="1" spc="200" kern="0" dirty="0">
                <a:solidFill>
                  <a:srgbClr val="C8A84B"/>
                </a:solidFill>
                <a:latin typeface="Calibri" pitchFamily="34" charset="0"/>
                <a:ea typeface="Calibri" pitchFamily="34" charset="-122"/>
                <a:cs typeface="Calibri" pitchFamily="34" charset="-120"/>
              </a:rPr>
              <a:t>NPS BY SEGMENT</a:t>
            </a:r>
            <a:endParaRPr lang="en-US" sz="850" dirty="0"/>
          </a:p>
        </p:txBody>
      </p:sp>
      <p:sp>
        <p:nvSpPr>
          <p:cNvPr id="44" name="Text 42"/>
          <p:cNvSpPr/>
          <p:nvPr/>
        </p:nvSpPr>
        <p:spPr>
          <a:xfrm>
            <a:off x="457200" y="4041648"/>
            <a:ext cx="1463040" cy="274320"/>
          </a:xfrm>
          <a:prstGeom prst="rect">
            <a:avLst/>
          </a:prstGeom>
          <a:noFill/>
          <a:ln/>
        </p:spPr>
        <p:txBody>
          <a:bodyPr wrap="square" rtlCol="0" anchor="ctr"/>
          <a:lstStyle/>
          <a:p>
            <a:pPr indent="0" marL="0">
              <a:buNone/>
            </a:pPr>
            <a:r>
              <a:rPr lang="en-US" sz="1000" dirty="0">
                <a:solidFill>
                  <a:srgbClr val="5A6A85"/>
                </a:solidFill>
                <a:latin typeface="Calibri" pitchFamily="34" charset="0"/>
                <a:ea typeface="Calibri" pitchFamily="34" charset="-122"/>
                <a:cs typeface="Calibri" pitchFamily="34" charset="-120"/>
              </a:rPr>
              <a:t>VIP</a:t>
            </a:r>
            <a:endParaRPr lang="en-US" sz="1000" dirty="0"/>
          </a:p>
        </p:txBody>
      </p:sp>
      <p:sp>
        <p:nvSpPr>
          <p:cNvPr id="45" name="Shape 43"/>
          <p:cNvSpPr/>
          <p:nvPr/>
        </p:nvSpPr>
        <p:spPr>
          <a:xfrm>
            <a:off x="2011680" y="4078224"/>
            <a:ext cx="3196742" cy="201168"/>
          </a:xfrm>
          <a:prstGeom prst="rect">
            <a:avLst/>
          </a:prstGeom>
          <a:solidFill>
            <a:srgbClr val="C0392B"/>
          </a:solidFill>
          <a:ln w="12700">
            <a:solidFill>
              <a:srgbClr val="C0392B"/>
            </a:solidFill>
            <a:prstDash val="solid"/>
          </a:ln>
        </p:spPr>
      </p:sp>
      <p:sp>
        <p:nvSpPr>
          <p:cNvPr id="46" name="Text 44"/>
          <p:cNvSpPr/>
          <p:nvPr/>
        </p:nvSpPr>
        <p:spPr>
          <a:xfrm>
            <a:off x="2103120" y="4078224"/>
            <a:ext cx="3105302" cy="201168"/>
          </a:xfrm>
          <a:prstGeom prst="rect">
            <a:avLst/>
          </a:prstGeom>
          <a:noFill/>
          <a:ln/>
        </p:spPr>
        <p:txBody>
          <a:bodyPr wrap="square" rtlCol="0" anchor="ctr"/>
          <a:lstStyle/>
          <a:p>
            <a:pPr algn="r" indent="0" marL="0">
              <a:buNone/>
            </a:pPr>
            <a:r>
              <a:rPr lang="en-US" sz="1000" b="1" dirty="0">
                <a:solidFill>
                  <a:srgbClr val="FFFFFF"/>
                </a:solidFill>
                <a:latin typeface="Calibri" pitchFamily="34" charset="0"/>
                <a:ea typeface="Calibri" pitchFamily="34" charset="-122"/>
                <a:cs typeface="Calibri" pitchFamily="34" charset="-120"/>
              </a:rPr>
              <a:t>-47</a:t>
            </a:r>
            <a:endParaRPr lang="en-US" sz="1000" dirty="0"/>
          </a:p>
        </p:txBody>
      </p:sp>
      <p:sp>
        <p:nvSpPr>
          <p:cNvPr id="47" name="Text 45"/>
          <p:cNvSpPr/>
          <p:nvPr/>
        </p:nvSpPr>
        <p:spPr>
          <a:xfrm>
            <a:off x="457200" y="4663440"/>
            <a:ext cx="1463040" cy="274320"/>
          </a:xfrm>
          <a:prstGeom prst="rect">
            <a:avLst/>
          </a:prstGeom>
          <a:noFill/>
          <a:ln/>
        </p:spPr>
        <p:txBody>
          <a:bodyPr wrap="square" rtlCol="0" anchor="ctr"/>
          <a:lstStyle/>
          <a:p>
            <a:pPr indent="0" marL="0">
              <a:buNone/>
            </a:pPr>
            <a:r>
              <a:rPr lang="en-US" sz="1000" dirty="0">
                <a:solidFill>
                  <a:srgbClr val="5A6A85"/>
                </a:solidFill>
                <a:latin typeface="Calibri" pitchFamily="34" charset="0"/>
                <a:ea typeface="Calibri" pitchFamily="34" charset="-122"/>
                <a:cs typeface="Calibri" pitchFamily="34" charset="-120"/>
              </a:rPr>
              <a:t>Returning</a:t>
            </a:r>
            <a:endParaRPr lang="en-US" sz="1000" dirty="0"/>
          </a:p>
        </p:txBody>
      </p:sp>
      <p:sp>
        <p:nvSpPr>
          <p:cNvPr id="48" name="Shape 46"/>
          <p:cNvSpPr/>
          <p:nvPr/>
        </p:nvSpPr>
        <p:spPr>
          <a:xfrm>
            <a:off x="2011680" y="4700016"/>
            <a:ext cx="3057754" cy="201168"/>
          </a:xfrm>
          <a:prstGeom prst="rect">
            <a:avLst/>
          </a:prstGeom>
          <a:solidFill>
            <a:srgbClr val="C0392B"/>
          </a:solidFill>
          <a:ln w="12700">
            <a:solidFill>
              <a:srgbClr val="C0392B"/>
            </a:solidFill>
            <a:prstDash val="solid"/>
          </a:ln>
        </p:spPr>
      </p:sp>
      <p:sp>
        <p:nvSpPr>
          <p:cNvPr id="49" name="Text 47"/>
          <p:cNvSpPr/>
          <p:nvPr/>
        </p:nvSpPr>
        <p:spPr>
          <a:xfrm>
            <a:off x="2103120" y="4700016"/>
            <a:ext cx="2966314" cy="201168"/>
          </a:xfrm>
          <a:prstGeom prst="rect">
            <a:avLst/>
          </a:prstGeom>
          <a:noFill/>
          <a:ln/>
        </p:spPr>
        <p:txBody>
          <a:bodyPr wrap="square" rtlCol="0" anchor="ctr"/>
          <a:lstStyle/>
          <a:p>
            <a:pPr algn="r" indent="0" marL="0">
              <a:buNone/>
            </a:pPr>
            <a:r>
              <a:rPr lang="en-US" sz="1000" b="1" dirty="0">
                <a:solidFill>
                  <a:srgbClr val="FFFFFF"/>
                </a:solidFill>
                <a:latin typeface="Calibri" pitchFamily="34" charset="0"/>
                <a:ea typeface="Calibri" pitchFamily="34" charset="-122"/>
                <a:cs typeface="Calibri" pitchFamily="34" charset="-120"/>
              </a:rPr>
              <a:t>-46</a:t>
            </a:r>
            <a:endParaRPr lang="en-US" sz="1000" dirty="0"/>
          </a:p>
        </p:txBody>
      </p:sp>
      <p:sp>
        <p:nvSpPr>
          <p:cNvPr id="50" name="Text 48"/>
          <p:cNvSpPr/>
          <p:nvPr/>
        </p:nvSpPr>
        <p:spPr>
          <a:xfrm>
            <a:off x="457200" y="5285232"/>
            <a:ext cx="1463040" cy="274320"/>
          </a:xfrm>
          <a:prstGeom prst="rect">
            <a:avLst/>
          </a:prstGeom>
          <a:noFill/>
          <a:ln/>
        </p:spPr>
        <p:txBody>
          <a:bodyPr wrap="square" rtlCol="0" anchor="ctr"/>
          <a:lstStyle/>
          <a:p>
            <a:pPr indent="0" marL="0">
              <a:buNone/>
            </a:pPr>
            <a:r>
              <a:rPr lang="en-US" sz="1000" dirty="0">
                <a:solidFill>
                  <a:srgbClr val="5A6A85"/>
                </a:solidFill>
                <a:latin typeface="Calibri" pitchFamily="34" charset="0"/>
                <a:ea typeface="Calibri" pitchFamily="34" charset="-122"/>
                <a:cs typeface="Calibri" pitchFamily="34" charset="-120"/>
              </a:rPr>
              <a:t>New</a:t>
            </a:r>
            <a:endParaRPr lang="en-US" sz="1000" dirty="0"/>
          </a:p>
        </p:txBody>
      </p:sp>
      <p:sp>
        <p:nvSpPr>
          <p:cNvPr id="51" name="Shape 49"/>
          <p:cNvSpPr/>
          <p:nvPr/>
        </p:nvSpPr>
        <p:spPr>
          <a:xfrm>
            <a:off x="2011680" y="5321808"/>
            <a:ext cx="2710282" cy="201168"/>
          </a:xfrm>
          <a:prstGeom prst="rect">
            <a:avLst/>
          </a:prstGeom>
          <a:solidFill>
            <a:srgbClr val="D4820A"/>
          </a:solidFill>
          <a:ln w="12700">
            <a:solidFill>
              <a:srgbClr val="D4820A"/>
            </a:solidFill>
            <a:prstDash val="solid"/>
          </a:ln>
        </p:spPr>
      </p:sp>
      <p:sp>
        <p:nvSpPr>
          <p:cNvPr id="52" name="Text 50"/>
          <p:cNvSpPr/>
          <p:nvPr/>
        </p:nvSpPr>
        <p:spPr>
          <a:xfrm>
            <a:off x="2103120" y="5321808"/>
            <a:ext cx="2618842" cy="201168"/>
          </a:xfrm>
          <a:prstGeom prst="rect">
            <a:avLst/>
          </a:prstGeom>
          <a:noFill/>
          <a:ln/>
        </p:spPr>
        <p:txBody>
          <a:bodyPr wrap="square" rtlCol="0" anchor="ctr"/>
          <a:lstStyle/>
          <a:p>
            <a:pPr algn="r" indent="0" marL="0">
              <a:buNone/>
            </a:pPr>
            <a:r>
              <a:rPr lang="en-US" sz="1000" b="1" dirty="0">
                <a:solidFill>
                  <a:srgbClr val="FFFFFF"/>
                </a:solidFill>
                <a:latin typeface="Calibri" pitchFamily="34" charset="0"/>
                <a:ea typeface="Calibri" pitchFamily="34" charset="-122"/>
                <a:cs typeface="Calibri" pitchFamily="34" charset="-120"/>
              </a:rPr>
              <a:t>-43</a:t>
            </a:r>
            <a:endParaRPr lang="en-US" sz="1000" dirty="0"/>
          </a:p>
        </p:txBody>
      </p:sp>
      <p:sp>
        <p:nvSpPr>
          <p:cNvPr id="53" name="Shape 51"/>
          <p:cNvSpPr/>
          <p:nvPr/>
        </p:nvSpPr>
        <p:spPr>
          <a:xfrm>
            <a:off x="6217920" y="3611880"/>
            <a:ext cx="5760720" cy="2514600"/>
          </a:xfrm>
          <a:prstGeom prst="rect">
            <a:avLst/>
          </a:prstGeom>
          <a:solidFill>
            <a:srgbClr val="F0F4F8"/>
          </a:solidFill>
          <a:ln w="12700">
            <a:solidFill>
              <a:srgbClr val="D0D8E8"/>
            </a:solidFill>
            <a:prstDash val="solid"/>
          </a:ln>
        </p:spPr>
      </p:sp>
      <p:sp>
        <p:nvSpPr>
          <p:cNvPr id="54" name="Text 52"/>
          <p:cNvSpPr/>
          <p:nvPr/>
        </p:nvSpPr>
        <p:spPr>
          <a:xfrm>
            <a:off x="6355080" y="3721608"/>
            <a:ext cx="5486400" cy="228600"/>
          </a:xfrm>
          <a:prstGeom prst="rect">
            <a:avLst/>
          </a:prstGeom>
          <a:noFill/>
          <a:ln/>
        </p:spPr>
        <p:txBody>
          <a:bodyPr wrap="square" rtlCol="0" anchor="ctr"/>
          <a:lstStyle/>
          <a:p>
            <a:pPr indent="0" marL="0">
              <a:buNone/>
            </a:pPr>
            <a:r>
              <a:rPr lang="en-US" sz="850" b="1" spc="200" kern="0" dirty="0">
                <a:solidFill>
                  <a:srgbClr val="C8A84B"/>
                </a:solidFill>
                <a:latin typeface="Calibri" pitchFamily="34" charset="0"/>
                <a:ea typeface="Calibri" pitchFamily="34" charset="-122"/>
                <a:cs typeface="Calibri" pitchFamily="34" charset="-120"/>
              </a:rPr>
              <a:t>CRISIS RESOLUTION</a:t>
            </a:r>
            <a:endParaRPr lang="en-US" sz="850" dirty="0"/>
          </a:p>
        </p:txBody>
      </p:sp>
      <p:sp>
        <p:nvSpPr>
          <p:cNvPr id="55" name="Text 53"/>
          <p:cNvSpPr/>
          <p:nvPr/>
        </p:nvSpPr>
        <p:spPr>
          <a:xfrm>
            <a:off x="6355080" y="4041648"/>
            <a:ext cx="3200400" cy="274320"/>
          </a:xfrm>
          <a:prstGeom prst="rect">
            <a:avLst/>
          </a:prstGeom>
          <a:noFill/>
          <a:ln/>
        </p:spPr>
        <p:txBody>
          <a:bodyPr wrap="square" rtlCol="0" anchor="ctr"/>
          <a:lstStyle/>
          <a:p>
            <a:pPr indent="0" marL="0">
              <a:buNone/>
            </a:pPr>
            <a:r>
              <a:rPr lang="en-US" sz="1100" b="1" dirty="0">
                <a:solidFill>
                  <a:srgbClr val="C0392B"/>
                </a:solidFill>
                <a:latin typeface="Calibri" pitchFamily="34" charset="0"/>
                <a:ea typeface="Calibri" pitchFamily="34" charset="-122"/>
                <a:cs typeface="Calibri" pitchFamily="34" charset="-120"/>
              </a:rPr>
              <a:t>AfriTech: 47.59%</a:t>
            </a:r>
            <a:endParaRPr lang="en-US" sz="1100" dirty="0"/>
          </a:p>
        </p:txBody>
      </p:sp>
      <p:sp>
        <p:nvSpPr>
          <p:cNvPr id="56" name="Shape 54"/>
          <p:cNvSpPr/>
          <p:nvPr/>
        </p:nvSpPr>
        <p:spPr>
          <a:xfrm>
            <a:off x="6355080" y="4407408"/>
            <a:ext cx="2523945" cy="256032"/>
          </a:xfrm>
          <a:prstGeom prst="rect">
            <a:avLst/>
          </a:prstGeom>
          <a:solidFill>
            <a:srgbClr val="C0392B"/>
          </a:solidFill>
          <a:ln w="12700">
            <a:solidFill>
              <a:srgbClr val="C0392B"/>
            </a:solidFill>
            <a:prstDash val="solid"/>
          </a:ln>
        </p:spPr>
      </p:sp>
      <p:sp>
        <p:nvSpPr>
          <p:cNvPr id="57" name="Text 55"/>
          <p:cNvSpPr/>
          <p:nvPr/>
        </p:nvSpPr>
        <p:spPr>
          <a:xfrm>
            <a:off x="6355080" y="4773168"/>
            <a:ext cx="3200400" cy="274320"/>
          </a:xfrm>
          <a:prstGeom prst="rect">
            <a:avLst/>
          </a:prstGeom>
          <a:noFill/>
          <a:ln/>
        </p:spPr>
        <p:txBody>
          <a:bodyPr wrap="square" rtlCol="0" anchor="ctr"/>
          <a:lstStyle/>
          <a:p>
            <a:pPr indent="0" marL="0">
              <a:buNone/>
            </a:pPr>
            <a:r>
              <a:rPr lang="en-US" sz="1100" b="1" dirty="0">
                <a:solidFill>
                  <a:srgbClr val="1A6B3A"/>
                </a:solidFill>
                <a:latin typeface="Calibri" pitchFamily="34" charset="0"/>
                <a:ea typeface="Calibri" pitchFamily="34" charset="-122"/>
                <a:cs typeface="Calibri" pitchFamily="34" charset="-120"/>
              </a:rPr>
              <a:t>Industry benchmark: 80%</a:t>
            </a:r>
            <a:endParaRPr lang="en-US" sz="1100" dirty="0"/>
          </a:p>
        </p:txBody>
      </p:sp>
      <p:sp>
        <p:nvSpPr>
          <p:cNvPr id="58" name="Shape 56"/>
          <p:cNvSpPr/>
          <p:nvPr/>
        </p:nvSpPr>
        <p:spPr>
          <a:xfrm>
            <a:off x="6355080" y="5138928"/>
            <a:ext cx="4242816" cy="256032"/>
          </a:xfrm>
          <a:prstGeom prst="rect">
            <a:avLst/>
          </a:prstGeom>
          <a:solidFill>
            <a:srgbClr val="1A6B3A"/>
          </a:solidFill>
          <a:ln w="12700">
            <a:solidFill>
              <a:srgbClr val="1A6B3A"/>
            </a:solidFill>
            <a:prstDash val="solid"/>
          </a:ln>
        </p:spPr>
      </p:sp>
      <p:sp>
        <p:nvSpPr>
          <p:cNvPr id="59" name="Text 57"/>
          <p:cNvSpPr/>
          <p:nvPr/>
        </p:nvSpPr>
        <p:spPr>
          <a:xfrm>
            <a:off x="9601200" y="4773168"/>
            <a:ext cx="2194560" cy="274320"/>
          </a:xfrm>
          <a:prstGeom prst="rect">
            <a:avLst/>
          </a:prstGeom>
          <a:noFill/>
          <a:ln/>
        </p:spPr>
        <p:txBody>
          <a:bodyPr wrap="square" rtlCol="0" anchor="ctr"/>
          <a:lstStyle/>
          <a:p>
            <a:pPr algn="r" indent="0" marL="0">
              <a:buNone/>
            </a:pPr>
            <a:r>
              <a:rPr lang="en-US" sz="1100" b="1" dirty="0">
                <a:solidFill>
                  <a:srgbClr val="C0392B"/>
                </a:solidFill>
                <a:latin typeface="Calibri" pitchFamily="34" charset="0"/>
                <a:ea typeface="Calibri" pitchFamily="34" charset="-122"/>
                <a:cs typeface="Calibri" pitchFamily="34" charset="-120"/>
              </a:rPr>
              <a:t>Gap: 32.4 pts</a:t>
            </a:r>
            <a:endParaRPr lang="en-US" sz="1100" dirty="0"/>
          </a:p>
        </p:txBody>
      </p:sp>
      <p:sp>
        <p:nvSpPr>
          <p:cNvPr id="60" name="Shape 58"/>
          <p:cNvSpPr/>
          <p:nvPr/>
        </p:nvSpPr>
        <p:spPr>
          <a:xfrm>
            <a:off x="0" y="6537960"/>
            <a:ext cx="12161520" cy="320040"/>
          </a:xfrm>
          <a:prstGeom prst="rect">
            <a:avLst/>
          </a:prstGeom>
          <a:solidFill>
            <a:srgbClr val="0A1628"/>
          </a:solidFill>
          <a:ln w="12700">
            <a:solidFill>
              <a:srgbClr val="0A1628"/>
            </a:solidFill>
            <a:prstDash val="solid"/>
          </a:ln>
        </p:spPr>
      </p:sp>
      <p:sp>
        <p:nvSpPr>
          <p:cNvPr id="61" name="Text 59"/>
          <p:cNvSpPr/>
          <p:nvPr/>
        </p:nvSpPr>
        <p:spPr>
          <a:xfrm>
            <a:off x="365760" y="6565392"/>
            <a:ext cx="9144000" cy="256032"/>
          </a:xfrm>
          <a:prstGeom prst="rect">
            <a:avLst/>
          </a:prstGeom>
          <a:noFill/>
          <a:ln/>
        </p:spPr>
        <p:txBody>
          <a:bodyPr wrap="square" rtlCol="0" anchor="ctr"/>
          <a:lstStyle/>
          <a:p>
            <a:pPr indent="0" marL="0">
              <a:buNone/>
            </a:pPr>
            <a:r>
              <a:rPr lang="en-US" sz="750" dirty="0">
                <a:solidFill>
                  <a:srgbClr val="8899BB"/>
                </a:solidFill>
                <a:latin typeface="Calibri" pitchFamily="34" charset="0"/>
                <a:ea typeface="Calibri" pitchFamily="34" charset="-122"/>
                <a:cs typeface="Calibri" pitchFamily="34" charset="-120"/>
              </a:rPr>
              <a:t>Samuel Ahinakwa  |  Finance &amp; Analytics Professional  |  BSc · MSc · ICAG Finalist  |  Confidential</a:t>
            </a:r>
            <a:endParaRPr lang="en-US" sz="750" dirty="0"/>
          </a:p>
        </p:txBody>
      </p:sp>
      <p:sp>
        <p:nvSpPr>
          <p:cNvPr id="62" name="Text 60"/>
          <p:cNvSpPr/>
          <p:nvPr/>
        </p:nvSpPr>
        <p:spPr>
          <a:xfrm>
            <a:off x="11338560" y="6565392"/>
            <a:ext cx="731520" cy="256032"/>
          </a:xfrm>
          <a:prstGeom prst="rect">
            <a:avLst/>
          </a:prstGeom>
          <a:noFill/>
          <a:ln/>
        </p:spPr>
        <p:txBody>
          <a:bodyPr wrap="square" rtlCol="0" anchor="ctr"/>
          <a:lstStyle/>
          <a:p>
            <a:pPr algn="r" indent="0" marL="0">
              <a:buNone/>
            </a:pPr>
            <a:r>
              <a:rPr lang="en-US" sz="800" dirty="0">
                <a:solidFill>
                  <a:srgbClr val="C8A84B"/>
                </a:solidFill>
                <a:latin typeface="Calibri" pitchFamily="34" charset="0"/>
                <a:ea typeface="Calibri" pitchFamily="34" charset="-122"/>
                <a:cs typeface="Calibri" pitchFamily="34" charset="-120"/>
              </a:rPr>
              <a:t>5 / 26</a:t>
            </a:r>
            <a:endParaRPr lang="en-US" sz="800" dirty="0"/>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1051560"/>
          </a:xfrm>
          <a:prstGeom prst="rect">
            <a:avLst/>
          </a:prstGeom>
          <a:solidFill>
            <a:srgbClr val="0A1628"/>
          </a:solidFill>
          <a:ln w="12700">
            <a:solidFill>
              <a:srgbClr val="0A1628"/>
            </a:solidFill>
            <a:prstDash val="solid"/>
          </a:ln>
        </p:spPr>
      </p:sp>
      <p:sp>
        <p:nvSpPr>
          <p:cNvPr id="3" name="Shape 1"/>
          <p:cNvSpPr/>
          <p:nvPr/>
        </p:nvSpPr>
        <p:spPr>
          <a:xfrm>
            <a:off x="0" y="1051560"/>
            <a:ext cx="12161520" cy="36576"/>
          </a:xfrm>
          <a:prstGeom prst="rect">
            <a:avLst/>
          </a:prstGeom>
          <a:solidFill>
            <a:srgbClr val="C8A84B"/>
          </a:solidFill>
          <a:ln w="12700">
            <a:solidFill>
              <a:srgbClr val="C8A84B"/>
            </a:solidFill>
            <a:prstDash val="solid"/>
          </a:ln>
        </p:spPr>
      </p:sp>
      <p:sp>
        <p:nvSpPr>
          <p:cNvPr id="4" name="Text 2"/>
          <p:cNvSpPr/>
          <p:nvPr/>
        </p:nvSpPr>
        <p:spPr>
          <a:xfrm>
            <a:off x="365760" y="64008"/>
            <a:ext cx="4572000" cy="228600"/>
          </a:xfrm>
          <a:prstGeom prst="rect">
            <a:avLst/>
          </a:prstGeom>
          <a:noFill/>
          <a:ln/>
        </p:spPr>
        <p:txBody>
          <a:bodyPr wrap="square" rtlCol="0" anchor="ctr"/>
          <a:lstStyle/>
          <a:p>
            <a:pPr indent="0" marL="0">
              <a:buNone/>
            </a:pPr>
            <a:r>
              <a:rPr lang="en-US" sz="800" b="1" spc="200" kern="0" dirty="0">
                <a:solidFill>
                  <a:srgbClr val="C8A84B"/>
                </a:solidFill>
                <a:latin typeface="Calibri" pitchFamily="34" charset="0"/>
                <a:ea typeface="Calibri" pitchFamily="34" charset="-122"/>
                <a:cs typeface="Calibri" pitchFamily="34" charset="-120"/>
              </a:rPr>
              <a:t>POINT OF NO RETURN — ACTION PROTOCOL</a:t>
            </a:r>
            <a:endParaRPr lang="en-US" sz="800" dirty="0"/>
          </a:p>
        </p:txBody>
      </p:sp>
      <p:sp>
        <p:nvSpPr>
          <p:cNvPr id="5" name="Text 3"/>
          <p:cNvSpPr/>
          <p:nvPr/>
        </p:nvSpPr>
        <p:spPr>
          <a:xfrm>
            <a:off x="365760" y="256032"/>
            <a:ext cx="9601200" cy="566928"/>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$1,076,419 · 1,410 VIP customers · Competitors targeting them today</a:t>
            </a:r>
            <a:endParaRPr lang="en-US" sz="2600" dirty="0"/>
          </a:p>
        </p:txBody>
      </p:sp>
      <p:sp>
        <p:nvSpPr>
          <p:cNvPr id="6" name="Text 4"/>
          <p:cNvSpPr/>
          <p:nvPr/>
        </p:nvSpPr>
        <p:spPr>
          <a:xfrm>
            <a:off x="365760" y="795528"/>
            <a:ext cx="10058400" cy="228600"/>
          </a:xfrm>
          <a:prstGeom prst="rect">
            <a:avLst/>
          </a:prstGeom>
          <a:noFill/>
          <a:ln/>
        </p:spPr>
        <p:txBody>
          <a:bodyPr wrap="square" rtlCol="0" anchor="ctr"/>
          <a:lstStyle/>
          <a:p>
            <a:pPr indent="0" marL="0">
              <a:buNone/>
            </a:pPr>
            <a:r>
              <a:rPr lang="en-US" sz="1050" i="1" dirty="0">
                <a:solidFill>
                  <a:srgbClr val="8899BB"/>
                </a:solidFill>
                <a:latin typeface="Calibri" pitchFamily="34" charset="0"/>
                <a:ea typeface="Calibri" pitchFamily="34" charset="-122"/>
                <a:cs typeface="Calibri" pitchFamily="34" charset="-120"/>
              </a:rPr>
              <a:t>This is not revenue at risk. This is revenue in transition.</a:t>
            </a:r>
            <a:endParaRPr lang="en-US" sz="1050" dirty="0"/>
          </a:p>
        </p:txBody>
      </p:sp>
      <p:sp>
        <p:nvSpPr>
          <p:cNvPr id="7" name="Shape 5"/>
          <p:cNvSpPr/>
          <p:nvPr/>
        </p:nvSpPr>
        <p:spPr>
          <a:xfrm>
            <a:off x="320040" y="1234440"/>
            <a:ext cx="11658600" cy="658368"/>
          </a:xfrm>
          <a:prstGeom prst="rect">
            <a:avLst/>
          </a:prstGeom>
          <a:solidFill>
            <a:srgbClr val="C0392B"/>
          </a:solidFill>
          <a:ln w="12700">
            <a:solidFill>
              <a:srgbClr val="C0392B"/>
            </a:solidFill>
            <a:prstDash val="solid"/>
          </a:ln>
        </p:spPr>
      </p:sp>
      <p:sp>
        <p:nvSpPr>
          <p:cNvPr id="8" name="Text 6"/>
          <p:cNvSpPr/>
          <p:nvPr/>
        </p:nvSpPr>
        <p:spPr>
          <a:xfrm>
            <a:off x="457200" y="1298448"/>
            <a:ext cx="2743200" cy="50292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$1,076,419</a:t>
            </a:r>
            <a:endParaRPr lang="en-US" sz="2800" dirty="0"/>
          </a:p>
        </p:txBody>
      </p:sp>
      <p:sp>
        <p:nvSpPr>
          <p:cNvPr id="9" name="Text 7"/>
          <p:cNvSpPr/>
          <p:nvPr/>
        </p:nvSpPr>
        <p:spPr>
          <a:xfrm>
            <a:off x="3383280" y="1371600"/>
            <a:ext cx="8321040" cy="411480"/>
          </a:xfrm>
          <a:prstGeom prst="rect">
            <a:avLst/>
          </a:prstGeom>
          <a:noFill/>
          <a:ln/>
        </p:spPr>
        <p:txBody>
          <a:bodyPr wrap="square" rtlCol="0" anchor="ctr"/>
          <a:lstStyle/>
          <a:p>
            <a:pPr indent="0" marL="0">
              <a:buNone/>
            </a:pPr>
            <a:r>
              <a:rPr lang="en-US" sz="1400" b="1" dirty="0">
                <a:solidFill>
                  <a:srgbClr val="FFAAAA"/>
                </a:solidFill>
                <a:latin typeface="Calibri" pitchFamily="34" charset="0"/>
                <a:ea typeface="Calibri" pitchFamily="34" charset="-122"/>
                <a:cs typeface="Calibri" pitchFamily="34" charset="-120"/>
              </a:rPr>
              <a:t>1,410 VIP customers being actively targeted by competitors — today.</a:t>
            </a:r>
            <a:endParaRPr lang="en-US" sz="1400" dirty="0"/>
          </a:p>
        </p:txBody>
      </p:sp>
      <p:sp>
        <p:nvSpPr>
          <p:cNvPr id="10" name="Shape 8"/>
          <p:cNvSpPr/>
          <p:nvPr/>
        </p:nvSpPr>
        <p:spPr>
          <a:xfrm>
            <a:off x="320040" y="2057400"/>
            <a:ext cx="3657600" cy="1463040"/>
          </a:xfrm>
          <a:prstGeom prst="rect">
            <a:avLst/>
          </a:prstGeom>
          <a:solidFill>
            <a:srgbClr val="FEF2F2"/>
          </a:solidFill>
          <a:ln w="12700">
            <a:solidFill>
              <a:srgbClr val="C0392B"/>
            </a:solidFill>
            <a:prstDash val="solid"/>
          </a:ln>
        </p:spPr>
      </p:sp>
      <p:sp>
        <p:nvSpPr>
          <p:cNvPr id="11" name="Shape 9"/>
          <p:cNvSpPr/>
          <p:nvPr/>
        </p:nvSpPr>
        <p:spPr>
          <a:xfrm>
            <a:off x="320040" y="2057400"/>
            <a:ext cx="3657600" cy="45720"/>
          </a:xfrm>
          <a:prstGeom prst="rect">
            <a:avLst/>
          </a:prstGeom>
          <a:solidFill>
            <a:srgbClr val="C0392B"/>
          </a:solidFill>
          <a:ln w="12700">
            <a:solidFill>
              <a:srgbClr val="C0392B"/>
            </a:solidFill>
            <a:prstDash val="solid"/>
          </a:ln>
        </p:spPr>
      </p:sp>
      <p:sp>
        <p:nvSpPr>
          <p:cNvPr id="12" name="Text 10"/>
          <p:cNvSpPr/>
          <p:nvPr/>
        </p:nvSpPr>
        <p:spPr>
          <a:xfrm>
            <a:off x="457200" y="2130552"/>
            <a:ext cx="457200" cy="274320"/>
          </a:xfrm>
          <a:prstGeom prst="rect">
            <a:avLst/>
          </a:prstGeom>
          <a:noFill/>
          <a:ln/>
        </p:spPr>
        <p:txBody>
          <a:bodyPr wrap="square" rtlCol="0" anchor="ctr"/>
          <a:lstStyle/>
          <a:p>
            <a:pPr indent="0" marL="0">
              <a:buNone/>
            </a:pPr>
            <a:r>
              <a:rPr lang="en-US" sz="1300" b="1" dirty="0">
                <a:solidFill>
                  <a:srgbClr val="C0392B"/>
                </a:solidFill>
                <a:latin typeface="Calibri" pitchFamily="34" charset="0"/>
                <a:ea typeface="Calibri" pitchFamily="34" charset="-122"/>
                <a:cs typeface="Calibri" pitchFamily="34" charset="-120"/>
              </a:rPr>
              <a:t>01</a:t>
            </a:r>
            <a:endParaRPr lang="en-US" sz="1300" dirty="0"/>
          </a:p>
        </p:txBody>
      </p:sp>
      <p:sp>
        <p:nvSpPr>
          <p:cNvPr id="13" name="Text 11"/>
          <p:cNvSpPr/>
          <p:nvPr/>
        </p:nvSpPr>
        <p:spPr>
          <a:xfrm>
            <a:off x="960120" y="2130552"/>
            <a:ext cx="2834640" cy="274320"/>
          </a:xfrm>
          <a:prstGeom prst="rect">
            <a:avLst/>
          </a:prstGeom>
          <a:noFill/>
          <a:ln/>
        </p:spPr>
        <p:txBody>
          <a:bodyPr wrap="square" rtlCol="0" anchor="ctr"/>
          <a:lstStyle/>
          <a:p>
            <a:pPr indent="0" marL="0">
              <a:buNone/>
            </a:pPr>
            <a:r>
              <a:rPr lang="en-US" sz="1100" b="1" dirty="0">
                <a:solidFill>
                  <a:srgbClr val="0A1628"/>
                </a:solidFill>
                <a:latin typeface="Calibri" pitchFamily="34" charset="0"/>
                <a:ea typeface="Calibri" pitchFamily="34" charset="-122"/>
                <a:cs typeface="Calibri" pitchFamily="34" charset="-120"/>
              </a:rPr>
              <a:t>VIP Status</a:t>
            </a:r>
            <a:endParaRPr lang="en-US" sz="1100" dirty="0"/>
          </a:p>
        </p:txBody>
      </p:sp>
      <p:sp>
        <p:nvSpPr>
          <p:cNvPr id="14" name="Text 12"/>
          <p:cNvSpPr/>
          <p:nvPr/>
        </p:nvSpPr>
        <p:spPr>
          <a:xfrm>
            <a:off x="457200" y="2487168"/>
            <a:ext cx="3383280" cy="914400"/>
          </a:xfrm>
          <a:prstGeom prst="rect">
            <a:avLst/>
          </a:prstGeom>
          <a:noFill/>
          <a:ln/>
        </p:spPr>
        <p:txBody>
          <a:bodyPr wrap="square" rtlCol="0" anchor="ctr"/>
          <a:lstStyle/>
          <a:p>
            <a:pPr indent="0" marL="0">
              <a:buNone/>
            </a:pPr>
            <a:r>
              <a:rPr lang="en-US" sz="950" i="1" dirty="0">
                <a:solidFill>
                  <a:srgbClr val="2A2820"/>
                </a:solidFill>
                <a:latin typeface="Calibri" pitchFamily="34" charset="0"/>
                <a:ea typeface="Calibri" pitchFamily="34" charset="-122"/>
                <a:cs typeface="Calibri" pitchFamily="34" charset="-120"/>
              </a:rPr>
              <a:t>AfriTech's highest-value customer tier. These are the accounts that matter most commercially.</a:t>
            </a:r>
            <a:endParaRPr lang="en-US" sz="950" dirty="0"/>
          </a:p>
        </p:txBody>
      </p:sp>
      <p:sp>
        <p:nvSpPr>
          <p:cNvPr id="15" name="Shape 13"/>
          <p:cNvSpPr/>
          <p:nvPr/>
        </p:nvSpPr>
        <p:spPr>
          <a:xfrm>
            <a:off x="4251960" y="2057400"/>
            <a:ext cx="3657600" cy="1463040"/>
          </a:xfrm>
          <a:prstGeom prst="rect">
            <a:avLst/>
          </a:prstGeom>
          <a:solidFill>
            <a:srgbClr val="FEF2F2"/>
          </a:solidFill>
          <a:ln w="12700">
            <a:solidFill>
              <a:srgbClr val="C0392B"/>
            </a:solidFill>
            <a:prstDash val="solid"/>
          </a:ln>
        </p:spPr>
      </p:sp>
      <p:sp>
        <p:nvSpPr>
          <p:cNvPr id="16" name="Shape 14"/>
          <p:cNvSpPr/>
          <p:nvPr/>
        </p:nvSpPr>
        <p:spPr>
          <a:xfrm>
            <a:off x="4251960" y="2057400"/>
            <a:ext cx="3657600" cy="45720"/>
          </a:xfrm>
          <a:prstGeom prst="rect">
            <a:avLst/>
          </a:prstGeom>
          <a:solidFill>
            <a:srgbClr val="C0392B"/>
          </a:solidFill>
          <a:ln w="12700">
            <a:solidFill>
              <a:srgbClr val="C0392B"/>
            </a:solidFill>
            <a:prstDash val="solid"/>
          </a:ln>
        </p:spPr>
      </p:sp>
      <p:sp>
        <p:nvSpPr>
          <p:cNvPr id="17" name="Text 15"/>
          <p:cNvSpPr/>
          <p:nvPr/>
        </p:nvSpPr>
        <p:spPr>
          <a:xfrm>
            <a:off x="4389120" y="2130552"/>
            <a:ext cx="457200" cy="274320"/>
          </a:xfrm>
          <a:prstGeom prst="rect">
            <a:avLst/>
          </a:prstGeom>
          <a:noFill/>
          <a:ln/>
        </p:spPr>
        <p:txBody>
          <a:bodyPr wrap="square" rtlCol="0" anchor="ctr"/>
          <a:lstStyle/>
          <a:p>
            <a:pPr indent="0" marL="0">
              <a:buNone/>
            </a:pPr>
            <a:r>
              <a:rPr lang="en-US" sz="1300" b="1" dirty="0">
                <a:solidFill>
                  <a:srgbClr val="C0392B"/>
                </a:solidFill>
                <a:latin typeface="Calibri" pitchFamily="34" charset="0"/>
                <a:ea typeface="Calibri" pitchFamily="34" charset="-122"/>
                <a:cs typeface="Calibri" pitchFamily="34" charset="-120"/>
              </a:rPr>
              <a:t>02</a:t>
            </a:r>
            <a:endParaRPr lang="en-US" sz="1300" dirty="0"/>
          </a:p>
        </p:txBody>
      </p:sp>
      <p:sp>
        <p:nvSpPr>
          <p:cNvPr id="18" name="Text 16"/>
          <p:cNvSpPr/>
          <p:nvPr/>
        </p:nvSpPr>
        <p:spPr>
          <a:xfrm>
            <a:off x="4892040" y="2130552"/>
            <a:ext cx="2834640" cy="274320"/>
          </a:xfrm>
          <a:prstGeom prst="rect">
            <a:avLst/>
          </a:prstGeom>
          <a:noFill/>
          <a:ln/>
        </p:spPr>
        <p:txBody>
          <a:bodyPr wrap="square" rtlCol="0" anchor="ctr"/>
          <a:lstStyle/>
          <a:p>
            <a:pPr indent="0" marL="0">
              <a:buNone/>
            </a:pPr>
            <a:r>
              <a:rPr lang="en-US" sz="1100" b="1" dirty="0">
                <a:solidFill>
                  <a:srgbClr val="0A1628"/>
                </a:solidFill>
                <a:latin typeface="Calibri" pitchFamily="34" charset="0"/>
                <a:ea typeface="Calibri" pitchFamily="34" charset="-122"/>
                <a:cs typeface="Calibri" pitchFamily="34" charset="-120"/>
              </a:rPr>
              <a:t>Unresolved Crisis</a:t>
            </a:r>
            <a:endParaRPr lang="en-US" sz="1100" dirty="0"/>
          </a:p>
        </p:txBody>
      </p:sp>
      <p:sp>
        <p:nvSpPr>
          <p:cNvPr id="19" name="Text 17"/>
          <p:cNvSpPr/>
          <p:nvPr/>
        </p:nvSpPr>
        <p:spPr>
          <a:xfrm>
            <a:off x="4389120" y="2487168"/>
            <a:ext cx="3383280" cy="914400"/>
          </a:xfrm>
          <a:prstGeom prst="rect">
            <a:avLst/>
          </a:prstGeom>
          <a:noFill/>
          <a:ln/>
        </p:spPr>
        <p:txBody>
          <a:bodyPr wrap="square" rtlCol="0" anchor="ctr"/>
          <a:lstStyle/>
          <a:p>
            <a:pPr indent="0" marL="0">
              <a:buNone/>
            </a:pPr>
            <a:r>
              <a:rPr lang="en-US" sz="950" i="1" dirty="0">
                <a:solidFill>
                  <a:srgbClr val="2A2820"/>
                </a:solidFill>
                <a:latin typeface="Calibri" pitchFamily="34" charset="0"/>
                <a:ea typeface="Calibri" pitchFamily="34" charset="-122"/>
                <a:cs typeface="Calibri" pitchFamily="34" charset="-120"/>
              </a:rPr>
              <a:t>A service failure or complaint that was never closed. The grievance is still open. Deepening daily.</a:t>
            </a:r>
            <a:endParaRPr lang="en-US" sz="950" dirty="0"/>
          </a:p>
        </p:txBody>
      </p:sp>
      <p:sp>
        <p:nvSpPr>
          <p:cNvPr id="20" name="Shape 18"/>
          <p:cNvSpPr/>
          <p:nvPr/>
        </p:nvSpPr>
        <p:spPr>
          <a:xfrm>
            <a:off x="8183880" y="2057400"/>
            <a:ext cx="3657600" cy="1463040"/>
          </a:xfrm>
          <a:prstGeom prst="rect">
            <a:avLst/>
          </a:prstGeom>
          <a:solidFill>
            <a:srgbClr val="FEF2F2"/>
          </a:solidFill>
          <a:ln w="12700">
            <a:solidFill>
              <a:srgbClr val="C0392B"/>
            </a:solidFill>
            <a:prstDash val="solid"/>
          </a:ln>
        </p:spPr>
      </p:sp>
      <p:sp>
        <p:nvSpPr>
          <p:cNvPr id="21" name="Shape 19"/>
          <p:cNvSpPr/>
          <p:nvPr/>
        </p:nvSpPr>
        <p:spPr>
          <a:xfrm>
            <a:off x="8183880" y="2057400"/>
            <a:ext cx="3657600" cy="45720"/>
          </a:xfrm>
          <a:prstGeom prst="rect">
            <a:avLst/>
          </a:prstGeom>
          <a:solidFill>
            <a:srgbClr val="C0392B"/>
          </a:solidFill>
          <a:ln w="12700">
            <a:solidFill>
              <a:srgbClr val="C0392B"/>
            </a:solidFill>
            <a:prstDash val="solid"/>
          </a:ln>
        </p:spPr>
      </p:sp>
      <p:sp>
        <p:nvSpPr>
          <p:cNvPr id="22" name="Text 20"/>
          <p:cNvSpPr/>
          <p:nvPr/>
        </p:nvSpPr>
        <p:spPr>
          <a:xfrm>
            <a:off x="8321040" y="2130552"/>
            <a:ext cx="457200" cy="274320"/>
          </a:xfrm>
          <a:prstGeom prst="rect">
            <a:avLst/>
          </a:prstGeom>
          <a:noFill/>
          <a:ln/>
        </p:spPr>
        <p:txBody>
          <a:bodyPr wrap="square" rtlCol="0" anchor="ctr"/>
          <a:lstStyle/>
          <a:p>
            <a:pPr indent="0" marL="0">
              <a:buNone/>
            </a:pPr>
            <a:r>
              <a:rPr lang="en-US" sz="1300" b="1" dirty="0">
                <a:solidFill>
                  <a:srgbClr val="C0392B"/>
                </a:solidFill>
                <a:latin typeface="Calibri" pitchFamily="34" charset="0"/>
                <a:ea typeface="Calibri" pitchFamily="34" charset="-122"/>
                <a:cs typeface="Calibri" pitchFamily="34" charset="-120"/>
              </a:rPr>
              <a:t>03</a:t>
            </a:r>
            <a:endParaRPr lang="en-US" sz="1300" dirty="0"/>
          </a:p>
        </p:txBody>
      </p:sp>
      <p:sp>
        <p:nvSpPr>
          <p:cNvPr id="23" name="Text 21"/>
          <p:cNvSpPr/>
          <p:nvPr/>
        </p:nvSpPr>
        <p:spPr>
          <a:xfrm>
            <a:off x="8823960" y="2130552"/>
            <a:ext cx="2834640" cy="274320"/>
          </a:xfrm>
          <a:prstGeom prst="rect">
            <a:avLst/>
          </a:prstGeom>
          <a:noFill/>
          <a:ln/>
        </p:spPr>
        <p:txBody>
          <a:bodyPr wrap="square" rtlCol="0" anchor="ctr"/>
          <a:lstStyle/>
          <a:p>
            <a:pPr indent="0" marL="0">
              <a:buNone/>
            </a:pPr>
            <a:r>
              <a:rPr lang="en-US" sz="1100" b="1" dirty="0">
                <a:solidFill>
                  <a:srgbClr val="0A1628"/>
                </a:solidFill>
                <a:latin typeface="Calibri" pitchFamily="34" charset="0"/>
                <a:ea typeface="Calibri" pitchFamily="34" charset="-122"/>
                <a:cs typeface="Calibri" pitchFamily="34" charset="-120"/>
              </a:rPr>
              <a:t>Competitor Mention</a:t>
            </a:r>
            <a:endParaRPr lang="en-US" sz="1100" dirty="0"/>
          </a:p>
        </p:txBody>
      </p:sp>
      <p:sp>
        <p:nvSpPr>
          <p:cNvPr id="24" name="Text 22"/>
          <p:cNvSpPr/>
          <p:nvPr/>
        </p:nvSpPr>
        <p:spPr>
          <a:xfrm>
            <a:off x="8321040" y="2487168"/>
            <a:ext cx="3383280" cy="914400"/>
          </a:xfrm>
          <a:prstGeom prst="rect">
            <a:avLst/>
          </a:prstGeom>
          <a:noFill/>
          <a:ln/>
        </p:spPr>
        <p:txBody>
          <a:bodyPr wrap="square" rtlCol="0" anchor="ctr"/>
          <a:lstStyle/>
          <a:p>
            <a:pPr indent="0" marL="0">
              <a:buNone/>
            </a:pPr>
            <a:r>
              <a:rPr lang="en-US" sz="950" i="1" dirty="0">
                <a:solidFill>
                  <a:srgbClr val="2A2820"/>
                </a:solidFill>
                <a:latin typeface="Calibri" pitchFamily="34" charset="0"/>
                <a:ea typeface="Calibri" pitchFamily="34" charset="-122"/>
                <a:cs typeface="Calibri" pitchFamily="34" charset="-120"/>
              </a:rPr>
              <a:t>The customer explicitly named a competitor. The evaluation is active — not hypothetical.</a:t>
            </a:r>
            <a:endParaRPr lang="en-US" sz="950" dirty="0"/>
          </a:p>
        </p:txBody>
      </p:sp>
      <p:sp>
        <p:nvSpPr>
          <p:cNvPr id="25" name="Shape 23"/>
          <p:cNvSpPr/>
          <p:nvPr/>
        </p:nvSpPr>
        <p:spPr>
          <a:xfrm>
            <a:off x="320040" y="3657600"/>
            <a:ext cx="11658600" cy="457200"/>
          </a:xfrm>
          <a:prstGeom prst="rect">
            <a:avLst/>
          </a:prstGeom>
          <a:solidFill>
            <a:srgbClr val="0A1628"/>
          </a:solidFill>
          <a:ln w="12700">
            <a:solidFill>
              <a:srgbClr val="0A1628"/>
            </a:solidFill>
            <a:prstDash val="solid"/>
          </a:ln>
        </p:spPr>
      </p:sp>
      <p:sp>
        <p:nvSpPr>
          <p:cNvPr id="26" name="Text 24"/>
          <p:cNvSpPr/>
          <p:nvPr/>
        </p:nvSpPr>
        <p:spPr>
          <a:xfrm>
            <a:off x="457200" y="3730752"/>
            <a:ext cx="4572000" cy="29260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This is not revenue at risk.</a:t>
            </a:r>
            <a:endParaRPr lang="en-US" sz="1300" dirty="0"/>
          </a:p>
        </p:txBody>
      </p:sp>
      <p:sp>
        <p:nvSpPr>
          <p:cNvPr id="27" name="Text 25"/>
          <p:cNvSpPr/>
          <p:nvPr/>
        </p:nvSpPr>
        <p:spPr>
          <a:xfrm>
            <a:off x="5212080" y="3730752"/>
            <a:ext cx="6492240" cy="292608"/>
          </a:xfrm>
          <a:prstGeom prst="rect">
            <a:avLst/>
          </a:prstGeom>
          <a:noFill/>
          <a:ln/>
        </p:spPr>
        <p:txBody>
          <a:bodyPr wrap="square" rtlCol="0" anchor="ctr"/>
          <a:lstStyle/>
          <a:p>
            <a:pPr indent="0" marL="0">
              <a:buNone/>
            </a:pPr>
            <a:r>
              <a:rPr lang="en-US" sz="1200" i="1" dirty="0">
                <a:solidFill>
                  <a:srgbClr val="AABBCC"/>
                </a:solidFill>
                <a:latin typeface="Calibri" pitchFamily="34" charset="0"/>
                <a:ea typeface="Calibri" pitchFamily="34" charset="-122"/>
                <a:cs typeface="Calibri" pitchFamily="34" charset="-120"/>
              </a:rPr>
              <a:t>This is revenue in transition — moving from AfriTech's ledger to a competitor's.</a:t>
            </a:r>
            <a:endParaRPr lang="en-US" sz="1200" dirty="0"/>
          </a:p>
        </p:txBody>
      </p:sp>
      <p:sp>
        <p:nvSpPr>
          <p:cNvPr id="28" name="Shape 26"/>
          <p:cNvSpPr/>
          <p:nvPr/>
        </p:nvSpPr>
        <p:spPr>
          <a:xfrm>
            <a:off x="320040" y="4251960"/>
            <a:ext cx="3657600" cy="1938528"/>
          </a:xfrm>
          <a:prstGeom prst="rect">
            <a:avLst/>
          </a:prstGeom>
          <a:solidFill>
            <a:srgbClr val="FEF2F2"/>
          </a:solidFill>
          <a:ln w="12700">
            <a:solidFill>
              <a:srgbClr val="C0392B"/>
            </a:solidFill>
            <a:prstDash val="solid"/>
          </a:ln>
        </p:spPr>
      </p:sp>
      <p:sp>
        <p:nvSpPr>
          <p:cNvPr id="29" name="Shape 27"/>
          <p:cNvSpPr/>
          <p:nvPr/>
        </p:nvSpPr>
        <p:spPr>
          <a:xfrm>
            <a:off x="320040" y="4251960"/>
            <a:ext cx="3657600" cy="45720"/>
          </a:xfrm>
          <a:prstGeom prst="rect">
            <a:avLst/>
          </a:prstGeom>
          <a:solidFill>
            <a:srgbClr val="C0392B"/>
          </a:solidFill>
          <a:ln w="12700">
            <a:solidFill>
              <a:srgbClr val="C0392B"/>
            </a:solidFill>
            <a:prstDash val="solid"/>
          </a:ln>
        </p:spPr>
      </p:sp>
      <p:sp>
        <p:nvSpPr>
          <p:cNvPr id="30" name="Text 28"/>
          <p:cNvSpPr/>
          <p:nvPr/>
        </p:nvSpPr>
        <p:spPr>
          <a:xfrm>
            <a:off x="457200" y="4325112"/>
            <a:ext cx="3383280" cy="274320"/>
          </a:xfrm>
          <a:prstGeom prst="rect">
            <a:avLst/>
          </a:prstGeom>
          <a:noFill/>
          <a:ln/>
        </p:spPr>
        <p:txBody>
          <a:bodyPr wrap="square" rtlCol="0" anchor="ctr"/>
          <a:lstStyle/>
          <a:p>
            <a:pPr indent="0" marL="0">
              <a:buNone/>
            </a:pPr>
            <a:r>
              <a:rPr lang="en-US" sz="1100" b="1" dirty="0">
                <a:solidFill>
                  <a:srgbClr val="0A1628"/>
                </a:solidFill>
                <a:latin typeface="Calibri" pitchFamily="34" charset="0"/>
                <a:ea typeface="Calibri" pitchFamily="34" charset="-122"/>
                <a:cs typeface="Calibri" pitchFamily="34" charset="-120"/>
              </a:rPr>
              <a:t>72-hour outreach</a:t>
            </a:r>
            <a:endParaRPr lang="en-US" sz="1100" dirty="0"/>
          </a:p>
        </p:txBody>
      </p:sp>
      <p:sp>
        <p:nvSpPr>
          <p:cNvPr id="31" name="Text 29"/>
          <p:cNvSpPr/>
          <p:nvPr/>
        </p:nvSpPr>
        <p:spPr>
          <a:xfrm>
            <a:off x="457200" y="4626864"/>
            <a:ext cx="3383280" cy="228600"/>
          </a:xfrm>
          <a:prstGeom prst="rect">
            <a:avLst/>
          </a:prstGeom>
          <a:noFill/>
          <a:ln/>
        </p:spPr>
        <p:txBody>
          <a:bodyPr wrap="square" rtlCol="0" anchor="ctr"/>
          <a:lstStyle/>
          <a:p>
            <a:pPr indent="0" marL="0">
              <a:buNone/>
            </a:pPr>
            <a:r>
              <a:rPr lang="en-US" sz="950" b="1" dirty="0">
                <a:solidFill>
                  <a:srgbClr val="C0392B"/>
                </a:solidFill>
                <a:latin typeface="Calibri" pitchFamily="34" charset="0"/>
                <a:ea typeface="Calibri" pitchFamily="34" charset="-122"/>
                <a:cs typeface="Calibri" pitchFamily="34" charset="-120"/>
              </a:rPr>
              <a:t>Senior rep — not a template</a:t>
            </a:r>
            <a:endParaRPr lang="en-US" sz="950" dirty="0"/>
          </a:p>
        </p:txBody>
      </p:sp>
      <p:sp>
        <p:nvSpPr>
          <p:cNvPr id="32" name="Text 30"/>
          <p:cNvSpPr/>
          <p:nvPr/>
        </p:nvSpPr>
        <p:spPr>
          <a:xfrm>
            <a:off x="457200" y="4882896"/>
            <a:ext cx="3383280" cy="1234440"/>
          </a:xfrm>
          <a:prstGeom prst="rect">
            <a:avLst/>
          </a:prstGeom>
          <a:noFill/>
          <a:ln/>
        </p:spPr>
        <p:txBody>
          <a:bodyPr wrap="square" rtlCol="0" anchor="ctr"/>
          <a:lstStyle/>
          <a:p>
            <a:pPr indent="0" marL="0">
              <a:buNone/>
            </a:pPr>
            <a:r>
              <a:rPr lang="en-US" sz="850" i="1" dirty="0">
                <a:solidFill>
                  <a:srgbClr val="2A2820"/>
                </a:solidFill>
                <a:latin typeface="Calibri" pitchFamily="34" charset="0"/>
                <a:ea typeface="Calibri" pitchFamily="34" charset="-122"/>
                <a:cs typeface="Calibri" pitchFamily="34" charset="-120"/>
              </a:rPr>
              <a:t>Call every one of the 1,410 VIP customers within 72 hours. Personal call. Senior relationship manager. Not an automated email. Not a template response. A human conversation.</a:t>
            </a:r>
            <a:endParaRPr lang="en-US" sz="850" dirty="0"/>
          </a:p>
        </p:txBody>
      </p:sp>
      <p:sp>
        <p:nvSpPr>
          <p:cNvPr id="33" name="Shape 31"/>
          <p:cNvSpPr/>
          <p:nvPr/>
        </p:nvSpPr>
        <p:spPr>
          <a:xfrm>
            <a:off x="4251960" y="4251960"/>
            <a:ext cx="3657600" cy="1938528"/>
          </a:xfrm>
          <a:prstGeom prst="rect">
            <a:avLst/>
          </a:prstGeom>
          <a:solidFill>
            <a:srgbClr val="FDF8EC"/>
          </a:solidFill>
          <a:ln w="12700">
            <a:solidFill>
              <a:srgbClr val="D4820A"/>
            </a:solidFill>
            <a:prstDash val="solid"/>
          </a:ln>
        </p:spPr>
      </p:sp>
      <p:sp>
        <p:nvSpPr>
          <p:cNvPr id="34" name="Shape 32"/>
          <p:cNvSpPr/>
          <p:nvPr/>
        </p:nvSpPr>
        <p:spPr>
          <a:xfrm>
            <a:off x="4251960" y="4251960"/>
            <a:ext cx="3657600" cy="45720"/>
          </a:xfrm>
          <a:prstGeom prst="rect">
            <a:avLst/>
          </a:prstGeom>
          <a:solidFill>
            <a:srgbClr val="D4820A"/>
          </a:solidFill>
          <a:ln w="12700">
            <a:solidFill>
              <a:srgbClr val="D4820A"/>
            </a:solidFill>
            <a:prstDash val="solid"/>
          </a:ln>
        </p:spPr>
      </p:sp>
      <p:sp>
        <p:nvSpPr>
          <p:cNvPr id="35" name="Text 33"/>
          <p:cNvSpPr/>
          <p:nvPr/>
        </p:nvSpPr>
        <p:spPr>
          <a:xfrm>
            <a:off x="4389120" y="4325112"/>
            <a:ext cx="3383280" cy="274320"/>
          </a:xfrm>
          <a:prstGeom prst="rect">
            <a:avLst/>
          </a:prstGeom>
          <a:noFill/>
          <a:ln/>
        </p:spPr>
        <p:txBody>
          <a:bodyPr wrap="square" rtlCol="0" anchor="ctr"/>
          <a:lstStyle/>
          <a:p>
            <a:pPr indent="0" marL="0">
              <a:buNone/>
            </a:pPr>
            <a:r>
              <a:rPr lang="en-US" sz="1100" b="1" dirty="0">
                <a:solidFill>
                  <a:srgbClr val="0A1628"/>
                </a:solidFill>
                <a:latin typeface="Calibri" pitchFamily="34" charset="0"/>
                <a:ea typeface="Calibri" pitchFamily="34" charset="-122"/>
                <a:cs typeface="Calibri" pitchFamily="34" charset="-120"/>
              </a:rPr>
              <a:t>Resolve the crisis first</a:t>
            </a:r>
            <a:endParaRPr lang="en-US" sz="1100" dirty="0"/>
          </a:p>
        </p:txBody>
      </p:sp>
      <p:sp>
        <p:nvSpPr>
          <p:cNvPr id="36" name="Text 34"/>
          <p:cNvSpPr/>
          <p:nvPr/>
        </p:nvSpPr>
        <p:spPr>
          <a:xfrm>
            <a:off x="4389120" y="4626864"/>
            <a:ext cx="3383280" cy="228600"/>
          </a:xfrm>
          <a:prstGeom prst="rect">
            <a:avLst/>
          </a:prstGeom>
          <a:noFill/>
          <a:ln/>
        </p:spPr>
        <p:txBody>
          <a:bodyPr wrap="square" rtlCol="0" anchor="ctr"/>
          <a:lstStyle/>
          <a:p>
            <a:pPr indent="0" marL="0">
              <a:buNone/>
            </a:pPr>
            <a:r>
              <a:rPr lang="en-US" sz="950" b="1" dirty="0">
                <a:solidFill>
                  <a:srgbClr val="D4820A"/>
                </a:solidFill>
                <a:latin typeface="Calibri" pitchFamily="34" charset="0"/>
                <a:ea typeface="Calibri" pitchFamily="34" charset="-122"/>
                <a:cs typeface="Calibri" pitchFamily="34" charset="-120"/>
              </a:rPr>
              <a:t>Close the grievance</a:t>
            </a:r>
            <a:endParaRPr lang="en-US" sz="950" dirty="0"/>
          </a:p>
        </p:txBody>
      </p:sp>
      <p:sp>
        <p:nvSpPr>
          <p:cNvPr id="37" name="Text 35"/>
          <p:cNvSpPr/>
          <p:nvPr/>
        </p:nvSpPr>
        <p:spPr>
          <a:xfrm>
            <a:off x="4389120" y="4882896"/>
            <a:ext cx="3383280" cy="1234440"/>
          </a:xfrm>
          <a:prstGeom prst="rect">
            <a:avLst/>
          </a:prstGeom>
          <a:noFill/>
          <a:ln/>
        </p:spPr>
        <p:txBody>
          <a:bodyPr wrap="square" rtlCol="0" anchor="ctr"/>
          <a:lstStyle/>
          <a:p>
            <a:pPr indent="0" marL="0">
              <a:buNone/>
            </a:pPr>
            <a:r>
              <a:rPr lang="en-US" sz="850" i="1" dirty="0">
                <a:solidFill>
                  <a:srgbClr val="2A2820"/>
                </a:solidFill>
                <a:latin typeface="Calibri" pitchFamily="34" charset="0"/>
                <a:ea typeface="Calibri" pitchFamily="34" charset="-122"/>
                <a:cs typeface="Calibri" pitchFamily="34" charset="-120"/>
              </a:rPr>
              <a:t>Do not offer a loyalty reward to a customer whose complaint is still open. Fix the problem first. Remove the competitor's advantage. Then discuss the relationship.</a:t>
            </a:r>
            <a:endParaRPr lang="en-US" sz="850" dirty="0"/>
          </a:p>
        </p:txBody>
      </p:sp>
      <p:sp>
        <p:nvSpPr>
          <p:cNvPr id="38" name="Shape 36"/>
          <p:cNvSpPr/>
          <p:nvPr/>
        </p:nvSpPr>
        <p:spPr>
          <a:xfrm>
            <a:off x="8183880" y="4251960"/>
            <a:ext cx="3657600" cy="1938528"/>
          </a:xfrm>
          <a:prstGeom prst="rect">
            <a:avLst/>
          </a:prstGeom>
          <a:solidFill>
            <a:srgbClr val="F0FDF4"/>
          </a:solidFill>
          <a:ln w="12700">
            <a:solidFill>
              <a:srgbClr val="1A6B3A"/>
            </a:solidFill>
            <a:prstDash val="solid"/>
          </a:ln>
        </p:spPr>
      </p:sp>
      <p:sp>
        <p:nvSpPr>
          <p:cNvPr id="39" name="Shape 37"/>
          <p:cNvSpPr/>
          <p:nvPr/>
        </p:nvSpPr>
        <p:spPr>
          <a:xfrm>
            <a:off x="8183880" y="4251960"/>
            <a:ext cx="3657600" cy="45720"/>
          </a:xfrm>
          <a:prstGeom prst="rect">
            <a:avLst/>
          </a:prstGeom>
          <a:solidFill>
            <a:srgbClr val="1A6B3A"/>
          </a:solidFill>
          <a:ln w="12700">
            <a:solidFill>
              <a:srgbClr val="1A6B3A"/>
            </a:solidFill>
            <a:prstDash val="solid"/>
          </a:ln>
        </p:spPr>
      </p:sp>
      <p:sp>
        <p:nvSpPr>
          <p:cNvPr id="40" name="Text 38"/>
          <p:cNvSpPr/>
          <p:nvPr/>
        </p:nvSpPr>
        <p:spPr>
          <a:xfrm>
            <a:off x="8321040" y="4325112"/>
            <a:ext cx="3383280" cy="274320"/>
          </a:xfrm>
          <a:prstGeom prst="rect">
            <a:avLst/>
          </a:prstGeom>
          <a:noFill/>
          <a:ln/>
        </p:spPr>
        <p:txBody>
          <a:bodyPr wrap="square" rtlCol="0" anchor="ctr"/>
          <a:lstStyle/>
          <a:p>
            <a:pPr indent="0" marL="0">
              <a:buNone/>
            </a:pPr>
            <a:r>
              <a:rPr lang="en-US" sz="1100" b="1" dirty="0">
                <a:solidFill>
                  <a:srgbClr val="0A1628"/>
                </a:solidFill>
                <a:latin typeface="Calibri" pitchFamily="34" charset="0"/>
                <a:ea typeface="Calibri" pitchFamily="34" charset="-122"/>
                <a:cs typeface="Calibri" pitchFamily="34" charset="-120"/>
              </a:rPr>
              <a:t>Structured VIP offer</a:t>
            </a:r>
            <a:endParaRPr lang="en-US" sz="1100" dirty="0"/>
          </a:p>
        </p:txBody>
      </p:sp>
      <p:sp>
        <p:nvSpPr>
          <p:cNvPr id="41" name="Text 39"/>
          <p:cNvSpPr/>
          <p:nvPr/>
        </p:nvSpPr>
        <p:spPr>
          <a:xfrm>
            <a:off x="8321040" y="4626864"/>
            <a:ext cx="3383280" cy="228600"/>
          </a:xfrm>
          <a:prstGeom prst="rect">
            <a:avLst/>
          </a:prstGeom>
          <a:noFill/>
          <a:ln/>
        </p:spPr>
        <p:txBody>
          <a:bodyPr wrap="square" rtlCol="0" anchor="ctr"/>
          <a:lstStyle/>
          <a:p>
            <a:pPr indent="0" marL="0">
              <a:buNone/>
            </a:pPr>
            <a:r>
              <a:rPr lang="en-US" sz="950" b="1" dirty="0">
                <a:solidFill>
                  <a:srgbClr val="1A6B3A"/>
                </a:solidFill>
                <a:latin typeface="Calibri" pitchFamily="34" charset="0"/>
                <a:ea typeface="Calibri" pitchFamily="34" charset="-122"/>
                <a:cs typeface="Calibri" pitchFamily="34" charset="-120"/>
              </a:rPr>
              <a:t>Calibrated to account value</a:t>
            </a:r>
            <a:endParaRPr lang="en-US" sz="950" dirty="0"/>
          </a:p>
        </p:txBody>
      </p:sp>
      <p:sp>
        <p:nvSpPr>
          <p:cNvPr id="42" name="Text 40"/>
          <p:cNvSpPr/>
          <p:nvPr/>
        </p:nvSpPr>
        <p:spPr>
          <a:xfrm>
            <a:off x="8321040" y="4882896"/>
            <a:ext cx="3383280" cy="1234440"/>
          </a:xfrm>
          <a:prstGeom prst="rect">
            <a:avLst/>
          </a:prstGeom>
          <a:noFill/>
          <a:ln/>
        </p:spPr>
        <p:txBody>
          <a:bodyPr wrap="square" rtlCol="0" anchor="ctr"/>
          <a:lstStyle/>
          <a:p>
            <a:pPr indent="0" marL="0">
              <a:buNone/>
            </a:pPr>
            <a:r>
              <a:rPr lang="en-US" sz="850" i="1" dirty="0">
                <a:solidFill>
                  <a:srgbClr val="2A2820"/>
                </a:solidFill>
                <a:latin typeface="Calibri" pitchFamily="34" charset="0"/>
                <a:ea typeface="Calibri" pitchFamily="34" charset="-122"/>
                <a:cs typeface="Calibri" pitchFamily="34" charset="-120"/>
              </a:rPr>
              <a:t>After the crisis is resolved — make a commitment. Not a discount. A commitment to service standards, dedicated support, and a named relationship manager going forward.</a:t>
            </a:r>
            <a:endParaRPr lang="en-US" sz="850" dirty="0"/>
          </a:p>
        </p:txBody>
      </p:sp>
      <p:sp>
        <p:nvSpPr>
          <p:cNvPr id="43" name="Shape 41"/>
          <p:cNvSpPr/>
          <p:nvPr/>
        </p:nvSpPr>
        <p:spPr>
          <a:xfrm>
            <a:off x="0" y="6537960"/>
            <a:ext cx="12161520" cy="320040"/>
          </a:xfrm>
          <a:prstGeom prst="rect">
            <a:avLst/>
          </a:prstGeom>
          <a:solidFill>
            <a:srgbClr val="0A1628"/>
          </a:solidFill>
          <a:ln w="12700">
            <a:solidFill>
              <a:srgbClr val="0A1628"/>
            </a:solidFill>
            <a:prstDash val="solid"/>
          </a:ln>
        </p:spPr>
      </p:sp>
      <p:sp>
        <p:nvSpPr>
          <p:cNvPr id="44" name="Text 42"/>
          <p:cNvSpPr/>
          <p:nvPr/>
        </p:nvSpPr>
        <p:spPr>
          <a:xfrm>
            <a:off x="365760" y="6565392"/>
            <a:ext cx="9144000" cy="256032"/>
          </a:xfrm>
          <a:prstGeom prst="rect">
            <a:avLst/>
          </a:prstGeom>
          <a:noFill/>
          <a:ln/>
        </p:spPr>
        <p:txBody>
          <a:bodyPr wrap="square" rtlCol="0" anchor="ctr"/>
          <a:lstStyle/>
          <a:p>
            <a:pPr indent="0" marL="0">
              <a:buNone/>
            </a:pPr>
            <a:r>
              <a:rPr lang="en-US" sz="750" dirty="0">
                <a:solidFill>
                  <a:srgbClr val="8899BB"/>
                </a:solidFill>
                <a:latin typeface="Calibri" pitchFamily="34" charset="0"/>
                <a:ea typeface="Calibri" pitchFamily="34" charset="-122"/>
                <a:cs typeface="Calibri" pitchFamily="34" charset="-120"/>
              </a:rPr>
              <a:t>Samuel Ahinakwa  |  Finance &amp; Analytics Professional  |  BSc · MSc · ICAG Finalist  |  Confidential</a:t>
            </a:r>
            <a:endParaRPr lang="en-US" sz="750" dirty="0"/>
          </a:p>
        </p:txBody>
      </p:sp>
      <p:sp>
        <p:nvSpPr>
          <p:cNvPr id="45" name="Text 43"/>
          <p:cNvSpPr/>
          <p:nvPr/>
        </p:nvSpPr>
        <p:spPr>
          <a:xfrm>
            <a:off x="11338560" y="6565392"/>
            <a:ext cx="731520" cy="256032"/>
          </a:xfrm>
          <a:prstGeom prst="rect">
            <a:avLst/>
          </a:prstGeom>
          <a:noFill/>
          <a:ln/>
        </p:spPr>
        <p:txBody>
          <a:bodyPr wrap="square" rtlCol="0" anchor="ctr"/>
          <a:lstStyle/>
          <a:p>
            <a:pPr algn="r" indent="0" marL="0">
              <a:buNone/>
            </a:pPr>
            <a:r>
              <a:rPr lang="en-US" sz="800" dirty="0">
                <a:solidFill>
                  <a:srgbClr val="C8A84B"/>
                </a:solidFill>
                <a:latin typeface="Calibri" pitchFamily="34" charset="0"/>
                <a:ea typeface="Calibri" pitchFamily="34" charset="-122"/>
                <a:cs typeface="Calibri" pitchFamily="34" charset="-120"/>
              </a:rPr>
              <a:t>6 / 26</a:t>
            </a:r>
            <a:endParaRPr lang="en-US" sz="800" dirty="0"/>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1051560"/>
          </a:xfrm>
          <a:prstGeom prst="rect">
            <a:avLst/>
          </a:prstGeom>
          <a:solidFill>
            <a:srgbClr val="0A1628"/>
          </a:solidFill>
          <a:ln w="12700">
            <a:solidFill>
              <a:srgbClr val="0A1628"/>
            </a:solidFill>
            <a:prstDash val="solid"/>
          </a:ln>
        </p:spPr>
      </p:sp>
      <p:sp>
        <p:nvSpPr>
          <p:cNvPr id="3" name="Shape 1"/>
          <p:cNvSpPr/>
          <p:nvPr/>
        </p:nvSpPr>
        <p:spPr>
          <a:xfrm>
            <a:off x="0" y="1051560"/>
            <a:ext cx="12161520" cy="36576"/>
          </a:xfrm>
          <a:prstGeom prst="rect">
            <a:avLst/>
          </a:prstGeom>
          <a:solidFill>
            <a:srgbClr val="C8A84B"/>
          </a:solidFill>
          <a:ln w="12700">
            <a:solidFill>
              <a:srgbClr val="C8A84B"/>
            </a:solidFill>
            <a:prstDash val="solid"/>
          </a:ln>
        </p:spPr>
      </p:sp>
      <p:sp>
        <p:nvSpPr>
          <p:cNvPr id="4" name="Text 2"/>
          <p:cNvSpPr/>
          <p:nvPr/>
        </p:nvSpPr>
        <p:spPr>
          <a:xfrm>
            <a:off x="365760" y="64008"/>
            <a:ext cx="4572000" cy="228600"/>
          </a:xfrm>
          <a:prstGeom prst="rect">
            <a:avLst/>
          </a:prstGeom>
          <a:noFill/>
          <a:ln/>
        </p:spPr>
        <p:txBody>
          <a:bodyPr wrap="square" rtlCol="0" anchor="ctr"/>
          <a:lstStyle/>
          <a:p>
            <a:pPr indent="0" marL="0">
              <a:buNone/>
            </a:pPr>
            <a:r>
              <a:rPr lang="en-US" sz="800" b="1" spc="200" kern="0" dirty="0">
                <a:solidFill>
                  <a:srgbClr val="C8A84B"/>
                </a:solidFill>
                <a:latin typeface="Calibri" pitchFamily="34" charset="0"/>
                <a:ea typeface="Calibri" pitchFamily="34" charset="-122"/>
                <a:cs typeface="Calibri" pitchFamily="34" charset="-120"/>
              </a:rPr>
              <a:t>RECOVERY OPPORTUNITY</a:t>
            </a:r>
            <a:endParaRPr lang="en-US" sz="800" dirty="0"/>
          </a:p>
        </p:txBody>
      </p:sp>
      <p:sp>
        <p:nvSpPr>
          <p:cNvPr id="5" name="Text 3"/>
          <p:cNvSpPr/>
          <p:nvPr/>
        </p:nvSpPr>
        <p:spPr>
          <a:xfrm>
            <a:off x="365760" y="256032"/>
            <a:ext cx="9601200" cy="566928"/>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$633,911 in 30 Days — The Case for Immediate Action</a:t>
            </a:r>
            <a:endParaRPr lang="en-US" sz="2600" dirty="0"/>
          </a:p>
        </p:txBody>
      </p:sp>
      <p:sp>
        <p:nvSpPr>
          <p:cNvPr id="6" name="Text 4"/>
          <p:cNvSpPr/>
          <p:nvPr/>
        </p:nvSpPr>
        <p:spPr>
          <a:xfrm>
            <a:off x="365760" y="795528"/>
            <a:ext cx="10058400" cy="228600"/>
          </a:xfrm>
          <a:prstGeom prst="rect">
            <a:avLst/>
          </a:prstGeom>
          <a:noFill/>
          <a:ln/>
        </p:spPr>
        <p:txBody>
          <a:bodyPr wrap="square" rtlCol="0" anchor="ctr"/>
          <a:lstStyle/>
          <a:p>
            <a:pPr indent="0" marL="0">
              <a:buNone/>
            </a:pPr>
            <a:r>
              <a:rPr lang="en-US" sz="1050" i="1" dirty="0">
                <a:solidFill>
                  <a:srgbClr val="8899BB"/>
                </a:solidFill>
                <a:latin typeface="Calibri" pitchFamily="34" charset="0"/>
                <a:ea typeface="Calibri" pitchFamily="34" charset="-122"/>
                <a:cs typeface="Calibri" pitchFamily="34" charset="-120"/>
              </a:rPr>
              <a:t>Three scenarios. One leadership decision.</a:t>
            </a:r>
            <a:endParaRPr lang="en-US" sz="1050" dirty="0"/>
          </a:p>
        </p:txBody>
      </p:sp>
      <p:sp>
        <p:nvSpPr>
          <p:cNvPr id="7" name="Shape 5"/>
          <p:cNvSpPr/>
          <p:nvPr/>
        </p:nvSpPr>
        <p:spPr>
          <a:xfrm>
            <a:off x="320040" y="1234440"/>
            <a:ext cx="3657600" cy="3108960"/>
          </a:xfrm>
          <a:prstGeom prst="rect">
            <a:avLst/>
          </a:prstGeom>
          <a:solidFill>
            <a:srgbClr val="F0FDF4"/>
          </a:solidFill>
          <a:ln w="12700">
            <a:solidFill>
              <a:srgbClr val="1A6B3A"/>
            </a:solidFill>
            <a:prstDash val="solid"/>
          </a:ln>
        </p:spPr>
      </p:sp>
      <p:sp>
        <p:nvSpPr>
          <p:cNvPr id="8" name="Shape 6"/>
          <p:cNvSpPr/>
          <p:nvPr/>
        </p:nvSpPr>
        <p:spPr>
          <a:xfrm>
            <a:off x="320040" y="1234440"/>
            <a:ext cx="3657600" cy="54864"/>
          </a:xfrm>
          <a:prstGeom prst="rect">
            <a:avLst/>
          </a:prstGeom>
          <a:solidFill>
            <a:srgbClr val="1A6B3A"/>
          </a:solidFill>
          <a:ln w="12700">
            <a:solidFill>
              <a:srgbClr val="1A6B3A"/>
            </a:solidFill>
            <a:prstDash val="solid"/>
          </a:ln>
        </p:spPr>
      </p:sp>
      <p:sp>
        <p:nvSpPr>
          <p:cNvPr id="9" name="Text 7"/>
          <p:cNvSpPr/>
          <p:nvPr/>
        </p:nvSpPr>
        <p:spPr>
          <a:xfrm>
            <a:off x="457200" y="1335024"/>
            <a:ext cx="3383280" cy="274320"/>
          </a:xfrm>
          <a:prstGeom prst="rect">
            <a:avLst/>
          </a:prstGeom>
          <a:noFill/>
          <a:ln/>
        </p:spPr>
        <p:txBody>
          <a:bodyPr wrap="square" rtlCol="0" anchor="ctr"/>
          <a:lstStyle/>
          <a:p>
            <a:pPr algn="ctr" indent="0" marL="0">
              <a:buNone/>
            </a:pPr>
            <a:r>
              <a:rPr lang="en-US" sz="1100" b="1" spc="100" kern="0" dirty="0">
                <a:solidFill>
                  <a:srgbClr val="1A6B3A"/>
                </a:solidFill>
                <a:latin typeface="Calibri" pitchFamily="34" charset="0"/>
                <a:ea typeface="Calibri" pitchFamily="34" charset="-122"/>
                <a:cs typeface="Calibri" pitchFamily="34" charset="-120"/>
              </a:rPr>
              <a:t>ACT NOW</a:t>
            </a:r>
            <a:endParaRPr lang="en-US" sz="1100" dirty="0"/>
          </a:p>
        </p:txBody>
      </p:sp>
      <p:sp>
        <p:nvSpPr>
          <p:cNvPr id="10" name="Text 8"/>
          <p:cNvSpPr/>
          <p:nvPr/>
        </p:nvSpPr>
        <p:spPr>
          <a:xfrm>
            <a:off x="1691640" y="1719072"/>
            <a:ext cx="914400" cy="457200"/>
          </a:xfrm>
          <a:prstGeom prst="rect">
            <a:avLst/>
          </a:prstGeom>
          <a:noFill/>
          <a:ln/>
        </p:spPr>
        <p:txBody>
          <a:bodyPr wrap="square" rtlCol="0" anchor="ctr"/>
          <a:lstStyle/>
          <a:p>
            <a:pPr algn="ctr" indent="0" marL="0">
              <a:buNone/>
            </a:pPr>
            <a:r>
              <a:rPr lang="en-US" sz="3200" dirty="0">
                <a:solidFill>
                  <a:srgbClr val="1A6B3A"/>
                </a:solidFill>
                <a:latin typeface="Calibri" pitchFamily="34" charset="0"/>
                <a:ea typeface="Calibri" pitchFamily="34" charset="-122"/>
                <a:cs typeface="Calibri" pitchFamily="34" charset="-120"/>
              </a:rPr>
              <a:t>▲</a:t>
            </a:r>
            <a:endParaRPr lang="en-US" sz="3200" dirty="0"/>
          </a:p>
        </p:txBody>
      </p:sp>
      <p:sp>
        <p:nvSpPr>
          <p:cNvPr id="11" name="Text 9"/>
          <p:cNvSpPr/>
          <p:nvPr/>
        </p:nvSpPr>
        <p:spPr>
          <a:xfrm>
            <a:off x="457200" y="2286000"/>
            <a:ext cx="3383280" cy="594360"/>
          </a:xfrm>
          <a:prstGeom prst="rect">
            <a:avLst/>
          </a:prstGeom>
          <a:noFill/>
          <a:ln/>
        </p:spPr>
        <p:txBody>
          <a:bodyPr wrap="square" rtlCol="0" anchor="ctr"/>
          <a:lstStyle/>
          <a:p>
            <a:pPr algn="ctr" indent="0" marL="0">
              <a:buNone/>
            </a:pPr>
            <a:r>
              <a:rPr lang="en-US" sz="1800" b="1" dirty="0">
                <a:solidFill>
                  <a:srgbClr val="1A6B3A"/>
                </a:solidFill>
                <a:latin typeface="Calibri" pitchFamily="34" charset="0"/>
                <a:ea typeface="Calibri" pitchFamily="34" charset="-122"/>
                <a:cs typeface="Calibri" pitchFamily="34" charset="-120"/>
              </a:rPr>
              <a:t>+$633,911</a:t>
            </a:r>
            <a:endParaRPr lang="en-US" sz="1800" dirty="0"/>
          </a:p>
        </p:txBody>
      </p:sp>
      <p:sp>
        <p:nvSpPr>
          <p:cNvPr id="12" name="Text 10"/>
          <p:cNvSpPr/>
          <p:nvPr/>
        </p:nvSpPr>
        <p:spPr>
          <a:xfrm>
            <a:off x="457200" y="2907792"/>
            <a:ext cx="3383280" cy="365760"/>
          </a:xfrm>
          <a:prstGeom prst="rect">
            <a:avLst/>
          </a:prstGeom>
          <a:noFill/>
          <a:ln/>
        </p:spPr>
        <p:txBody>
          <a:bodyPr wrap="square" rtlCol="0" anchor="ctr"/>
          <a:lstStyle/>
          <a:p>
            <a:pPr algn="ctr" indent="0" marL="0">
              <a:buNone/>
            </a:pPr>
            <a:r>
              <a:rPr lang="en-US" sz="1100" i="1" dirty="0">
                <a:solidFill>
                  <a:srgbClr val="5A6A85"/>
                </a:solidFill>
                <a:latin typeface="Calibri" pitchFamily="34" charset="0"/>
                <a:ea typeface="Calibri" pitchFamily="34" charset="-122"/>
                <a:cs typeface="Calibri" pitchFamily="34" charset="-120"/>
              </a:rPr>
              <a:t>recoverable</a:t>
            </a:r>
            <a:endParaRPr lang="en-US" sz="1100" dirty="0"/>
          </a:p>
          <a:p>
            <a:pPr algn="ctr" indent="0" marL="0">
              <a:buNone/>
            </a:pPr>
            <a:r>
              <a:rPr lang="en-US" sz="1100" i="1" dirty="0">
                <a:solidFill>
                  <a:srgbClr val="5A6A85"/>
                </a:solidFill>
                <a:latin typeface="Calibri" pitchFamily="34" charset="0"/>
                <a:ea typeface="Calibri" pitchFamily="34" charset="-122"/>
                <a:cs typeface="Calibri" pitchFamily="34" charset="-120"/>
              </a:rPr>
              <a:t>in 30 days</a:t>
            </a:r>
            <a:endParaRPr lang="en-US" sz="1100" dirty="0"/>
          </a:p>
        </p:txBody>
      </p:sp>
      <p:sp>
        <p:nvSpPr>
          <p:cNvPr id="13" name="Text 11"/>
          <p:cNvSpPr/>
          <p:nvPr/>
        </p:nvSpPr>
        <p:spPr>
          <a:xfrm>
            <a:off x="457200" y="3364992"/>
            <a:ext cx="3383280" cy="914400"/>
          </a:xfrm>
          <a:prstGeom prst="rect">
            <a:avLst/>
          </a:prstGeom>
          <a:noFill/>
          <a:ln/>
        </p:spPr>
        <p:txBody>
          <a:bodyPr wrap="square" rtlCol="0" anchor="ctr"/>
          <a:lstStyle/>
          <a:p>
            <a:pPr algn="ctr" indent="0" marL="0">
              <a:buNone/>
            </a:pPr>
            <a:r>
              <a:rPr lang="en-US" sz="900" i="1" dirty="0">
                <a:solidFill>
                  <a:srgbClr val="2A2820"/>
                </a:solidFill>
                <a:latin typeface="Calibri" pitchFamily="34" charset="0"/>
                <a:ea typeface="Calibri" pitchFamily="34" charset="-122"/>
                <a:cs typeface="Calibri" pitchFamily="34" charset="-120"/>
              </a:rPr>
              <a:t>25% conservative conversion of 3,195 disengaged VIP customers. Tier 1 and Tier 2 priority. The window is open. One call this week.</a:t>
            </a:r>
            <a:endParaRPr lang="en-US" sz="900" dirty="0"/>
          </a:p>
        </p:txBody>
      </p:sp>
      <p:sp>
        <p:nvSpPr>
          <p:cNvPr id="14" name="Shape 12"/>
          <p:cNvSpPr/>
          <p:nvPr/>
        </p:nvSpPr>
        <p:spPr>
          <a:xfrm>
            <a:off x="4251960" y="1234440"/>
            <a:ext cx="3657600" cy="3108960"/>
          </a:xfrm>
          <a:prstGeom prst="rect">
            <a:avLst/>
          </a:prstGeom>
          <a:solidFill>
            <a:srgbClr val="FFFBEB"/>
          </a:solidFill>
          <a:ln w="12700">
            <a:solidFill>
              <a:srgbClr val="D4820A"/>
            </a:solidFill>
            <a:prstDash val="solid"/>
          </a:ln>
        </p:spPr>
      </p:sp>
      <p:sp>
        <p:nvSpPr>
          <p:cNvPr id="15" name="Shape 13"/>
          <p:cNvSpPr/>
          <p:nvPr/>
        </p:nvSpPr>
        <p:spPr>
          <a:xfrm>
            <a:off x="4251960" y="1234440"/>
            <a:ext cx="3657600" cy="54864"/>
          </a:xfrm>
          <a:prstGeom prst="rect">
            <a:avLst/>
          </a:prstGeom>
          <a:solidFill>
            <a:srgbClr val="D4820A"/>
          </a:solidFill>
          <a:ln w="12700">
            <a:solidFill>
              <a:srgbClr val="D4820A"/>
            </a:solidFill>
            <a:prstDash val="solid"/>
          </a:ln>
        </p:spPr>
      </p:sp>
      <p:sp>
        <p:nvSpPr>
          <p:cNvPr id="16" name="Text 14"/>
          <p:cNvSpPr/>
          <p:nvPr/>
        </p:nvSpPr>
        <p:spPr>
          <a:xfrm>
            <a:off x="4389120" y="1335024"/>
            <a:ext cx="3383280" cy="274320"/>
          </a:xfrm>
          <a:prstGeom prst="rect">
            <a:avLst/>
          </a:prstGeom>
          <a:noFill/>
          <a:ln/>
        </p:spPr>
        <p:txBody>
          <a:bodyPr wrap="square" rtlCol="0" anchor="ctr"/>
          <a:lstStyle/>
          <a:p>
            <a:pPr algn="ctr" indent="0" marL="0">
              <a:buNone/>
            </a:pPr>
            <a:r>
              <a:rPr lang="en-US" sz="1100" b="1" spc="100" kern="0" dirty="0">
                <a:solidFill>
                  <a:srgbClr val="D4820A"/>
                </a:solidFill>
                <a:latin typeface="Calibri" pitchFamily="34" charset="0"/>
                <a:ea typeface="Calibri" pitchFamily="34" charset="-122"/>
                <a:cs typeface="Calibri" pitchFamily="34" charset="-120"/>
              </a:rPr>
              <a:t>DELAY 30 DAYS</a:t>
            </a:r>
            <a:endParaRPr lang="en-US" sz="1100" dirty="0"/>
          </a:p>
        </p:txBody>
      </p:sp>
      <p:sp>
        <p:nvSpPr>
          <p:cNvPr id="17" name="Text 15"/>
          <p:cNvSpPr/>
          <p:nvPr/>
        </p:nvSpPr>
        <p:spPr>
          <a:xfrm>
            <a:off x="5623560" y="1719072"/>
            <a:ext cx="914400" cy="457200"/>
          </a:xfrm>
          <a:prstGeom prst="rect">
            <a:avLst/>
          </a:prstGeom>
          <a:noFill/>
          <a:ln/>
        </p:spPr>
        <p:txBody>
          <a:bodyPr wrap="square" rtlCol="0" anchor="ctr"/>
          <a:lstStyle/>
          <a:p>
            <a:pPr algn="ctr" indent="0" marL="0">
              <a:buNone/>
            </a:pPr>
            <a:r>
              <a:rPr lang="en-US" sz="3200" dirty="0">
                <a:solidFill>
                  <a:srgbClr val="D4820A"/>
                </a:solidFill>
                <a:latin typeface="Calibri" pitchFamily="34" charset="0"/>
                <a:ea typeface="Calibri" pitchFamily="34" charset="-122"/>
                <a:cs typeface="Calibri" pitchFamily="34" charset="-120"/>
              </a:rPr>
              <a:t>▶</a:t>
            </a:r>
            <a:endParaRPr lang="en-US" sz="3200" dirty="0"/>
          </a:p>
        </p:txBody>
      </p:sp>
      <p:sp>
        <p:nvSpPr>
          <p:cNvPr id="18" name="Text 16"/>
          <p:cNvSpPr/>
          <p:nvPr/>
        </p:nvSpPr>
        <p:spPr>
          <a:xfrm>
            <a:off x="4389120" y="2286000"/>
            <a:ext cx="3383280" cy="594360"/>
          </a:xfrm>
          <a:prstGeom prst="rect">
            <a:avLst/>
          </a:prstGeom>
          <a:noFill/>
          <a:ln/>
        </p:spPr>
        <p:txBody>
          <a:bodyPr wrap="square" rtlCol="0" anchor="ctr"/>
          <a:lstStyle/>
          <a:p>
            <a:pPr algn="ctr" indent="0" marL="0">
              <a:buNone/>
            </a:pPr>
            <a:r>
              <a:rPr lang="en-US" sz="1800" b="1" dirty="0">
                <a:solidFill>
                  <a:srgbClr val="D4820A"/>
                </a:solidFill>
                <a:latin typeface="Calibri" pitchFamily="34" charset="0"/>
                <a:ea typeface="Calibri" pitchFamily="34" charset="-122"/>
                <a:cs typeface="Calibri" pitchFamily="34" charset="-120"/>
              </a:rPr>
              <a:t>25% conversion</a:t>
            </a:r>
            <a:endParaRPr lang="en-US" sz="1800" dirty="0"/>
          </a:p>
          <a:p>
            <a:pPr algn="ctr" indent="0" marL="0">
              <a:buNone/>
            </a:pPr>
            <a:r>
              <a:rPr lang="en-US" sz="1800" b="1" dirty="0">
                <a:solidFill>
                  <a:srgbClr val="D4820A"/>
                </a:solidFill>
                <a:latin typeface="Calibri" pitchFamily="34" charset="0"/>
                <a:ea typeface="Calibri" pitchFamily="34" charset="-122"/>
                <a:cs typeface="Calibri" pitchFamily="34" charset="-120"/>
              </a:rPr>
              <a:t>window decays</a:t>
            </a:r>
            <a:endParaRPr lang="en-US" sz="1800" dirty="0"/>
          </a:p>
        </p:txBody>
      </p:sp>
      <p:sp>
        <p:nvSpPr>
          <p:cNvPr id="19" name="Text 17"/>
          <p:cNvSpPr/>
          <p:nvPr/>
        </p:nvSpPr>
        <p:spPr>
          <a:xfrm>
            <a:off x="4389120" y="2907792"/>
            <a:ext cx="3383280" cy="365760"/>
          </a:xfrm>
          <a:prstGeom prst="rect">
            <a:avLst/>
          </a:prstGeom>
          <a:noFill/>
          <a:ln/>
        </p:spPr>
        <p:txBody>
          <a:bodyPr wrap="square" rtlCol="0" anchor="ctr"/>
          <a:lstStyle/>
          <a:p>
            <a:pPr algn="ctr" indent="0" marL="0">
              <a:buNone/>
            </a:pPr>
            <a:r>
              <a:rPr lang="en-US" sz="1100" i="1" dirty="0">
                <a:solidFill>
                  <a:srgbClr val="5A6A85"/>
                </a:solidFill>
                <a:latin typeface="Calibri" pitchFamily="34" charset="0"/>
                <a:ea typeface="Calibri" pitchFamily="34" charset="-122"/>
                <a:cs typeface="Calibri" pitchFamily="34" charset="-120"/>
              </a:rPr>
              <a:t>opportunity</a:t>
            </a:r>
            <a:endParaRPr lang="en-US" sz="1100" dirty="0"/>
          </a:p>
          <a:p>
            <a:pPr algn="ctr" indent="0" marL="0">
              <a:buNone/>
            </a:pPr>
            <a:r>
              <a:rPr lang="en-US" sz="1100" i="1" dirty="0">
                <a:solidFill>
                  <a:srgbClr val="5A6A85"/>
                </a:solidFill>
                <a:latin typeface="Calibri" pitchFamily="34" charset="0"/>
                <a:ea typeface="Calibri" pitchFamily="34" charset="-122"/>
                <a:cs typeface="Calibri" pitchFamily="34" charset="-120"/>
              </a:rPr>
              <a:t>lost</a:t>
            </a:r>
            <a:endParaRPr lang="en-US" sz="1100" dirty="0"/>
          </a:p>
        </p:txBody>
      </p:sp>
      <p:sp>
        <p:nvSpPr>
          <p:cNvPr id="20" name="Text 18"/>
          <p:cNvSpPr/>
          <p:nvPr/>
        </p:nvSpPr>
        <p:spPr>
          <a:xfrm>
            <a:off x="4389120" y="3364992"/>
            <a:ext cx="3383280" cy="914400"/>
          </a:xfrm>
          <a:prstGeom prst="rect">
            <a:avLst/>
          </a:prstGeom>
          <a:noFill/>
          <a:ln/>
        </p:spPr>
        <p:txBody>
          <a:bodyPr wrap="square" rtlCol="0" anchor="ctr"/>
          <a:lstStyle/>
          <a:p>
            <a:pPr algn="ctr" indent="0" marL="0">
              <a:buNone/>
            </a:pPr>
            <a:r>
              <a:rPr lang="en-US" sz="900" i="1" dirty="0">
                <a:solidFill>
                  <a:srgbClr val="2A2820"/>
                </a:solidFill>
                <a:latin typeface="Calibri" pitchFamily="34" charset="0"/>
                <a:ea typeface="Calibri" pitchFamily="34" charset="-122"/>
                <a:cs typeface="Calibri" pitchFamily="34" charset="-120"/>
              </a:rPr>
              <a:t>Every day of delay reduces conversion probability. Disengaged customers drift further. Competitor presence increases. The $633,911 window closes.</a:t>
            </a:r>
            <a:endParaRPr lang="en-US" sz="900" dirty="0"/>
          </a:p>
        </p:txBody>
      </p:sp>
      <p:sp>
        <p:nvSpPr>
          <p:cNvPr id="21" name="Shape 19"/>
          <p:cNvSpPr/>
          <p:nvPr/>
        </p:nvSpPr>
        <p:spPr>
          <a:xfrm>
            <a:off x="8183880" y="1234440"/>
            <a:ext cx="3657600" cy="3108960"/>
          </a:xfrm>
          <a:prstGeom prst="rect">
            <a:avLst/>
          </a:prstGeom>
          <a:solidFill>
            <a:srgbClr val="FEF2F2"/>
          </a:solidFill>
          <a:ln w="12700">
            <a:solidFill>
              <a:srgbClr val="C0392B"/>
            </a:solidFill>
            <a:prstDash val="solid"/>
          </a:ln>
        </p:spPr>
      </p:sp>
      <p:sp>
        <p:nvSpPr>
          <p:cNvPr id="22" name="Shape 20"/>
          <p:cNvSpPr/>
          <p:nvPr/>
        </p:nvSpPr>
        <p:spPr>
          <a:xfrm>
            <a:off x="8183880" y="1234440"/>
            <a:ext cx="3657600" cy="54864"/>
          </a:xfrm>
          <a:prstGeom prst="rect">
            <a:avLst/>
          </a:prstGeom>
          <a:solidFill>
            <a:srgbClr val="C0392B"/>
          </a:solidFill>
          <a:ln w="12700">
            <a:solidFill>
              <a:srgbClr val="C0392B"/>
            </a:solidFill>
            <a:prstDash val="solid"/>
          </a:ln>
        </p:spPr>
      </p:sp>
      <p:sp>
        <p:nvSpPr>
          <p:cNvPr id="23" name="Text 21"/>
          <p:cNvSpPr/>
          <p:nvPr/>
        </p:nvSpPr>
        <p:spPr>
          <a:xfrm>
            <a:off x="8321040" y="1335024"/>
            <a:ext cx="3383280" cy="274320"/>
          </a:xfrm>
          <a:prstGeom prst="rect">
            <a:avLst/>
          </a:prstGeom>
          <a:noFill/>
          <a:ln/>
        </p:spPr>
        <p:txBody>
          <a:bodyPr wrap="square" rtlCol="0" anchor="ctr"/>
          <a:lstStyle/>
          <a:p>
            <a:pPr algn="ctr" indent="0" marL="0">
              <a:buNone/>
            </a:pPr>
            <a:r>
              <a:rPr lang="en-US" sz="1100" b="1" spc="100" kern="0" dirty="0">
                <a:solidFill>
                  <a:srgbClr val="C0392B"/>
                </a:solidFill>
                <a:latin typeface="Calibri" pitchFamily="34" charset="0"/>
                <a:ea typeface="Calibri" pitchFamily="34" charset="-122"/>
                <a:cs typeface="Calibri" pitchFamily="34" charset="-120"/>
              </a:rPr>
              <a:t>NO ACTION</a:t>
            </a:r>
            <a:endParaRPr lang="en-US" sz="1100" dirty="0"/>
          </a:p>
        </p:txBody>
      </p:sp>
      <p:sp>
        <p:nvSpPr>
          <p:cNvPr id="24" name="Text 22"/>
          <p:cNvSpPr/>
          <p:nvPr/>
        </p:nvSpPr>
        <p:spPr>
          <a:xfrm>
            <a:off x="9555480" y="1719072"/>
            <a:ext cx="914400" cy="457200"/>
          </a:xfrm>
          <a:prstGeom prst="rect">
            <a:avLst/>
          </a:prstGeom>
          <a:noFill/>
          <a:ln/>
        </p:spPr>
        <p:txBody>
          <a:bodyPr wrap="square" rtlCol="0" anchor="ctr"/>
          <a:lstStyle/>
          <a:p>
            <a:pPr algn="ctr" indent="0" marL="0">
              <a:buNone/>
            </a:pPr>
            <a:r>
              <a:rPr lang="en-US" sz="3200" dirty="0">
                <a:solidFill>
                  <a:srgbClr val="C0392B"/>
                </a:solidFill>
                <a:latin typeface="Calibri" pitchFamily="34" charset="0"/>
                <a:ea typeface="Calibri" pitchFamily="34" charset="-122"/>
                <a:cs typeface="Calibri" pitchFamily="34" charset="-120"/>
              </a:rPr>
              <a:t>▼</a:t>
            </a:r>
            <a:endParaRPr lang="en-US" sz="3200" dirty="0"/>
          </a:p>
        </p:txBody>
      </p:sp>
      <p:sp>
        <p:nvSpPr>
          <p:cNvPr id="25" name="Text 23"/>
          <p:cNvSpPr/>
          <p:nvPr/>
        </p:nvSpPr>
        <p:spPr>
          <a:xfrm>
            <a:off x="8321040" y="2286000"/>
            <a:ext cx="3383280" cy="594360"/>
          </a:xfrm>
          <a:prstGeom prst="rect">
            <a:avLst/>
          </a:prstGeom>
          <a:noFill/>
          <a:ln/>
        </p:spPr>
        <p:txBody>
          <a:bodyPr wrap="square" rtlCol="0" anchor="ctr"/>
          <a:lstStyle/>
          <a:p>
            <a:pPr algn="ctr" indent="0" marL="0">
              <a:buNone/>
            </a:pPr>
            <a:r>
              <a:rPr lang="en-US" sz="1800" b="1" dirty="0">
                <a:solidFill>
                  <a:srgbClr val="C0392B"/>
                </a:solidFill>
                <a:latin typeface="Calibri" pitchFamily="34" charset="0"/>
                <a:ea typeface="Calibri" pitchFamily="34" charset="-122"/>
                <a:cs typeface="Calibri" pitchFamily="34" charset="-120"/>
              </a:rPr>
              <a:t>disengaged</a:t>
            </a:r>
            <a:endParaRPr lang="en-US" sz="1800" dirty="0"/>
          </a:p>
          <a:p>
            <a:pPr algn="ctr" indent="0" marL="0">
              <a:buNone/>
            </a:pPr>
            <a:r>
              <a:rPr lang="en-US" sz="1800" b="1" dirty="0">
                <a:solidFill>
                  <a:srgbClr val="C0392B"/>
                </a:solidFill>
                <a:latin typeface="Calibri" pitchFamily="34" charset="0"/>
                <a:ea typeface="Calibri" pitchFamily="34" charset="-122"/>
                <a:cs typeface="Calibri" pitchFamily="34" charset="-120"/>
              </a:rPr>
              <a:t>→ detractor</a:t>
            </a:r>
            <a:endParaRPr lang="en-US" sz="1800" dirty="0"/>
          </a:p>
        </p:txBody>
      </p:sp>
      <p:sp>
        <p:nvSpPr>
          <p:cNvPr id="26" name="Text 24"/>
          <p:cNvSpPr/>
          <p:nvPr/>
        </p:nvSpPr>
        <p:spPr>
          <a:xfrm>
            <a:off x="8321040" y="2907792"/>
            <a:ext cx="3383280" cy="365760"/>
          </a:xfrm>
          <a:prstGeom prst="rect">
            <a:avLst/>
          </a:prstGeom>
          <a:noFill/>
          <a:ln/>
        </p:spPr>
        <p:txBody>
          <a:bodyPr wrap="square" rtlCol="0" anchor="ctr"/>
          <a:lstStyle/>
          <a:p>
            <a:pPr algn="ctr" indent="0" marL="0">
              <a:buNone/>
            </a:pPr>
            <a:r>
              <a:rPr lang="en-US" sz="1100" i="1" dirty="0">
                <a:solidFill>
                  <a:srgbClr val="5A6A85"/>
                </a:solidFill>
                <a:latin typeface="Calibri" pitchFamily="34" charset="0"/>
                <a:ea typeface="Calibri" pitchFamily="34" charset="-122"/>
                <a:cs typeface="Calibri" pitchFamily="34" charset="-120"/>
              </a:rPr>
              <a:t>revenue</a:t>
            </a:r>
            <a:endParaRPr lang="en-US" sz="1100" dirty="0"/>
          </a:p>
          <a:p>
            <a:pPr algn="ctr" indent="0" marL="0">
              <a:buNone/>
            </a:pPr>
            <a:r>
              <a:rPr lang="en-US" sz="1100" i="1" dirty="0">
                <a:solidFill>
                  <a:srgbClr val="5A6A85"/>
                </a:solidFill>
                <a:latin typeface="Calibri" pitchFamily="34" charset="0"/>
                <a:ea typeface="Calibri" pitchFamily="34" charset="-122"/>
                <a:cs typeface="Calibri" pitchFamily="34" charset="-120"/>
              </a:rPr>
              <a:t>lost</a:t>
            </a:r>
            <a:endParaRPr lang="en-US" sz="1100" dirty="0"/>
          </a:p>
        </p:txBody>
      </p:sp>
      <p:sp>
        <p:nvSpPr>
          <p:cNvPr id="27" name="Text 25"/>
          <p:cNvSpPr/>
          <p:nvPr/>
        </p:nvSpPr>
        <p:spPr>
          <a:xfrm>
            <a:off x="8321040" y="3364992"/>
            <a:ext cx="3383280" cy="914400"/>
          </a:xfrm>
          <a:prstGeom prst="rect">
            <a:avLst/>
          </a:prstGeom>
          <a:noFill/>
          <a:ln/>
        </p:spPr>
        <p:txBody>
          <a:bodyPr wrap="square" rtlCol="0" anchor="ctr"/>
          <a:lstStyle/>
          <a:p>
            <a:pPr algn="ctr" indent="0" marL="0">
              <a:buNone/>
            </a:pPr>
            <a:r>
              <a:rPr lang="en-US" sz="900" i="1" dirty="0">
                <a:solidFill>
                  <a:srgbClr val="2A2820"/>
                </a:solidFill>
                <a:latin typeface="Calibri" pitchFamily="34" charset="0"/>
                <a:ea typeface="Calibri" pitchFamily="34" charset="-122"/>
                <a:cs typeface="Calibri" pitchFamily="34" charset="-120"/>
              </a:rPr>
              <a:t>Customers who were never angry become hostile. Every ignored disengaged VIP is a future hostile VIP. The Hostile band replenishes itself automatically.</a:t>
            </a:r>
            <a:endParaRPr lang="en-US" sz="900" dirty="0"/>
          </a:p>
        </p:txBody>
      </p:sp>
      <p:sp>
        <p:nvSpPr>
          <p:cNvPr id="28" name="Shape 26"/>
          <p:cNvSpPr/>
          <p:nvPr/>
        </p:nvSpPr>
        <p:spPr>
          <a:xfrm>
            <a:off x="320040" y="4498848"/>
            <a:ext cx="11658600" cy="1691640"/>
          </a:xfrm>
          <a:prstGeom prst="rect">
            <a:avLst/>
          </a:prstGeom>
          <a:solidFill>
            <a:srgbClr val="F0F4F8"/>
          </a:solidFill>
          <a:ln w="12700">
            <a:solidFill>
              <a:srgbClr val="D0D8E8"/>
            </a:solidFill>
            <a:prstDash val="solid"/>
          </a:ln>
        </p:spPr>
      </p:sp>
      <p:sp>
        <p:nvSpPr>
          <p:cNvPr id="29" name="Shape 27"/>
          <p:cNvSpPr/>
          <p:nvPr/>
        </p:nvSpPr>
        <p:spPr>
          <a:xfrm>
            <a:off x="320040" y="4498848"/>
            <a:ext cx="54864" cy="1691640"/>
          </a:xfrm>
          <a:prstGeom prst="rect">
            <a:avLst/>
          </a:prstGeom>
          <a:solidFill>
            <a:srgbClr val="1A6B3A"/>
          </a:solidFill>
          <a:ln w="12700">
            <a:solidFill>
              <a:srgbClr val="1A6B3A"/>
            </a:solidFill>
            <a:prstDash val="solid"/>
          </a:ln>
        </p:spPr>
      </p:sp>
      <p:sp>
        <p:nvSpPr>
          <p:cNvPr id="30" name="Text 28"/>
          <p:cNvSpPr/>
          <p:nvPr/>
        </p:nvSpPr>
        <p:spPr>
          <a:xfrm>
            <a:off x="502920" y="4572000"/>
            <a:ext cx="3657600" cy="228600"/>
          </a:xfrm>
          <a:prstGeom prst="rect">
            <a:avLst/>
          </a:prstGeom>
          <a:noFill/>
          <a:ln/>
        </p:spPr>
        <p:txBody>
          <a:bodyPr wrap="square" rtlCol="0" anchor="ctr"/>
          <a:lstStyle/>
          <a:p>
            <a:pPr indent="0" marL="0">
              <a:buNone/>
            </a:pPr>
            <a:r>
              <a:rPr lang="en-US" sz="900" b="1" spc="100" kern="0" dirty="0">
                <a:solidFill>
                  <a:srgbClr val="1A6B3A"/>
                </a:solidFill>
                <a:latin typeface="Calibri" pitchFamily="34" charset="0"/>
                <a:ea typeface="Calibri" pitchFamily="34" charset="-122"/>
                <a:cs typeface="Calibri" pitchFamily="34" charset="-120"/>
              </a:rPr>
              <a:t>WHY THIS OPPORTUNITY EXISTS</a:t>
            </a:r>
            <a:endParaRPr lang="en-US" sz="900" dirty="0"/>
          </a:p>
        </p:txBody>
      </p:sp>
      <p:sp>
        <p:nvSpPr>
          <p:cNvPr id="31" name="Text 29"/>
          <p:cNvSpPr/>
          <p:nvPr/>
        </p:nvSpPr>
        <p:spPr>
          <a:xfrm>
            <a:off x="502920" y="4846320"/>
            <a:ext cx="7315200" cy="1234440"/>
          </a:xfrm>
          <a:prstGeom prst="rect">
            <a:avLst/>
          </a:prstGeom>
          <a:noFill/>
          <a:ln/>
        </p:spPr>
        <p:txBody>
          <a:bodyPr wrap="square" rtlCol="0" anchor="ctr"/>
          <a:lstStyle/>
          <a:p>
            <a:pPr indent="0" marL="0">
              <a:buNone/>
            </a:pPr>
            <a:r>
              <a:rPr lang="en-US" sz="950" i="1" dirty="0">
                <a:solidFill>
                  <a:srgbClr val="2A2820"/>
                </a:solidFill>
                <a:latin typeface="Calibri" pitchFamily="34" charset="0"/>
                <a:ea typeface="Calibri" pitchFamily="34" charset="-122"/>
                <a:cs typeface="Calibri" pitchFamily="34" charset="-120"/>
              </a:rPr>
              <a:t>3,195 disengaged VIP customers were not lost to a competitor. They were not driven away by a crisis. They drifted — because AfriTech did not reach out, did not check in, and did not demonstrate that their account mattered. No active crisis. No competitor mention yet. The recovery cost is low. The barrier is organisational, not financial.</a:t>
            </a:r>
            <a:endParaRPr lang="en-US" sz="950" dirty="0"/>
          </a:p>
        </p:txBody>
      </p:sp>
      <p:sp>
        <p:nvSpPr>
          <p:cNvPr id="32" name="Text 30"/>
          <p:cNvSpPr/>
          <p:nvPr/>
        </p:nvSpPr>
        <p:spPr>
          <a:xfrm>
            <a:off x="8046720" y="4645152"/>
            <a:ext cx="3749040" cy="256032"/>
          </a:xfrm>
          <a:prstGeom prst="rect">
            <a:avLst/>
          </a:prstGeom>
          <a:noFill/>
          <a:ln/>
        </p:spPr>
        <p:txBody>
          <a:bodyPr wrap="square" rtlCol="0" anchor="ctr"/>
          <a:lstStyle/>
          <a:p>
            <a:pPr indent="0" marL="0">
              <a:buNone/>
            </a:pPr>
            <a:r>
              <a:rPr lang="en-US" sz="1000" b="1" dirty="0">
                <a:solidFill>
                  <a:srgbClr val="1A6B3A"/>
                </a:solidFill>
                <a:latin typeface="Calibri" pitchFamily="34" charset="0"/>
                <a:ea typeface="Calibri" pitchFamily="34" charset="-122"/>
                <a:cs typeface="Calibri" pitchFamily="34" charset="-120"/>
              </a:rPr>
              <a:t>Tier 1 + Tier 2 targeted</a:t>
            </a:r>
            <a:endParaRPr lang="en-US" sz="1000" dirty="0"/>
          </a:p>
        </p:txBody>
      </p:sp>
      <p:sp>
        <p:nvSpPr>
          <p:cNvPr id="33" name="Text 31"/>
          <p:cNvSpPr/>
          <p:nvPr/>
        </p:nvSpPr>
        <p:spPr>
          <a:xfrm>
            <a:off x="8046720" y="4919472"/>
            <a:ext cx="3749040" cy="256032"/>
          </a:xfrm>
          <a:prstGeom prst="rect">
            <a:avLst/>
          </a:prstGeom>
          <a:noFill/>
          <a:ln/>
        </p:spPr>
        <p:txBody>
          <a:bodyPr wrap="square" rtlCol="0" anchor="ctr"/>
          <a:lstStyle/>
          <a:p>
            <a:pPr indent="0" marL="0">
              <a:buNone/>
            </a:pPr>
            <a:r>
              <a:rPr lang="en-US" sz="1000" dirty="0">
                <a:solidFill>
                  <a:srgbClr val="5A6A85"/>
                </a:solidFill>
                <a:latin typeface="Calibri" pitchFamily="34" charset="0"/>
                <a:ea typeface="Calibri" pitchFamily="34" charset="-122"/>
                <a:cs typeface="Calibri" pitchFamily="34" charset="-120"/>
              </a:rPr>
              <a:t>25% conservative conversion</a:t>
            </a:r>
            <a:endParaRPr lang="en-US" sz="1000" dirty="0"/>
          </a:p>
        </p:txBody>
      </p:sp>
      <p:sp>
        <p:nvSpPr>
          <p:cNvPr id="34" name="Text 32"/>
          <p:cNvSpPr/>
          <p:nvPr/>
        </p:nvSpPr>
        <p:spPr>
          <a:xfrm>
            <a:off x="8046720" y="5193792"/>
            <a:ext cx="3749040" cy="256032"/>
          </a:xfrm>
          <a:prstGeom prst="rect">
            <a:avLst/>
          </a:prstGeom>
          <a:noFill/>
          <a:ln/>
        </p:spPr>
        <p:txBody>
          <a:bodyPr wrap="square" rtlCol="0" anchor="ctr"/>
          <a:lstStyle/>
          <a:p>
            <a:pPr indent="0" marL="0">
              <a:buNone/>
            </a:pPr>
            <a:r>
              <a:rPr lang="en-US" sz="1000" dirty="0">
                <a:solidFill>
                  <a:srgbClr val="5A6A85"/>
                </a:solidFill>
                <a:latin typeface="Calibri" pitchFamily="34" charset="0"/>
                <a:ea typeface="Calibri" pitchFamily="34" charset="-122"/>
                <a:cs typeface="Calibri" pitchFamily="34" charset="-120"/>
              </a:rPr>
              <a:t>One in four customers retained</a:t>
            </a:r>
            <a:endParaRPr lang="en-US" sz="1000" dirty="0"/>
          </a:p>
        </p:txBody>
      </p:sp>
      <p:sp>
        <p:nvSpPr>
          <p:cNvPr id="35" name="Shape 33"/>
          <p:cNvSpPr/>
          <p:nvPr/>
        </p:nvSpPr>
        <p:spPr>
          <a:xfrm>
            <a:off x="8046720" y="5532120"/>
            <a:ext cx="3749040" cy="502920"/>
          </a:xfrm>
          <a:prstGeom prst="rect">
            <a:avLst/>
          </a:prstGeom>
          <a:solidFill>
            <a:srgbClr val="FDF8EC"/>
          </a:solidFill>
          <a:ln w="12700">
            <a:solidFill>
              <a:srgbClr val="C8A84B"/>
            </a:solidFill>
            <a:prstDash val="solid"/>
          </a:ln>
        </p:spPr>
      </p:sp>
      <p:sp>
        <p:nvSpPr>
          <p:cNvPr id="36" name="Text 34"/>
          <p:cNvSpPr/>
          <p:nvPr/>
        </p:nvSpPr>
        <p:spPr>
          <a:xfrm>
            <a:off x="8138160" y="5577840"/>
            <a:ext cx="3566160" cy="411480"/>
          </a:xfrm>
          <a:prstGeom prst="rect">
            <a:avLst/>
          </a:prstGeom>
          <a:noFill/>
          <a:ln/>
        </p:spPr>
        <p:txBody>
          <a:bodyPr wrap="square" rtlCol="0" anchor="ctr"/>
          <a:lstStyle/>
          <a:p>
            <a:pPr indent="0" marL="0">
              <a:buNone/>
            </a:pPr>
            <a:r>
              <a:rPr lang="en-US" sz="900" b="1" dirty="0">
                <a:solidFill>
                  <a:srgbClr val="0A1628"/>
                </a:solidFill>
                <a:latin typeface="Calibri" pitchFamily="34" charset="0"/>
                <a:ea typeface="Calibri" pitchFamily="34" charset="-122"/>
                <a:cs typeface="Calibri" pitchFamily="34" charset="-120"/>
              </a:rPr>
              <a:t>The data has done its work. What AfriTech does next is a leadership decision — not an analytical one.</a:t>
            </a:r>
            <a:endParaRPr lang="en-US" sz="900" dirty="0"/>
          </a:p>
        </p:txBody>
      </p:sp>
      <p:sp>
        <p:nvSpPr>
          <p:cNvPr id="37" name="Shape 35"/>
          <p:cNvSpPr/>
          <p:nvPr/>
        </p:nvSpPr>
        <p:spPr>
          <a:xfrm>
            <a:off x="0" y="6537960"/>
            <a:ext cx="12161520" cy="320040"/>
          </a:xfrm>
          <a:prstGeom prst="rect">
            <a:avLst/>
          </a:prstGeom>
          <a:solidFill>
            <a:srgbClr val="0A1628"/>
          </a:solidFill>
          <a:ln w="12700">
            <a:solidFill>
              <a:srgbClr val="0A1628"/>
            </a:solidFill>
            <a:prstDash val="solid"/>
          </a:ln>
        </p:spPr>
      </p:sp>
      <p:sp>
        <p:nvSpPr>
          <p:cNvPr id="38" name="Text 36"/>
          <p:cNvSpPr/>
          <p:nvPr/>
        </p:nvSpPr>
        <p:spPr>
          <a:xfrm>
            <a:off x="365760" y="6565392"/>
            <a:ext cx="9144000" cy="256032"/>
          </a:xfrm>
          <a:prstGeom prst="rect">
            <a:avLst/>
          </a:prstGeom>
          <a:noFill/>
          <a:ln/>
        </p:spPr>
        <p:txBody>
          <a:bodyPr wrap="square" rtlCol="0" anchor="ctr"/>
          <a:lstStyle/>
          <a:p>
            <a:pPr indent="0" marL="0">
              <a:buNone/>
            </a:pPr>
            <a:r>
              <a:rPr lang="en-US" sz="750" dirty="0">
                <a:solidFill>
                  <a:srgbClr val="8899BB"/>
                </a:solidFill>
                <a:latin typeface="Calibri" pitchFamily="34" charset="0"/>
                <a:ea typeface="Calibri" pitchFamily="34" charset="-122"/>
                <a:cs typeface="Calibri" pitchFamily="34" charset="-120"/>
              </a:rPr>
              <a:t>Samuel Ahinakwa  |  Finance &amp; Analytics Professional  |  BSc · MSc · ICAG Finalist  |  Confidential</a:t>
            </a:r>
            <a:endParaRPr lang="en-US" sz="750" dirty="0"/>
          </a:p>
        </p:txBody>
      </p:sp>
      <p:sp>
        <p:nvSpPr>
          <p:cNvPr id="39" name="Text 37"/>
          <p:cNvSpPr/>
          <p:nvPr/>
        </p:nvSpPr>
        <p:spPr>
          <a:xfrm>
            <a:off x="11338560" y="6565392"/>
            <a:ext cx="731520" cy="256032"/>
          </a:xfrm>
          <a:prstGeom prst="rect">
            <a:avLst/>
          </a:prstGeom>
          <a:noFill/>
          <a:ln/>
        </p:spPr>
        <p:txBody>
          <a:bodyPr wrap="square" rtlCol="0" anchor="ctr"/>
          <a:lstStyle/>
          <a:p>
            <a:pPr algn="r" indent="0" marL="0">
              <a:buNone/>
            </a:pPr>
            <a:r>
              <a:rPr lang="en-US" sz="800" dirty="0">
                <a:solidFill>
                  <a:srgbClr val="C8A84B"/>
                </a:solidFill>
                <a:latin typeface="Calibri" pitchFamily="34" charset="0"/>
                <a:ea typeface="Calibri" pitchFamily="34" charset="-122"/>
                <a:cs typeface="Calibri" pitchFamily="34" charset="-120"/>
              </a:rPr>
              <a:t>7 / 26</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AfriTech Electronics — Comprehensive Brand &amp; Customer Analytics Engagement</dc:title>
  <dc:subject>PptxGenJS Presentation</dc:subject>
  <dc:creator>Samuel Ahinakwa</dc:creator>
  <cp:lastModifiedBy>Samuel Ahinakwa</cp:lastModifiedBy>
  <cp:revision>1</cp:revision>
  <dcterms:created xsi:type="dcterms:W3CDTF">2026-03-17T17:59:04Z</dcterms:created>
  <dcterms:modified xsi:type="dcterms:W3CDTF">2026-03-17T17:59:04Z</dcterms:modified>
</cp:coreProperties>
</file>